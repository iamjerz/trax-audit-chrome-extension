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4297680"/>
            <a:ext cx="3108960" cy="3108960"/>
          </a:xfrm>
          <a:prstGeom prst="ellipse">
            <a:avLst/>
          </a:prstGeom>
          <a:solidFill>
            <a:srgbClr val="14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297680"/>
            <a:ext cx="2194560" cy="2194560"/>
          </a:xfrm>
          <a:prstGeom prst="ellipse">
            <a:avLst/>
          </a:prstGeom>
          <a:solidFill>
            <a:srgbClr val="14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4297680"/>
            <a:ext cx="1371600" cy="1371600"/>
          </a:xfrm>
          <a:prstGeom prst="ellipse">
            <a:avLst/>
          </a:prstGeom>
          <a:solidFill>
            <a:srgbClr val="14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188720"/>
            <a:ext cx="3840480" cy="3840480"/>
          </a:xfrm>
          <a:prstGeom prst="ellipse">
            <a:avLst/>
          </a:prstGeom>
          <a:noFill/>
          <a:ln w="31750">
            <a:solidFill>
              <a:srgbClr val="0F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noFill/>
          <a:ln w="25400">
            <a:solidFill>
              <a:srgbClr val="2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8778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FB6A6"/>
                </a:solidFill>
                <a:latin typeface="Calibri"/>
              </a:rPr>
              <a:t>AUDIT MANAGEMENT DASHBOARD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entury Schoolbook"/>
              </a:rPr>
              <a:t>Training &amp; Onboarding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  <a:spcAft>
                <a:spcPts val="400"/>
              </a:spcAft>
            </a:pPr>
            <a:r>
              <a:rPr sz="1700" b="0">
                <a:solidFill>
                  <a:srgbClr val="D9E6F2"/>
                </a:solidFill>
                <a:latin typeface="Calibri"/>
              </a:rPr>
              <a:t>How auditors sign in and complete QA, coaching, reconciliation, and triad audits from the Chrome side panel.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0">
                <a:solidFill>
                  <a:srgbClr val="9FB4CC"/>
                </a:solidFill>
                <a:latin typeface="Calibri"/>
              </a:rPr>
              <a:t>Chrome Extension  ·  Trax Group Inc.  ·  Operations Analytics  ·  Internal training material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142A45"/>
                </a:solidFill>
                <a:latin typeface="Century Schoolbook"/>
              </a:rPr>
              <a:t>What we'll 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26E79"/>
                </a:solidFill>
                <a:latin typeface="Calibri"/>
              </a:rPr>
              <a:t>Trax Group Inc.  –  Internal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55664"/>
            <a:ext cx="18562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>
                <a:solidFill>
                  <a:srgbClr val="626E79"/>
                </a:solidFill>
                <a:latin typeface="Calibri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00200"/>
            <a:ext cx="310896" cy="3108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09344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What the Audit Management Dashboard is, and who uses it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203704"/>
            <a:ext cx="310896" cy="3108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Signing in with your Trax Microsoft account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07208"/>
            <a:ext cx="310896" cy="3108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16352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The four audit workflows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10712"/>
            <a:ext cx="310896" cy="3108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19856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A step-by-step walkthrough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014216"/>
            <a:ext cx="310896" cy="3108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2336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Good habits, FAQ, and getting help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1554480"/>
            <a:ext cx="4572000" cy="40233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2A6F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3182112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A6FB0"/>
                </a:solidFill>
                <a:latin typeface="Calibri"/>
              </a:rPr>
              <a:t>[  INSERT SCREENSHOT  ]</a:t>
            </a:r>
          </a:p>
          <a:p>
            <a:pPr algn="ctr"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050" b="0" i="1">
                <a:solidFill>
                  <a:srgbClr val="626E79"/>
                </a:solidFill>
                <a:latin typeface="Calibri"/>
              </a:rPr>
              <a:t>Screenshot: the side panel open next to a browser tab, showing the main menu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142A45"/>
                </a:solidFill>
                <a:latin typeface="Century Schoolbook"/>
              </a:rPr>
              <a:t>What is the Audit Management Dashboard?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26E79"/>
                </a:solidFill>
                <a:latin typeface="Calibri"/>
              </a:rPr>
              <a:t>Trax Group Inc.  –  Internal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55664"/>
            <a:ext cx="18562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>
                <a:solidFill>
                  <a:srgbClr val="626E79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1264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A Google Chrome extension for the Trax Operations Analytics and Audit teams. It opens as a </a:t>
            </a:r>
            <a:r>
              <a:rPr sz="1500" b="1">
                <a:solidFill>
                  <a:srgbClr val="232A31"/>
                </a:solidFill>
                <a:latin typeface="Calibri"/>
              </a:rPr>
              <a:t>side panel</a:t>
            </a:r>
            <a:r>
              <a:rPr sz="1500" b="0">
                <a:solidFill>
                  <a:srgbClr val="232A31"/>
                </a:solidFill>
                <a:latin typeface="Calibri"/>
              </a:rPr>
              <a:t> — a vertical pane next to your current tab — so you complete audit forms while you review the underlying system, with no window-switching.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All forms and data load from, and submit back to, the Trax audit platform (</a:t>
            </a:r>
            <a:r>
              <a:rPr sz="1500" b="1">
                <a:solidFill>
                  <a:srgbClr val="232A31"/>
                </a:solidFill>
                <a:latin typeface="Calibri"/>
              </a:rPr>
              <a:t>audit-ops.traxtech.com</a:t>
            </a:r>
            <a:r>
              <a:rPr sz="1500" b="0">
                <a:solidFill>
                  <a:srgbClr val="232A31"/>
                </a:solidFill>
                <a:latin typeface="Calibri"/>
              </a:rPr>
              <a:t>). You sign in once with your Trax Microsoft 365 account.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92040"/>
            <a:ext cx="6126480" cy="9144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5020055"/>
            <a:ext cx="572414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200" b="1">
                <a:solidFill>
                  <a:srgbClr val="1F3A5F"/>
                </a:solidFill>
                <a:latin typeface="Calibri"/>
              </a:rPr>
              <a:t>Note — </a:t>
            </a:r>
            <a:r>
              <a:rPr sz="1200" b="0">
                <a:solidFill>
                  <a:srgbClr val="232A31"/>
                </a:solidFill>
                <a:latin typeface="Calibri"/>
              </a:rPr>
              <a:t>a secure side panel where authorized Trax auditors fill in and submit QA, coaching, reconciliation, and triad audits.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554480"/>
            <a:ext cx="457200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2A6F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3273552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A6FB0"/>
                </a:solidFill>
                <a:latin typeface="Calibri"/>
              </a:rPr>
              <a:t>[  INSERT SCREENSHOT  ]</a:t>
            </a:r>
          </a:p>
          <a:p>
            <a:pPr algn="ctr"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050" b="0" i="1">
                <a:solidFill>
                  <a:srgbClr val="626E79"/>
                </a:solidFill>
                <a:latin typeface="Calibri"/>
              </a:rPr>
              <a:t>Screenshot: side panel next to a browser tab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142A45"/>
                </a:solidFill>
                <a:latin typeface="Century Schoolbook"/>
              </a:rPr>
              <a:t>Who it's for &amp; what you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26E79"/>
                </a:solidFill>
                <a:latin typeface="Calibri"/>
              </a:rPr>
              <a:t>Trax Group Inc.  –  Internal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55664"/>
            <a:ext cx="18562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>
                <a:solidFill>
                  <a:srgbClr val="626E79"/>
                </a:solidFill>
                <a:latin typeface="Calibri"/>
              </a:rPr>
              <a:t>3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109728" cy="109728"/>
          </a:xfrm>
          <a:prstGeom prst="ellipse">
            <a:avLst/>
          </a:prstGeom>
          <a:solidFill>
            <a:srgbClr val="0F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91640"/>
            <a:ext cx="1071676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2A31"/>
                </a:solidFill>
                <a:latin typeface="Calibri"/>
              </a:rPr>
              <a:t>Audience:</a:t>
            </a:r>
            <a:r>
              <a:rPr sz="1600" b="0">
                <a:solidFill>
                  <a:srgbClr val="232A31"/>
                </a:solidFill>
                <a:latin typeface="Calibri"/>
              </a:rPr>
              <a:t> Trax auditors, QA analysts, and team leads who complete audits.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249424"/>
            <a:ext cx="109728" cy="109728"/>
          </a:xfrm>
          <a:prstGeom prst="ellipse">
            <a:avLst/>
          </a:prstGeom>
          <a:solidFill>
            <a:srgbClr val="0F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03704"/>
            <a:ext cx="1071676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2A31"/>
                </a:solidFill>
                <a:latin typeface="Calibri"/>
              </a:rPr>
              <a:t>Account:</a:t>
            </a:r>
            <a:r>
              <a:rPr sz="1600" b="0">
                <a:solidFill>
                  <a:srgbClr val="232A31"/>
                </a:solidFill>
                <a:latin typeface="Calibri"/>
              </a:rPr>
              <a:t> a valid Trax Microsoft 365 (Azure AD) work account. Personal or non-Trax accounts cannot sign in.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761488"/>
            <a:ext cx="109728" cy="109728"/>
          </a:xfrm>
          <a:prstGeom prst="ellipse">
            <a:avLst/>
          </a:prstGeom>
          <a:solidFill>
            <a:srgbClr val="0F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15768"/>
            <a:ext cx="1071676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2A31"/>
                </a:solidFill>
                <a:latin typeface="Calibri"/>
              </a:rPr>
              <a:t>Browser:</a:t>
            </a:r>
            <a:r>
              <a:rPr sz="1600" b="0">
                <a:solidFill>
                  <a:srgbClr val="232A31"/>
                </a:solidFill>
                <a:latin typeface="Calibri"/>
              </a:rPr>
              <a:t> Google Chrome (desktop) with the extension installed and pinned.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73552"/>
            <a:ext cx="109728" cy="109728"/>
          </a:xfrm>
          <a:prstGeom prst="ellipse">
            <a:avLst/>
          </a:prstGeom>
          <a:solidFill>
            <a:srgbClr val="0F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227832"/>
            <a:ext cx="1071676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2A31"/>
                </a:solidFill>
                <a:latin typeface="Calibri"/>
              </a:rPr>
              <a:t>Network:</a:t>
            </a:r>
            <a:r>
              <a:rPr sz="1600" b="0">
                <a:solidFill>
                  <a:srgbClr val="232A31"/>
                </a:solidFill>
                <a:latin typeface="Calibri"/>
              </a:rPr>
              <a:t> access to audit-ops.traxtech.com and Microsoft sign-in (login.microsoftonline.com).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97680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E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425696"/>
            <a:ext cx="1057046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200" b="1">
                <a:solidFill>
                  <a:srgbClr val="0F8C8C"/>
                </a:solidFill>
                <a:latin typeface="Calibri"/>
              </a:rPr>
              <a:t>Tip — </a:t>
            </a:r>
            <a:r>
              <a:rPr sz="1200" b="0">
                <a:solidFill>
                  <a:srgbClr val="232A31"/>
                </a:solidFill>
                <a:latin typeface="Calibri"/>
              </a:rPr>
              <a:t>If you can't sign in or don't see a form you expect, it's almost always an </a:t>
            </a:r>
            <a:r>
              <a:rPr sz="1200" b="1">
                <a:solidFill>
                  <a:srgbClr val="232A31"/>
                </a:solidFill>
                <a:latin typeface="Calibri"/>
              </a:rPr>
              <a:t>access / permission</a:t>
            </a:r>
            <a:r>
              <a:rPr sz="1200" b="0">
                <a:solidFill>
                  <a:srgbClr val="232A31"/>
                </a:solidFill>
                <a:latin typeface="Calibri"/>
              </a:rPr>
              <a:t> matter, not a bug — see the FAQ and contact your team lead for access.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142A45"/>
                </a:solidFill>
                <a:latin typeface="Century Schoolbook"/>
              </a:rPr>
              <a:t>Signing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26E79"/>
                </a:solidFill>
                <a:latin typeface="Calibri"/>
              </a:rPr>
              <a:t>Trax Group Inc.  –  Internal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55664"/>
            <a:ext cx="18562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>
                <a:solidFill>
                  <a:srgbClr val="626E79"/>
                </a:solidFill>
                <a:latin typeface="Calibri"/>
              </a:rPr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00200"/>
            <a:ext cx="310896" cy="3108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09344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Click the extension icon in the Chrome toolbar to open the side panel.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221991"/>
            <a:ext cx="310896" cy="3108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31135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Click </a:t>
            </a:r>
            <a:r>
              <a:rPr sz="1500" b="1">
                <a:solidFill>
                  <a:srgbClr val="232A31"/>
                </a:solidFill>
                <a:latin typeface="Calibri"/>
              </a:rPr>
              <a:t>Login</a:t>
            </a:r>
            <a:r>
              <a:rPr sz="1500" b="0">
                <a:solidFill>
                  <a:srgbClr val="232A31"/>
                </a:solidFill>
                <a:latin typeface="Calibri"/>
              </a:rPr>
              <a:t>. A Microsoft sign-in window appears.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788920"/>
            <a:ext cx="310896" cy="3108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98063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Enter your Trax email and password; approve MFA if prompted.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10711"/>
            <a:ext cx="310896" cy="3108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19855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You land on the main menu, signed 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74920"/>
            <a:ext cx="6126480" cy="9144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5202936"/>
            <a:ext cx="572414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200" b="1">
                <a:solidFill>
                  <a:srgbClr val="1F3A5F"/>
                </a:solidFill>
                <a:latin typeface="Calibri"/>
              </a:rPr>
              <a:t>Note — </a:t>
            </a:r>
            <a:r>
              <a:rPr sz="1200" b="0">
                <a:solidFill>
                  <a:srgbClr val="232A31"/>
                </a:solidFill>
                <a:latin typeface="Calibri"/>
              </a:rPr>
              <a:t>Your session lasts only while you're working. If it expires, the panel returns you to Login — just sign in again.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1554480"/>
            <a:ext cx="457200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2A6F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3273552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A6FB0"/>
                </a:solidFill>
                <a:latin typeface="Calibri"/>
              </a:rPr>
              <a:t>[  INSERT SCREENSHOT  ]</a:t>
            </a:r>
          </a:p>
          <a:p>
            <a:pPr algn="ctr"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050" b="0" i="1">
                <a:solidFill>
                  <a:srgbClr val="626E79"/>
                </a:solidFill>
                <a:latin typeface="Calibri"/>
              </a:rPr>
              <a:t>Screenshot: the Login button and the Microsoft sign-in window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280160" y="4206240"/>
            <a:ext cx="3291840" cy="3291840"/>
          </a:xfrm>
          <a:prstGeom prst="ellipse">
            <a:avLst/>
          </a:prstGeom>
          <a:noFill/>
          <a:ln w="27940">
            <a:solidFill>
              <a:srgbClr val="0F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4241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FB6A6"/>
                </a:solidFill>
                <a:latin typeface="Calibri"/>
              </a:rPr>
              <a:t>SECTION 1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entury Schoolbook"/>
              </a:rPr>
              <a:t>The four audit workflows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142A45"/>
                </a:solidFill>
                <a:latin typeface="Century Schoolbook"/>
              </a:rPr>
              <a:t>QA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26E79"/>
                </a:solidFill>
                <a:latin typeface="Calibri"/>
              </a:rPr>
              <a:t>Trax Group Inc.  –  Internal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55664"/>
            <a:ext cx="18562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>
                <a:solidFill>
                  <a:srgbClr val="626E79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1264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A full quality-assurance review, organized into </a:t>
            </a:r>
            <a:r>
              <a:rPr sz="1500" b="1">
                <a:solidFill>
                  <a:srgbClr val="232A31"/>
                </a:solidFill>
                <a:latin typeface="Calibri"/>
              </a:rPr>
              <a:t>Verification</a:t>
            </a:r>
            <a:r>
              <a:rPr sz="1500" b="0">
                <a:solidFill>
                  <a:srgbClr val="232A31"/>
                </a:solidFill>
                <a:latin typeface="Calibri"/>
              </a:rPr>
              <a:t>, </a:t>
            </a:r>
            <a:r>
              <a:rPr sz="1500" b="1">
                <a:solidFill>
                  <a:srgbClr val="232A31"/>
                </a:solidFill>
                <a:latin typeface="Calibri"/>
              </a:rPr>
              <a:t>Process Compliance</a:t>
            </a:r>
            <a:r>
              <a:rPr sz="1500" b="0">
                <a:solidFill>
                  <a:srgbClr val="232A31"/>
                </a:solidFill>
                <a:latin typeface="Calibri"/>
              </a:rPr>
              <a:t>, </a:t>
            </a:r>
            <a:r>
              <a:rPr sz="1500" b="1">
                <a:solidFill>
                  <a:srgbClr val="232A31"/>
                </a:solidFill>
                <a:latin typeface="Calibri"/>
              </a:rPr>
              <a:t>Engagement</a:t>
            </a:r>
            <a:r>
              <a:rPr sz="1500" b="0">
                <a:solidFill>
                  <a:srgbClr val="232A31"/>
                </a:solidFill>
                <a:latin typeface="Calibri"/>
              </a:rPr>
              <a:t>, and </a:t>
            </a:r>
            <a:r>
              <a:rPr sz="1500" b="1">
                <a:solidFill>
                  <a:srgbClr val="232A31"/>
                </a:solidFill>
                <a:latin typeface="Calibri"/>
              </a:rPr>
              <a:t>Business Analytics</a:t>
            </a:r>
            <a:r>
              <a:rPr sz="1500" b="0">
                <a:solidFill>
                  <a:srgbClr val="232A31"/>
                </a:solidFill>
                <a:latin typeface="Calibri"/>
              </a:rPr>
              <a:t>. Section scores and an </a:t>
            </a:r>
            <a:r>
              <a:rPr sz="1500" b="1">
                <a:solidFill>
                  <a:srgbClr val="232A31"/>
                </a:solidFill>
                <a:latin typeface="Calibri"/>
              </a:rPr>
              <a:t>overall score</a:t>
            </a:r>
            <a:r>
              <a:rPr sz="1500" b="0">
                <a:solidFill>
                  <a:srgbClr val="232A31"/>
                </a:solidFill>
                <a:latin typeface="Calibri"/>
              </a:rPr>
              <a:t> update automatically as you select outcomes.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429000"/>
            <a:ext cx="109728" cy="109728"/>
          </a:xfrm>
          <a:prstGeom prst="ellipse">
            <a:avLst/>
          </a:prstGeom>
          <a:solidFill>
            <a:srgbClr val="0F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83280"/>
            <a:ext cx="587044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32A31"/>
                </a:solidFill>
                <a:latin typeface="Calibri"/>
              </a:rPr>
              <a:t>Audit dates default to today; your email fills in automatically.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941063"/>
            <a:ext cx="109728" cy="109728"/>
          </a:xfrm>
          <a:prstGeom prst="ellipse">
            <a:avLst/>
          </a:prstGeom>
          <a:solidFill>
            <a:srgbClr val="0F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895344"/>
            <a:ext cx="587044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32A31"/>
                </a:solidFill>
                <a:latin typeface="Calibri"/>
              </a:rPr>
              <a:t>Live score bars show the result before you submit.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29200"/>
            <a:ext cx="6126480" cy="9144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5157216"/>
            <a:ext cx="572414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200" b="1">
                <a:solidFill>
                  <a:srgbClr val="1F3A5F"/>
                </a:solidFill>
                <a:latin typeface="Calibri"/>
              </a:rPr>
              <a:t>Note — </a:t>
            </a:r>
            <a:r>
              <a:rPr sz="1200" b="0">
                <a:solidFill>
                  <a:srgbClr val="232A31"/>
                </a:solidFill>
                <a:latin typeface="Calibri"/>
              </a:rPr>
              <a:t>Verification is a gate — if it isn't complete, the overall score shows 0% until it 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554480"/>
            <a:ext cx="457200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2A6F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3273552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A6FB0"/>
                </a:solidFill>
                <a:latin typeface="Calibri"/>
              </a:rPr>
              <a:t>[  INSERT SCREENSHOT  ]</a:t>
            </a:r>
          </a:p>
          <a:p>
            <a:pPr algn="ctr"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050" b="0" i="1">
                <a:solidFill>
                  <a:srgbClr val="626E79"/>
                </a:solidFill>
                <a:latin typeface="Calibri"/>
              </a:rPr>
              <a:t>Screenshot: QA Monitoring form with live score bars &amp; Overall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142A45"/>
                </a:solidFill>
                <a:latin typeface="Century Schoolbook"/>
              </a:rPr>
              <a:t>Coaching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26E79"/>
                </a:solidFill>
                <a:latin typeface="Calibri"/>
              </a:rPr>
              <a:t>Trax Group Inc.  –  Internal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55664"/>
            <a:ext cx="18562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>
                <a:solidFill>
                  <a:srgbClr val="626E79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Records a coaching session tied to an audit reference, using two frameworks. Pick the coaching reference and type, then complete both sections.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5486400" cy="31089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697480"/>
            <a:ext cx="4974336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F8C8C"/>
                </a:solidFill>
                <a:latin typeface="Calibri"/>
              </a:rPr>
              <a:t>SMART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232A31"/>
                </a:solidFill>
                <a:latin typeface="Calibri"/>
              </a:rPr>
              <a:t>Specific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232A31"/>
                </a:solidFill>
                <a:latin typeface="Calibri"/>
              </a:rPr>
              <a:t>Measurable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232A31"/>
                </a:solidFill>
                <a:latin typeface="Calibri"/>
              </a:rPr>
              <a:t>Achievable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232A31"/>
                </a:solidFill>
                <a:latin typeface="Calibri"/>
              </a:rPr>
              <a:t>Relevant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232A31"/>
                </a:solidFill>
                <a:latin typeface="Calibri"/>
              </a:rPr>
              <a:t>Time-bound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514600"/>
            <a:ext cx="5303520" cy="31089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2697480"/>
            <a:ext cx="4791456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A6FB0"/>
                </a:solidFill>
                <a:latin typeface="Calibri"/>
              </a:rPr>
              <a:t>GROW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232A31"/>
                </a:solidFill>
                <a:latin typeface="Calibri"/>
              </a:rPr>
              <a:t>Goal — the objective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232A31"/>
                </a:solidFill>
                <a:latin typeface="Calibri"/>
              </a:rPr>
              <a:t>Reality — the current situation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232A31"/>
                </a:solidFill>
                <a:latin typeface="Calibri"/>
              </a:rPr>
              <a:t>Options — possible ways forward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232A31"/>
                </a:solidFill>
                <a:latin typeface="Calibri"/>
              </a:rPr>
              <a:t>Way forward — agreed 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142A45"/>
                </a:solidFill>
                <a:latin typeface="Century Schoolbook"/>
              </a:rPr>
              <a:t>Reconciliation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26E79"/>
                </a:solidFill>
                <a:latin typeface="Calibri"/>
              </a:rPr>
              <a:t>Trax Group Inc.  –  Internal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55664"/>
            <a:ext cx="18562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>
                <a:solidFill>
                  <a:srgbClr val="626E79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126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Logs the outcome of a reconciliation call. The carrier list updates based on the client you choose.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97479"/>
            <a:ext cx="109728" cy="109728"/>
          </a:xfrm>
          <a:prstGeom prst="ellipse">
            <a:avLst/>
          </a:prstGeom>
          <a:solidFill>
            <a:srgbClr val="0F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651760"/>
            <a:ext cx="587044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Call date, client code and carrier code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209544"/>
            <a:ext cx="109728" cy="109728"/>
          </a:xfrm>
          <a:prstGeom prst="ellipse">
            <a:avLst/>
          </a:prstGeom>
          <a:solidFill>
            <a:srgbClr val="0F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163824"/>
            <a:ext cx="587044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Region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721607"/>
            <a:ext cx="109728" cy="109728"/>
          </a:xfrm>
          <a:prstGeom prst="ellipse">
            <a:avLst/>
          </a:prstGeom>
          <a:solidFill>
            <a:srgbClr val="0F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675887"/>
            <a:ext cx="587044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Action-item summary and details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33672"/>
            <a:ext cx="109728" cy="109728"/>
          </a:xfrm>
          <a:prstGeom prst="ellipse">
            <a:avLst/>
          </a:prstGeom>
          <a:solidFill>
            <a:srgbClr val="0F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187952"/>
            <a:ext cx="587044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Status and linked ticket reference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29200"/>
            <a:ext cx="6126480" cy="914400"/>
          </a:xfrm>
          <a:prstGeom prst="roundRect">
            <a:avLst>
              <a:gd name="adj" fmla="val 6000"/>
            </a:avLst>
          </a:prstGeom>
          <a:solidFill>
            <a:srgbClr val="F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5157216"/>
            <a:ext cx="572414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200" b="1">
                <a:solidFill>
                  <a:srgbClr val="B5451A"/>
                </a:solidFill>
                <a:latin typeface="Calibri"/>
              </a:rPr>
              <a:t>Important — </a:t>
            </a:r>
            <a:r>
              <a:rPr sz="1200" b="0">
                <a:solidFill>
                  <a:srgbClr val="232A31"/>
                </a:solidFill>
                <a:latin typeface="Calibri"/>
              </a:rPr>
              <a:t>All fields except your pre-filled email are required — the form won't submit until each is completed.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554480"/>
            <a:ext cx="457200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2A6F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3273552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A6FB0"/>
                </a:solidFill>
                <a:latin typeface="Calibri"/>
              </a:rPr>
              <a:t>[  INSERT SCREENSHOT  ]</a:t>
            </a:r>
          </a:p>
          <a:p>
            <a:pPr algn="ctr"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050" b="0" i="1">
                <a:solidFill>
                  <a:srgbClr val="626E79"/>
                </a:solidFill>
                <a:latin typeface="Calibri"/>
              </a:rPr>
              <a:t>Screenshot: the Reconciliation Call 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142A45"/>
                </a:solidFill>
                <a:latin typeface="Century Schoolbook"/>
              </a:rPr>
              <a:t>Triad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26E79"/>
                </a:solidFill>
                <a:latin typeface="Calibri"/>
              </a:rPr>
              <a:t>Trax Group Inc.  –  Internal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55664"/>
            <a:ext cx="18562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>
                <a:solidFill>
                  <a:srgbClr val="626E79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126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A triad review scored across coaching criteria. Each criterion takes a note and a score, linked to a coaching reference.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834639"/>
            <a:ext cx="109728" cy="109728"/>
          </a:xfrm>
          <a:prstGeom prst="ellipse">
            <a:avLst/>
          </a:prstGeom>
          <a:solidFill>
            <a:srgbClr val="0F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788920"/>
            <a:ext cx="587044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Body language · clear mind · permission &amp; notes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346703"/>
            <a:ext cx="109728" cy="109728"/>
          </a:xfrm>
          <a:prstGeom prst="ellipse">
            <a:avLst/>
          </a:prstGeom>
          <a:solidFill>
            <a:srgbClr val="0F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300984"/>
            <a:ext cx="587044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Questioning · was an SME · recap / summary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858768"/>
            <a:ext cx="109728" cy="109728"/>
          </a:xfrm>
          <a:prstGeom prst="ellipse">
            <a:avLst/>
          </a:prstGeom>
          <a:solidFill>
            <a:srgbClr val="0F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813048"/>
            <a:ext cx="587044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SME adherence · clearly defined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370832"/>
            <a:ext cx="109728" cy="109728"/>
          </a:xfrm>
          <a:prstGeom prst="ellipse">
            <a:avLst/>
          </a:prstGeom>
          <a:solidFill>
            <a:srgbClr val="0F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325112"/>
            <a:ext cx="587044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Root-cause analysis · line situation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554480"/>
            <a:ext cx="457200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2A6F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3273552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A6FB0"/>
                </a:solidFill>
                <a:latin typeface="Calibri"/>
              </a:rPr>
              <a:t>[  INSERT SCREENSHOT  ]</a:t>
            </a:r>
          </a:p>
          <a:p>
            <a:pPr algn="ctr"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050" b="0" i="1">
                <a:solidFill>
                  <a:srgbClr val="626E79"/>
                </a:solidFill>
                <a:latin typeface="Calibri"/>
              </a:rPr>
              <a:t>Screenshot: the Triad form with scored criteria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280160" y="4206240"/>
            <a:ext cx="3291840" cy="3291840"/>
          </a:xfrm>
          <a:prstGeom prst="ellipse">
            <a:avLst/>
          </a:prstGeom>
          <a:noFill/>
          <a:ln w="27940">
            <a:solidFill>
              <a:srgbClr val="0F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4241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FB6A6"/>
                </a:solidFill>
                <a:latin typeface="Calibri"/>
              </a:rPr>
              <a:t>SECTION 2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entury Schoolbook"/>
              </a:rPr>
              <a:t>A step-by-step walkthrough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142A45"/>
                </a:solidFill>
                <a:latin typeface="Century Schoolbook"/>
              </a:rPr>
              <a:t>Install &amp; open the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26E79"/>
                </a:solidFill>
                <a:latin typeface="Calibri"/>
              </a:rPr>
              <a:t>Trax Group Inc.  –  Internal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55664"/>
            <a:ext cx="18562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>
                <a:solidFill>
                  <a:srgbClr val="626E79"/>
                </a:solidFill>
                <a:latin typeface="Calibri"/>
              </a:rPr>
              <a:t>9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00200"/>
            <a:ext cx="310896" cy="3108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09344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Install from the Chrome Web Store (or Load unpacked at chrome://extensions for testing).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221991"/>
            <a:ext cx="310896" cy="3108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31135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Pin the extension: puzzle-piece icon → pin Audit Management Dashboard.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43783"/>
            <a:ext cx="310896" cy="3108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52927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Click the icon to open the side panel on the right.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10711"/>
            <a:ext cx="310896" cy="3108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19855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Click Login and complete the Microsoft sign-in.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554480"/>
            <a:ext cx="457200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2A6F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273552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A6FB0"/>
                </a:solidFill>
                <a:latin typeface="Calibri"/>
              </a:rPr>
              <a:t>[  INSERT SCREENSHOT  ]</a:t>
            </a:r>
          </a:p>
          <a:p>
            <a:pPr algn="ctr"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050" b="0" i="1">
                <a:solidFill>
                  <a:srgbClr val="626E79"/>
                </a:solidFill>
                <a:latin typeface="Calibri"/>
              </a:rPr>
              <a:t>Screenshot: chrome://extensions with the extension pinned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142A45"/>
                </a:solidFill>
                <a:latin typeface="Century Schoolbook"/>
              </a:rPr>
              <a:t>Complete &amp; submit an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26E79"/>
                </a:solidFill>
                <a:latin typeface="Calibri"/>
              </a:rPr>
              <a:t>Trax Group Inc.  –  Internal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55664"/>
            <a:ext cx="18562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>
                <a:solidFill>
                  <a:srgbClr val="626E79"/>
                </a:solidFill>
                <a:latin typeface="Calibri"/>
              </a:rPr>
              <a:t>10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00200"/>
            <a:ext cx="310896" cy="3108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09344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From the menu, choose the audit type (QA, Coaching, Reconciliation, or Triad).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203704"/>
            <a:ext cx="310896" cy="3108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Pick client / carrier / reference values from the dropdowns.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07208"/>
            <a:ext cx="310896" cy="3108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16352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Fill in the form; watch scores update where shown.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55848"/>
            <a:ext cx="310896" cy="3108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64992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Click Submit and wait for the confirmation message.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29200"/>
            <a:ext cx="6126480" cy="9144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5157216"/>
            <a:ext cx="572414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200" b="1">
                <a:solidFill>
                  <a:srgbClr val="1F3A5F"/>
                </a:solidFill>
                <a:latin typeface="Calibri"/>
              </a:rPr>
              <a:t>Note — </a:t>
            </a:r>
            <a:r>
              <a:rPr sz="1200" b="0">
                <a:solidFill>
                  <a:srgbClr val="232A31"/>
                </a:solidFill>
                <a:latin typeface="Calibri"/>
              </a:rPr>
              <a:t>After a successful submit, the form resets for the next audit. No confirmation? Treat it as not saved and submit again.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1554480"/>
            <a:ext cx="457200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2A6F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3273552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A6FB0"/>
                </a:solidFill>
                <a:latin typeface="Calibri"/>
              </a:rPr>
              <a:t>[  INSERT SCREENSHOT  ]</a:t>
            </a:r>
          </a:p>
          <a:p>
            <a:pPr algn="ctr"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050" b="0" i="1">
                <a:solidFill>
                  <a:srgbClr val="626E79"/>
                </a:solidFill>
                <a:latin typeface="Calibri"/>
              </a:rPr>
              <a:t>Screenshot: a completed form with the success message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280160" y="4206240"/>
            <a:ext cx="3291840" cy="3291840"/>
          </a:xfrm>
          <a:prstGeom prst="ellipse">
            <a:avLst/>
          </a:prstGeom>
          <a:noFill/>
          <a:ln w="27940">
            <a:solidFill>
              <a:srgbClr val="0F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4241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FB6A6"/>
                </a:solidFill>
                <a:latin typeface="Calibri"/>
              </a:rPr>
              <a:t>SECTION 3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entury Schoolbook"/>
              </a:rPr>
              <a:t>Tips, FAQ &amp; support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142A45"/>
                </a:solidFill>
                <a:latin typeface="Century Schoolbook"/>
              </a:rPr>
              <a:t>Good habits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26E79"/>
                </a:solidFill>
                <a:latin typeface="Calibri"/>
              </a:rPr>
              <a:t>Trax Group Inc.  –  Internal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55664"/>
            <a:ext cx="18562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>
                <a:solidFill>
                  <a:srgbClr val="626E79"/>
                </a:solidFill>
                <a:latin typeface="Calibri"/>
              </a:rPr>
              <a:t>11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83080"/>
            <a:ext cx="109728" cy="109728"/>
          </a:xfrm>
          <a:prstGeom prst="ellipse">
            <a:avLst/>
          </a:prstGeom>
          <a:solidFill>
            <a:srgbClr val="0F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37360"/>
            <a:ext cx="513892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Complete required fields before submitting.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295144"/>
            <a:ext cx="109728" cy="109728"/>
          </a:xfrm>
          <a:prstGeom prst="ellipse">
            <a:avLst/>
          </a:prstGeom>
          <a:solidFill>
            <a:srgbClr val="0F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49424"/>
            <a:ext cx="513892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Wait for the confirmation message after submitting.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07208"/>
            <a:ext cx="109728" cy="109728"/>
          </a:xfrm>
          <a:prstGeom prst="ellipse">
            <a:avLst/>
          </a:prstGeom>
          <a:solidFill>
            <a:srgbClr val="0F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61488"/>
            <a:ext cx="513892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Pick values from dropdowns rather than typing.</a:t>
            </a:r>
          </a:p>
        </p:txBody>
      </p:sp>
      <p:sp>
        <p:nvSpPr>
          <p:cNvPr id="11" name="Oval 10"/>
          <p:cNvSpPr/>
          <p:nvPr/>
        </p:nvSpPr>
        <p:spPr>
          <a:xfrm>
            <a:off x="6263640" y="1783080"/>
            <a:ext cx="109728" cy="109728"/>
          </a:xfrm>
          <a:prstGeom prst="ellipse">
            <a:avLst/>
          </a:prstGeom>
          <a:solidFill>
            <a:srgbClr val="0F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737360"/>
            <a:ext cx="513892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If a dropdown stays empty, make the earlier selection first.</a:t>
            </a:r>
          </a:p>
        </p:txBody>
      </p:sp>
      <p:sp>
        <p:nvSpPr>
          <p:cNvPr id="13" name="Oval 12"/>
          <p:cNvSpPr/>
          <p:nvPr/>
        </p:nvSpPr>
        <p:spPr>
          <a:xfrm>
            <a:off x="6263640" y="2295144"/>
            <a:ext cx="109728" cy="109728"/>
          </a:xfrm>
          <a:prstGeom prst="ellipse">
            <a:avLst/>
          </a:prstGeom>
          <a:solidFill>
            <a:srgbClr val="0F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249424"/>
            <a:ext cx="513892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If a spinner won't clear, reload the panel and retry.</a:t>
            </a:r>
          </a:p>
        </p:txBody>
      </p:sp>
      <p:sp>
        <p:nvSpPr>
          <p:cNvPr id="15" name="Oval 14"/>
          <p:cNvSpPr/>
          <p:nvPr/>
        </p:nvSpPr>
        <p:spPr>
          <a:xfrm>
            <a:off x="6263640" y="2807208"/>
            <a:ext cx="109728" cy="109728"/>
          </a:xfrm>
          <a:prstGeom prst="ellipse">
            <a:avLst/>
          </a:prstGeom>
          <a:solidFill>
            <a:srgbClr val="0F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761488"/>
            <a:ext cx="513892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2A31"/>
                </a:solidFill>
                <a:latin typeface="Calibri"/>
              </a:rPr>
              <a:t>Note any on-screen error message before reporting.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11018520" cy="17373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2A6F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599432"/>
            <a:ext cx="10652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A6FB0"/>
                </a:solidFill>
                <a:latin typeface="Calibri"/>
              </a:rPr>
              <a:t>[  INSERT SCREENSHOT  ]</a:t>
            </a:r>
          </a:p>
          <a:p>
            <a:pPr algn="ctr"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050" b="0" i="1">
                <a:solidFill>
                  <a:srgbClr val="626E79"/>
                </a:solidFill>
                <a:latin typeface="Calibri"/>
              </a:rPr>
              <a:t>Optional: screenshot montage of required-field highlight and success message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142A45"/>
                </a:solidFill>
                <a:latin typeface="Century Schoolbook"/>
              </a:rPr>
              <a:t>FAQ — sign-in &amp;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26E79"/>
                </a:solidFill>
                <a:latin typeface="Calibri"/>
              </a:rPr>
              <a:t>Trax Group Inc.  –  Internal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55664"/>
            <a:ext cx="18562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>
                <a:solidFill>
                  <a:srgbClr val="626E79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1018520" cy="1051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00784"/>
            <a:ext cx="10506456" cy="777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3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Q.  The Login button is greyed out. Why?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32A31"/>
                </a:solidFill>
                <a:latin typeface="Calibri"/>
              </a:rPr>
              <a:t>The panel checks it can reach the Trax platform before enabling Login. Check your network/VPN, then reload the panel.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70632"/>
            <a:ext cx="11018520" cy="9144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916936"/>
            <a:ext cx="10506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3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Q.  I'm suddenly back at the Login screen.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32A31"/>
                </a:solidFill>
                <a:latin typeface="Calibri"/>
              </a:rPr>
              <a:t>Your session expired — this is normal. Click Login and sign in again to resume.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49623"/>
            <a:ext cx="11018520" cy="9144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995927"/>
            <a:ext cx="10506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3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Q.  Login failed even though Microsoft accepted me.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32A31"/>
                </a:solidFill>
                <a:latin typeface="Calibri"/>
              </a:rPr>
              <a:t>Your account may not be authorized on the Trax platform. Contact your team lead to confirm access.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>
                <a:solidFill>
                  <a:srgbClr val="142A45"/>
                </a:solidFill>
                <a:latin typeface="Century Schoolbook"/>
              </a:rPr>
              <a:t>FAQ — forms &amp;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26E79"/>
                </a:solidFill>
                <a:latin typeface="Calibri"/>
              </a:rPr>
              <a:t>Trax Group Inc.  –  Internal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55664"/>
            <a:ext cx="18562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>
                <a:solidFill>
                  <a:srgbClr val="626E79"/>
                </a:solidFill>
                <a:latin typeface="Calibri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1018520" cy="1051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00784"/>
            <a:ext cx="10506456" cy="777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3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Q.  A dropdown is empty or stuck on 'Loading…'.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32A31"/>
                </a:solidFill>
                <a:latin typeface="Calibri"/>
              </a:rPr>
              <a:t>Some lists load from an earlier choice (carriers after a client; references after an LDA). Make that choice first, then reload if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70632"/>
            <a:ext cx="11018520" cy="9144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916936"/>
            <a:ext cx="10506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3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Q.  The form won't submit.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32A31"/>
                </a:solidFill>
                <a:latin typeface="Calibri"/>
              </a:rPr>
              <a:t>Required fields are incomplete — the form highlights what's missing. Fill those in and submit again.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49623"/>
            <a:ext cx="11018520" cy="9144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995927"/>
            <a:ext cx="10506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3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Q.  How is the QA overall score calculated?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32A31"/>
                </a:solidFill>
                <a:latin typeface="Calibri"/>
              </a:rPr>
              <a:t>It combines Process Compliance and Engagement, but Verification gates it: incomplete verification shows 0% overall.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280160"/>
            <a:ext cx="3474720" cy="3474720"/>
          </a:xfrm>
          <a:prstGeom prst="ellipse">
            <a:avLst/>
          </a:prstGeom>
          <a:noFill/>
          <a:ln w="27940">
            <a:solidFill>
              <a:srgbClr val="0F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2194560"/>
            <a:ext cx="2743200" cy="2743200"/>
          </a:xfrm>
          <a:prstGeom prst="ellipse">
            <a:avLst/>
          </a:prstGeom>
          <a:noFill/>
          <a:ln w="22860">
            <a:solidFill>
              <a:srgbClr val="2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9144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FB6A6"/>
                </a:solidFill>
                <a:latin typeface="Calibri"/>
              </a:rPr>
              <a:t>THANK YOU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entury Schoolbook"/>
              </a:rPr>
              <a:t>Questions? 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Trax Group Inc.  ·  1-800-755-0110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FB6A6"/>
                </a:solidFill>
                <a:latin typeface="Calibri"/>
              </a:rPr>
              <a:t>jerramy.calites@traxtech.com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9FB4CC"/>
                </a:solidFill>
                <a:latin typeface="Calibri"/>
              </a:rPr>
              <a:t>See also the Training Guide, Walkthrough, and FAQ documents.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