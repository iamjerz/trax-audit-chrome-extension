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71" r:id="rId4"/>
    <p:sldId id="272" r:id="rId5"/>
    <p:sldId id="273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7" autoAdjust="0"/>
    <p:restoredTop sz="94374" autoAdjust="0"/>
  </p:normalViewPr>
  <p:slideViewPr>
    <p:cSldViewPr snapToGrid="0">
      <p:cViewPr>
        <p:scale>
          <a:sx n="100" d="100"/>
          <a:sy n="10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6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1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8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314623"/>
            <a:ext cx="9926052" cy="179593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214954"/>
            <a:ext cx="4668839" cy="1345115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52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1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0" y="5664462"/>
            <a:ext cx="4668839" cy="3362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880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3560B-FCF7-4C0E-A67C-66B1959A950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1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65961" y="2251166"/>
            <a:ext cx="8069989" cy="187743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dirty="0" smtClean="0">
                <a:solidFill>
                  <a:srgbClr val="FF0000"/>
                </a:solidFill>
              </a:rPr>
              <a:t>SAKS_</a:t>
            </a:r>
            <a:r>
              <a:rPr lang="en-PH" sz="2800" dirty="0" smtClean="0">
                <a:solidFill>
                  <a:srgbClr val="00B050"/>
                </a:solidFill>
              </a:rPr>
              <a:t>WTCH </a:t>
            </a:r>
            <a:r>
              <a:rPr lang="en-PH" sz="2800" dirty="0" smtClean="0"/>
              <a:t>(WARP)</a:t>
            </a:r>
            <a:br>
              <a:rPr lang="en-PH" sz="2800" dirty="0" smtClean="0"/>
            </a:br>
            <a:r>
              <a:rPr lang="en-US" sz="28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Always </a:t>
            </a:r>
            <a:r>
              <a:rPr lang="en-US" sz="2400" dirty="0">
                <a:solidFill>
                  <a:srgbClr val="FF0000"/>
                </a:solidFill>
              </a:rPr>
              <a:t>key the following, visible in the invoice separator sheet: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Batch ID (68) </a:t>
            </a:r>
            <a:r>
              <a:rPr lang="en-US" sz="2000" dirty="0">
                <a:solidFill>
                  <a:srgbClr val="00B050"/>
                </a:solidFill>
              </a:rPr>
              <a:t>BAT ID </a:t>
            </a:r>
            <a:r>
              <a:rPr lang="en-US" sz="2000" dirty="0"/>
              <a:t>(69) Value/No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/>
              <a:t>Client Code (68) </a:t>
            </a:r>
            <a:r>
              <a:rPr lang="en-US" sz="2000" dirty="0">
                <a:solidFill>
                  <a:srgbClr val="00B050"/>
                </a:solidFill>
              </a:rPr>
              <a:t>CL CODE </a:t>
            </a:r>
            <a:r>
              <a:rPr lang="en-US" sz="2000" dirty="0"/>
              <a:t>(69)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SAKS</a:t>
            </a:r>
            <a:endParaRPr lang="en-US" sz="2000" dirty="0">
              <a:solidFill>
                <a:srgbClr val="FF0000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 err="1"/>
              <a:t>Scac</a:t>
            </a:r>
            <a:r>
              <a:rPr lang="en-US" sz="2000" dirty="0"/>
              <a:t> Code (68) </a:t>
            </a:r>
            <a:r>
              <a:rPr lang="en-US" sz="2000" dirty="0">
                <a:solidFill>
                  <a:srgbClr val="00B050"/>
                </a:solidFill>
              </a:rPr>
              <a:t>SCAC CODE </a:t>
            </a:r>
            <a:r>
              <a:rPr lang="en-US" sz="2000" dirty="0"/>
              <a:t>(69) </a:t>
            </a:r>
            <a:r>
              <a:rPr lang="en-PH" sz="2000" dirty="0" smtClean="0">
                <a:solidFill>
                  <a:srgbClr val="00B050"/>
                </a:solidFill>
              </a:rPr>
              <a:t>WTCH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871" y="0"/>
            <a:ext cx="529936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36498" y="1403638"/>
            <a:ext cx="2371202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03 INV </a:t>
            </a:r>
            <a:r>
              <a:rPr lang="en-PH" sz="1200" b="1" dirty="0" smtClean="0">
                <a:solidFill>
                  <a:srgbClr val="FF0000"/>
                </a:solidFill>
              </a:rPr>
              <a:t>KEY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10 </a:t>
            </a:r>
            <a:r>
              <a:rPr lang="en-PH" sz="1200" b="1" dirty="0">
                <a:solidFill>
                  <a:srgbClr val="FF0000"/>
                </a:solidFill>
              </a:rPr>
              <a:t>DATE </a:t>
            </a:r>
            <a:endParaRPr lang="en-PH" sz="1200" b="1" dirty="0" smtClean="0">
              <a:solidFill>
                <a:srgbClr val="FF0000"/>
              </a:solidFill>
            </a:endParaRPr>
          </a:p>
          <a:p>
            <a:r>
              <a:rPr lang="en-PH" sz="1200" b="1" dirty="0" smtClean="0">
                <a:solidFill>
                  <a:srgbClr val="FF0000"/>
                </a:solidFill>
              </a:rPr>
              <a:t>27 </a:t>
            </a:r>
            <a:r>
              <a:rPr lang="en-PH" sz="1200" b="1" dirty="0">
                <a:solidFill>
                  <a:srgbClr val="FF0000"/>
                </a:solidFill>
              </a:rPr>
              <a:t>SHIPPER </a:t>
            </a:r>
            <a:r>
              <a:rPr lang="en-PH" sz="1200" b="1" dirty="0" smtClean="0">
                <a:solidFill>
                  <a:srgbClr val="FF0000"/>
                </a:solidFill>
              </a:rPr>
              <a:t>INV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30 </a:t>
            </a:r>
            <a:r>
              <a:rPr lang="en-PH" sz="1200" b="1" dirty="0">
                <a:solidFill>
                  <a:srgbClr val="FF0000"/>
                </a:solidFill>
              </a:rPr>
              <a:t>CONSIGNEE </a:t>
            </a:r>
            <a:r>
              <a:rPr lang="en-PH" sz="1200" b="1" dirty="0" smtClean="0">
                <a:solidFill>
                  <a:srgbClr val="FF0000"/>
                </a:solidFill>
              </a:rPr>
              <a:t>INV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42 /43 ACTUAL WT/ FNCL WT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44/45 UOM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50 DIMENSION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61 PICK UP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62 DELIVERED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68a SHIPMENT ID</a:t>
            </a:r>
            <a:endParaRPr lang="en-PH" sz="1200" b="1" dirty="0">
              <a:solidFill>
                <a:srgbClr val="FF0000"/>
              </a:solidFill>
            </a:endParaRPr>
          </a:p>
          <a:p>
            <a:r>
              <a:rPr lang="en-PH" sz="1200" b="1" dirty="0" smtClean="0">
                <a:solidFill>
                  <a:srgbClr val="FF0000"/>
                </a:solidFill>
              </a:rPr>
              <a:t>68b BOL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72 </a:t>
            </a:r>
            <a:r>
              <a:rPr lang="en-PH" sz="1200" b="1" dirty="0">
                <a:solidFill>
                  <a:srgbClr val="FF0000"/>
                </a:solidFill>
              </a:rPr>
              <a:t>LINE ITEM </a:t>
            </a:r>
            <a:r>
              <a:rPr lang="en-PH" sz="1200" b="1" dirty="0" smtClean="0">
                <a:solidFill>
                  <a:srgbClr val="FF0000"/>
                </a:solidFill>
              </a:rPr>
              <a:t>DESC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74 LINE ITEM QTY Q</a:t>
            </a:r>
            <a:endParaRPr lang="en-PH" sz="1200" b="1" dirty="0">
              <a:solidFill>
                <a:srgbClr val="FF0000"/>
              </a:solidFill>
            </a:endParaRPr>
          </a:p>
          <a:p>
            <a:r>
              <a:rPr lang="en-PH" sz="1200" b="1" dirty="0" smtClean="0">
                <a:solidFill>
                  <a:srgbClr val="FF0000"/>
                </a:solidFill>
              </a:rPr>
              <a:t>75 </a:t>
            </a:r>
            <a:r>
              <a:rPr lang="en-PH" sz="1200" b="1" dirty="0">
                <a:solidFill>
                  <a:srgbClr val="FF0000"/>
                </a:solidFill>
              </a:rPr>
              <a:t>LINE ITEM </a:t>
            </a:r>
            <a:r>
              <a:rPr lang="en-PH" sz="1200" b="1" dirty="0" smtClean="0">
                <a:solidFill>
                  <a:srgbClr val="FF0000"/>
                </a:solidFill>
              </a:rPr>
              <a:t>RATE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85 </a:t>
            </a:r>
            <a:r>
              <a:rPr lang="en-PH" sz="1200" b="1" dirty="0">
                <a:solidFill>
                  <a:srgbClr val="FF0000"/>
                </a:solidFill>
              </a:rPr>
              <a:t>LINE ITEM AMT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08/14 </a:t>
            </a:r>
            <a:r>
              <a:rPr lang="en-PH" sz="1200" b="1" dirty="0">
                <a:solidFill>
                  <a:srgbClr val="FF0000"/>
                </a:solidFill>
              </a:rPr>
              <a:t>INV AMT/ FB </a:t>
            </a:r>
            <a:r>
              <a:rPr lang="en-PH" sz="1200" b="1" dirty="0" smtClean="0">
                <a:solidFill>
                  <a:srgbClr val="FF0000"/>
                </a:solidFill>
              </a:rPr>
              <a:t>AMT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09 CURR</a:t>
            </a:r>
            <a:endParaRPr lang="en-PH" sz="1200" b="1" dirty="0">
              <a:solidFill>
                <a:srgbClr val="FF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 flipH="1">
            <a:off x="2051274" y="304800"/>
            <a:ext cx="506643" cy="12440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5" name="Rounded Rectangular Callout 44"/>
          <p:cNvSpPr/>
          <p:nvPr/>
        </p:nvSpPr>
        <p:spPr>
          <a:xfrm>
            <a:off x="2838410" y="118792"/>
            <a:ext cx="529139" cy="231474"/>
          </a:xfrm>
          <a:prstGeom prst="wedgeRoundRectCallout">
            <a:avLst>
              <a:gd name="adj1" fmla="val -124070"/>
              <a:gd name="adj2" fmla="val 4968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10</a:t>
            </a:r>
            <a:endParaRPr lang="en-US" sz="900" b="1" kern="1200" dirty="0"/>
          </a:p>
        </p:txBody>
      </p:sp>
      <p:sp>
        <p:nvSpPr>
          <p:cNvPr id="46" name="Rectangle 45"/>
          <p:cNvSpPr/>
          <p:nvPr/>
        </p:nvSpPr>
        <p:spPr>
          <a:xfrm flipH="1">
            <a:off x="1880146" y="939223"/>
            <a:ext cx="1344527" cy="21965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7" name="Rounded Rectangular Callout 46"/>
          <p:cNvSpPr/>
          <p:nvPr/>
        </p:nvSpPr>
        <p:spPr>
          <a:xfrm>
            <a:off x="3367549" y="632113"/>
            <a:ext cx="529139" cy="231474"/>
          </a:xfrm>
          <a:prstGeom prst="wedgeRoundRectCallout">
            <a:avLst>
              <a:gd name="adj1" fmla="val -107269"/>
              <a:gd name="adj2" fmla="val 1107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02</a:t>
            </a:r>
            <a:endParaRPr lang="en-US" sz="1000" b="1" kern="1200" dirty="0"/>
          </a:p>
        </p:txBody>
      </p:sp>
      <p:sp>
        <p:nvSpPr>
          <p:cNvPr id="8" name="Rectangle 7"/>
          <p:cNvSpPr/>
          <p:nvPr/>
        </p:nvSpPr>
        <p:spPr>
          <a:xfrm flipH="1">
            <a:off x="1947724" y="429209"/>
            <a:ext cx="506643" cy="13594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2676485" y="449413"/>
            <a:ext cx="529139" cy="231474"/>
          </a:xfrm>
          <a:prstGeom prst="wedgeRoundRectCallout">
            <a:avLst>
              <a:gd name="adj1" fmla="val -104869"/>
              <a:gd name="adj2" fmla="val -2576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03</a:t>
            </a:r>
            <a:endParaRPr lang="en-US" sz="900" b="1" kern="1200" dirty="0"/>
          </a:p>
        </p:txBody>
      </p:sp>
      <p:sp>
        <p:nvSpPr>
          <p:cNvPr id="10" name="Rectangle 9"/>
          <p:cNvSpPr/>
          <p:nvPr/>
        </p:nvSpPr>
        <p:spPr>
          <a:xfrm flipH="1">
            <a:off x="4991646" y="118792"/>
            <a:ext cx="799554" cy="18600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4612149" y="497179"/>
            <a:ext cx="529139" cy="231474"/>
          </a:xfrm>
          <a:prstGeom prst="wedgeRoundRectCallout">
            <a:avLst>
              <a:gd name="adj1" fmla="val 48739"/>
              <a:gd name="adj2" fmla="val -16909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01</a:t>
            </a:r>
            <a:endParaRPr lang="en-US" sz="1000" b="1" kern="1200" dirty="0"/>
          </a:p>
        </p:txBody>
      </p:sp>
      <p:sp>
        <p:nvSpPr>
          <p:cNvPr id="12" name="Rectangle 11"/>
          <p:cNvSpPr/>
          <p:nvPr/>
        </p:nvSpPr>
        <p:spPr>
          <a:xfrm flipH="1">
            <a:off x="2327824" y="1668888"/>
            <a:ext cx="783676" cy="13392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3291349" y="1287901"/>
            <a:ext cx="529139" cy="231474"/>
          </a:xfrm>
          <a:prstGeom prst="wedgeRoundRectCallout">
            <a:avLst>
              <a:gd name="adj1" fmla="val -107269"/>
              <a:gd name="adj2" fmla="val 1107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68a</a:t>
            </a:r>
            <a:endParaRPr lang="en-US" sz="1000" b="1" kern="1200" dirty="0"/>
          </a:p>
        </p:txBody>
      </p:sp>
      <p:sp>
        <p:nvSpPr>
          <p:cNvPr id="16" name="Rectangle 15"/>
          <p:cNvSpPr/>
          <p:nvPr/>
        </p:nvSpPr>
        <p:spPr>
          <a:xfrm flipH="1">
            <a:off x="1912757" y="2098098"/>
            <a:ext cx="415067" cy="10158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 flipH="1">
            <a:off x="2163582" y="2237798"/>
            <a:ext cx="415067" cy="10158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 flipH="1">
            <a:off x="2191024" y="2339384"/>
            <a:ext cx="415067" cy="10158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3" name="Rounded Rectangular Callout 22"/>
          <p:cNvSpPr/>
          <p:nvPr/>
        </p:nvSpPr>
        <p:spPr>
          <a:xfrm>
            <a:off x="2571847" y="1846388"/>
            <a:ext cx="529139" cy="231474"/>
          </a:xfrm>
          <a:prstGeom prst="wedgeRoundRectCallout">
            <a:avLst>
              <a:gd name="adj1" fmla="val -104869"/>
              <a:gd name="adj2" fmla="val 7368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68b</a:t>
            </a:r>
            <a:endParaRPr lang="en-US" sz="1000" b="1" kern="1200" dirty="0"/>
          </a:p>
        </p:txBody>
      </p:sp>
      <p:sp>
        <p:nvSpPr>
          <p:cNvPr id="24" name="Rounded Rectangular Callout 23"/>
          <p:cNvSpPr/>
          <p:nvPr/>
        </p:nvSpPr>
        <p:spPr>
          <a:xfrm>
            <a:off x="1076641" y="2013042"/>
            <a:ext cx="529139" cy="231474"/>
          </a:xfrm>
          <a:prstGeom prst="wedgeRoundRectCallout">
            <a:avLst>
              <a:gd name="adj1" fmla="val 162445"/>
              <a:gd name="adj2" fmla="val 5722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61</a:t>
            </a:r>
            <a:endParaRPr lang="en-US" sz="1000" b="1" kern="1200" dirty="0"/>
          </a:p>
        </p:txBody>
      </p:sp>
      <p:sp>
        <p:nvSpPr>
          <p:cNvPr id="25" name="Rounded Rectangular Callout 24"/>
          <p:cNvSpPr/>
          <p:nvPr/>
        </p:nvSpPr>
        <p:spPr>
          <a:xfrm>
            <a:off x="2549329" y="2575509"/>
            <a:ext cx="529139" cy="231474"/>
          </a:xfrm>
          <a:prstGeom prst="wedgeRoundRectCallout">
            <a:avLst>
              <a:gd name="adj1" fmla="val -76067"/>
              <a:gd name="adj2" fmla="val -11148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62</a:t>
            </a:r>
            <a:endParaRPr lang="en-US" sz="1000" b="1" kern="1200" dirty="0"/>
          </a:p>
        </p:txBody>
      </p:sp>
      <p:sp>
        <p:nvSpPr>
          <p:cNvPr id="30" name="Rectangle 29"/>
          <p:cNvSpPr/>
          <p:nvPr/>
        </p:nvSpPr>
        <p:spPr>
          <a:xfrm flipH="1">
            <a:off x="3224358" y="2081930"/>
            <a:ext cx="1546088" cy="37508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 flipH="1">
            <a:off x="4893816" y="2096498"/>
            <a:ext cx="1771443" cy="34447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0" name="Rounded Rectangular Callout 39"/>
          <p:cNvSpPr/>
          <p:nvPr/>
        </p:nvSpPr>
        <p:spPr>
          <a:xfrm>
            <a:off x="3911420" y="1710756"/>
            <a:ext cx="529139" cy="231474"/>
          </a:xfrm>
          <a:prstGeom prst="wedgeRoundRectCallout">
            <a:avLst>
              <a:gd name="adj1" fmla="val 29239"/>
              <a:gd name="adj2" fmla="val 14363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27</a:t>
            </a:r>
            <a:endParaRPr lang="en-US" sz="1000" b="1" kern="1200" dirty="0"/>
          </a:p>
        </p:txBody>
      </p:sp>
      <p:sp>
        <p:nvSpPr>
          <p:cNvPr id="41" name="Rounded Rectangular Callout 40"/>
          <p:cNvSpPr/>
          <p:nvPr/>
        </p:nvSpPr>
        <p:spPr>
          <a:xfrm>
            <a:off x="5637221" y="1726352"/>
            <a:ext cx="529139" cy="231474"/>
          </a:xfrm>
          <a:prstGeom prst="wedgeRoundRectCallout">
            <a:avLst>
              <a:gd name="adj1" fmla="val -17564"/>
              <a:gd name="adj2" fmla="val 14157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30</a:t>
            </a:r>
            <a:endParaRPr lang="en-US" sz="1000" b="1" kern="1200" dirty="0"/>
          </a:p>
        </p:txBody>
      </p:sp>
      <p:sp>
        <p:nvSpPr>
          <p:cNvPr id="42" name="Rectangle 41"/>
          <p:cNvSpPr/>
          <p:nvPr/>
        </p:nvSpPr>
        <p:spPr>
          <a:xfrm flipH="1">
            <a:off x="1787343" y="3324224"/>
            <a:ext cx="761985" cy="10693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3" name="Rounded Rectangular Callout 42"/>
          <p:cNvSpPr/>
          <p:nvPr/>
        </p:nvSpPr>
        <p:spPr>
          <a:xfrm>
            <a:off x="1037589" y="3429000"/>
            <a:ext cx="529139" cy="231474"/>
          </a:xfrm>
          <a:prstGeom prst="wedgeRoundRectCallout">
            <a:avLst>
              <a:gd name="adj1" fmla="val 109343"/>
              <a:gd name="adj2" fmla="val -6622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72</a:t>
            </a:r>
            <a:endParaRPr lang="en-US" sz="1000" b="1" kern="1200" dirty="0"/>
          </a:p>
        </p:txBody>
      </p:sp>
      <p:sp>
        <p:nvSpPr>
          <p:cNvPr id="48" name="Rectangle 47"/>
          <p:cNvSpPr/>
          <p:nvPr/>
        </p:nvSpPr>
        <p:spPr>
          <a:xfrm flipH="1">
            <a:off x="3291348" y="3324224"/>
            <a:ext cx="240579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9" name="Rounded Rectangular Callout 48"/>
          <p:cNvSpPr/>
          <p:nvPr/>
        </p:nvSpPr>
        <p:spPr>
          <a:xfrm>
            <a:off x="2606091" y="3488396"/>
            <a:ext cx="529139" cy="231474"/>
          </a:xfrm>
          <a:prstGeom prst="wedgeRoundRectCallout">
            <a:avLst>
              <a:gd name="adj1" fmla="val 98542"/>
              <a:gd name="adj2" fmla="val -8885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74</a:t>
            </a:r>
            <a:endParaRPr lang="en-US" sz="1000" b="1" kern="1200" dirty="0"/>
          </a:p>
        </p:txBody>
      </p:sp>
      <p:sp>
        <p:nvSpPr>
          <p:cNvPr id="50" name="Rectangle 49"/>
          <p:cNvSpPr/>
          <p:nvPr/>
        </p:nvSpPr>
        <p:spPr>
          <a:xfrm flipH="1">
            <a:off x="4751066" y="3324224"/>
            <a:ext cx="442970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1" name="Rounded Rectangular Callout 50"/>
          <p:cNvSpPr/>
          <p:nvPr/>
        </p:nvSpPr>
        <p:spPr>
          <a:xfrm>
            <a:off x="4161106" y="3519845"/>
            <a:ext cx="529139" cy="231474"/>
          </a:xfrm>
          <a:prstGeom prst="wedgeRoundRectCallout">
            <a:avLst>
              <a:gd name="adj1" fmla="val 98542"/>
              <a:gd name="adj2" fmla="val -8885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50</a:t>
            </a:r>
            <a:endParaRPr lang="en-US" sz="1000" b="1" kern="1200" dirty="0"/>
          </a:p>
        </p:txBody>
      </p:sp>
      <p:sp>
        <p:nvSpPr>
          <p:cNvPr id="52" name="Rectangle 51"/>
          <p:cNvSpPr/>
          <p:nvPr/>
        </p:nvSpPr>
        <p:spPr>
          <a:xfrm flipH="1">
            <a:off x="5562600" y="3324224"/>
            <a:ext cx="228600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flipH="1">
            <a:off x="5853113" y="3191688"/>
            <a:ext cx="228600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4" name="Rounded Rectangular Callout 53"/>
          <p:cNvSpPr/>
          <p:nvPr/>
        </p:nvSpPr>
        <p:spPr>
          <a:xfrm>
            <a:off x="5275187" y="3633693"/>
            <a:ext cx="529139" cy="231474"/>
          </a:xfrm>
          <a:prstGeom prst="wedgeRoundRectCallout">
            <a:avLst>
              <a:gd name="adj1" fmla="val 28338"/>
              <a:gd name="adj2" fmla="val -14852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42/43</a:t>
            </a:r>
            <a:endParaRPr lang="en-US" sz="1000" b="1" kern="1200" dirty="0"/>
          </a:p>
        </p:txBody>
      </p:sp>
      <p:sp>
        <p:nvSpPr>
          <p:cNvPr id="55" name="Rounded Rectangular Callout 54"/>
          <p:cNvSpPr/>
          <p:nvPr/>
        </p:nvSpPr>
        <p:spPr>
          <a:xfrm>
            <a:off x="6006912" y="3420817"/>
            <a:ext cx="529139" cy="231474"/>
          </a:xfrm>
          <a:prstGeom prst="wedgeRoundRectCallout">
            <a:avLst>
              <a:gd name="adj1" fmla="val -47266"/>
              <a:gd name="adj2" fmla="val -1176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44/45</a:t>
            </a:r>
            <a:endParaRPr lang="en-US" sz="1000" b="1" kern="1200" dirty="0"/>
          </a:p>
        </p:txBody>
      </p:sp>
      <p:sp>
        <p:nvSpPr>
          <p:cNvPr id="56" name="Rectangle 55"/>
          <p:cNvSpPr/>
          <p:nvPr/>
        </p:nvSpPr>
        <p:spPr>
          <a:xfrm flipH="1">
            <a:off x="1782589" y="6077741"/>
            <a:ext cx="761985" cy="10693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cxnSp>
        <p:nvCxnSpPr>
          <p:cNvPr id="5" name="Elbow Connector 4"/>
          <p:cNvCxnSpPr>
            <a:stCxn id="42" idx="3"/>
            <a:endCxn id="56" idx="3"/>
          </p:cNvCxnSpPr>
          <p:nvPr/>
        </p:nvCxnSpPr>
        <p:spPr>
          <a:xfrm rot="10800000" flipV="1">
            <a:off x="1782589" y="3377689"/>
            <a:ext cx="4754" cy="2753517"/>
          </a:xfrm>
          <a:prstGeom prst="bentConnector3">
            <a:avLst>
              <a:gd name="adj1" fmla="val 4908582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 flipH="1">
            <a:off x="3055996" y="6077741"/>
            <a:ext cx="240579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8" name="Rounded Rectangular Callout 57"/>
          <p:cNvSpPr/>
          <p:nvPr/>
        </p:nvSpPr>
        <p:spPr>
          <a:xfrm>
            <a:off x="2913536" y="6295378"/>
            <a:ext cx="529139" cy="231474"/>
          </a:xfrm>
          <a:prstGeom prst="wedgeRoundRectCallout">
            <a:avLst>
              <a:gd name="adj1" fmla="val -463"/>
              <a:gd name="adj2" fmla="val -1176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75</a:t>
            </a:r>
            <a:endParaRPr lang="en-US" sz="1000" b="1" kern="1200" dirty="0"/>
          </a:p>
        </p:txBody>
      </p:sp>
      <p:sp>
        <p:nvSpPr>
          <p:cNvPr id="59" name="Rectangle 58"/>
          <p:cNvSpPr/>
          <p:nvPr/>
        </p:nvSpPr>
        <p:spPr>
          <a:xfrm flipH="1">
            <a:off x="6344369" y="6295378"/>
            <a:ext cx="348530" cy="115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0" name="Rounded Rectangular Callout 59"/>
          <p:cNvSpPr/>
          <p:nvPr/>
        </p:nvSpPr>
        <p:spPr>
          <a:xfrm>
            <a:off x="7032947" y="6295378"/>
            <a:ext cx="529139" cy="231474"/>
          </a:xfrm>
          <a:prstGeom prst="wedgeRoundRectCallout">
            <a:avLst>
              <a:gd name="adj1" fmla="val -126470"/>
              <a:gd name="adj2" fmla="val -243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08/14</a:t>
            </a:r>
            <a:endParaRPr lang="en-US" sz="1000" b="1" kern="1200" dirty="0"/>
          </a:p>
        </p:txBody>
      </p:sp>
      <p:sp>
        <p:nvSpPr>
          <p:cNvPr id="61" name="Rectangle 60"/>
          <p:cNvSpPr/>
          <p:nvPr/>
        </p:nvSpPr>
        <p:spPr>
          <a:xfrm flipH="1">
            <a:off x="6316730" y="6036487"/>
            <a:ext cx="348530" cy="115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2" name="Rounded Rectangular Callout 61"/>
          <p:cNvSpPr/>
          <p:nvPr/>
        </p:nvSpPr>
        <p:spPr>
          <a:xfrm>
            <a:off x="7005308" y="6036487"/>
            <a:ext cx="529139" cy="231474"/>
          </a:xfrm>
          <a:prstGeom prst="wedgeRoundRectCallout">
            <a:avLst>
              <a:gd name="adj1" fmla="val -126470"/>
              <a:gd name="adj2" fmla="val -243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85</a:t>
            </a:r>
            <a:endParaRPr lang="en-US" sz="1000" b="1" kern="1200" dirty="0"/>
          </a:p>
        </p:txBody>
      </p:sp>
      <p:sp>
        <p:nvSpPr>
          <p:cNvPr id="63" name="Rectangle 62"/>
          <p:cNvSpPr/>
          <p:nvPr/>
        </p:nvSpPr>
        <p:spPr>
          <a:xfrm flipH="1">
            <a:off x="6361786" y="5916370"/>
            <a:ext cx="348530" cy="115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4" name="Rounded Rectangular Callout 63"/>
          <p:cNvSpPr/>
          <p:nvPr/>
        </p:nvSpPr>
        <p:spPr>
          <a:xfrm>
            <a:off x="6874339" y="5612625"/>
            <a:ext cx="529139" cy="231474"/>
          </a:xfrm>
          <a:prstGeom prst="wedgeRoundRectCallout">
            <a:avLst>
              <a:gd name="adj1" fmla="val -108469"/>
              <a:gd name="adj2" fmla="val 9391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09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171902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718" y="0"/>
            <a:ext cx="529936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36498" y="1403638"/>
            <a:ext cx="237120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03 INV </a:t>
            </a:r>
            <a:r>
              <a:rPr lang="en-PH" sz="1200" b="1" dirty="0" smtClean="0">
                <a:solidFill>
                  <a:srgbClr val="FF0000"/>
                </a:solidFill>
              </a:rPr>
              <a:t>KEY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10 </a:t>
            </a:r>
            <a:r>
              <a:rPr lang="en-PH" sz="1200" b="1" dirty="0">
                <a:solidFill>
                  <a:srgbClr val="FF0000"/>
                </a:solidFill>
              </a:rPr>
              <a:t>DATE </a:t>
            </a:r>
            <a:endParaRPr lang="en-PH" sz="1200" b="1" dirty="0" smtClean="0">
              <a:solidFill>
                <a:srgbClr val="FF0000"/>
              </a:solidFill>
            </a:endParaRPr>
          </a:p>
          <a:p>
            <a:r>
              <a:rPr lang="en-PH" sz="1200" b="1" dirty="0" smtClean="0">
                <a:solidFill>
                  <a:srgbClr val="FF0000"/>
                </a:solidFill>
              </a:rPr>
              <a:t>27 </a:t>
            </a:r>
            <a:r>
              <a:rPr lang="en-PH" sz="1200" b="1" dirty="0">
                <a:solidFill>
                  <a:srgbClr val="FF0000"/>
                </a:solidFill>
              </a:rPr>
              <a:t>SHIPPER </a:t>
            </a:r>
            <a:r>
              <a:rPr lang="en-PH" sz="1200" b="1" dirty="0" smtClean="0">
                <a:solidFill>
                  <a:srgbClr val="FF0000"/>
                </a:solidFill>
              </a:rPr>
              <a:t>INV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30 </a:t>
            </a:r>
            <a:r>
              <a:rPr lang="en-PH" sz="1200" b="1" dirty="0">
                <a:solidFill>
                  <a:srgbClr val="FF0000"/>
                </a:solidFill>
              </a:rPr>
              <a:t>CONSIGNEE </a:t>
            </a:r>
            <a:r>
              <a:rPr lang="en-PH" sz="1200" b="1" dirty="0" smtClean="0">
                <a:solidFill>
                  <a:srgbClr val="FF0000"/>
                </a:solidFill>
              </a:rPr>
              <a:t>INV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42 /43 ACTUAL WT/ FNCL WT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44/45 UOM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50 DIMENSION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61 PICK UP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62 DELIVERED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68b BOL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72 </a:t>
            </a:r>
            <a:r>
              <a:rPr lang="en-PH" sz="1200" b="1" dirty="0">
                <a:solidFill>
                  <a:srgbClr val="FF0000"/>
                </a:solidFill>
              </a:rPr>
              <a:t>LINE ITEM </a:t>
            </a:r>
            <a:r>
              <a:rPr lang="en-PH" sz="1200" b="1" dirty="0" smtClean="0">
                <a:solidFill>
                  <a:srgbClr val="FF0000"/>
                </a:solidFill>
              </a:rPr>
              <a:t>DESC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74 LINE ITEM QTY Q</a:t>
            </a:r>
            <a:endParaRPr lang="en-PH" sz="1200" b="1" dirty="0">
              <a:solidFill>
                <a:srgbClr val="FF0000"/>
              </a:solidFill>
            </a:endParaRPr>
          </a:p>
          <a:p>
            <a:r>
              <a:rPr lang="en-PH" sz="1200" b="1" dirty="0" smtClean="0">
                <a:solidFill>
                  <a:srgbClr val="FF0000"/>
                </a:solidFill>
              </a:rPr>
              <a:t>75 </a:t>
            </a:r>
            <a:r>
              <a:rPr lang="en-PH" sz="1200" b="1" dirty="0">
                <a:solidFill>
                  <a:srgbClr val="FF0000"/>
                </a:solidFill>
              </a:rPr>
              <a:t>LINE ITEM </a:t>
            </a:r>
            <a:r>
              <a:rPr lang="en-PH" sz="1200" b="1" dirty="0" smtClean="0">
                <a:solidFill>
                  <a:srgbClr val="FF0000"/>
                </a:solidFill>
              </a:rPr>
              <a:t>RATE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85 </a:t>
            </a:r>
            <a:r>
              <a:rPr lang="en-PH" sz="1200" b="1" dirty="0">
                <a:solidFill>
                  <a:srgbClr val="FF0000"/>
                </a:solidFill>
              </a:rPr>
              <a:t>LINE ITEM AMT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09 CURR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46 PIECES</a:t>
            </a:r>
            <a:endParaRPr lang="en-PH" sz="1200" b="1" dirty="0" smtClean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H="1">
            <a:off x="6745355" y="6284137"/>
            <a:ext cx="348530" cy="115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7433933" y="6284137"/>
            <a:ext cx="529139" cy="231474"/>
          </a:xfrm>
          <a:prstGeom prst="wedgeRoundRectCallout">
            <a:avLst>
              <a:gd name="adj1" fmla="val -126470"/>
              <a:gd name="adj2" fmla="val -243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85</a:t>
            </a:r>
            <a:endParaRPr lang="en-US" sz="1000" b="1" kern="1200" dirty="0"/>
          </a:p>
        </p:txBody>
      </p:sp>
      <p:sp>
        <p:nvSpPr>
          <p:cNvPr id="7" name="Rectangle 6"/>
          <p:cNvSpPr/>
          <p:nvPr/>
        </p:nvSpPr>
        <p:spPr>
          <a:xfrm flipH="1">
            <a:off x="6790411" y="6164020"/>
            <a:ext cx="348530" cy="115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7302964" y="5860275"/>
            <a:ext cx="529139" cy="231474"/>
          </a:xfrm>
          <a:prstGeom prst="wedgeRoundRectCallout">
            <a:avLst>
              <a:gd name="adj1" fmla="val -108469"/>
              <a:gd name="adj2" fmla="val 9391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09</a:t>
            </a:r>
            <a:endParaRPr lang="en-US" sz="1000" b="1" kern="1200" dirty="0"/>
          </a:p>
        </p:txBody>
      </p:sp>
      <p:sp>
        <p:nvSpPr>
          <p:cNvPr id="9" name="Rectangle 8"/>
          <p:cNvSpPr/>
          <p:nvPr/>
        </p:nvSpPr>
        <p:spPr>
          <a:xfrm flipH="1">
            <a:off x="2480838" y="304800"/>
            <a:ext cx="506643" cy="12440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3267974" y="118792"/>
            <a:ext cx="529139" cy="231474"/>
          </a:xfrm>
          <a:prstGeom prst="wedgeRoundRectCallout">
            <a:avLst>
              <a:gd name="adj1" fmla="val -124070"/>
              <a:gd name="adj2" fmla="val 4968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10</a:t>
            </a:r>
            <a:endParaRPr lang="en-US" sz="900" b="1" kern="1200" dirty="0"/>
          </a:p>
        </p:txBody>
      </p:sp>
      <p:sp>
        <p:nvSpPr>
          <p:cNvPr id="11" name="Rectangle 10"/>
          <p:cNvSpPr/>
          <p:nvPr/>
        </p:nvSpPr>
        <p:spPr>
          <a:xfrm flipH="1">
            <a:off x="2309710" y="939223"/>
            <a:ext cx="1344527" cy="21965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3797113" y="632113"/>
            <a:ext cx="529139" cy="231474"/>
          </a:xfrm>
          <a:prstGeom prst="wedgeRoundRectCallout">
            <a:avLst>
              <a:gd name="adj1" fmla="val -107269"/>
              <a:gd name="adj2" fmla="val 1107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02</a:t>
            </a:r>
            <a:endParaRPr lang="en-US" sz="1000" b="1" kern="1200" dirty="0"/>
          </a:p>
        </p:txBody>
      </p:sp>
      <p:sp>
        <p:nvSpPr>
          <p:cNvPr id="13" name="Rectangle 12"/>
          <p:cNvSpPr/>
          <p:nvPr/>
        </p:nvSpPr>
        <p:spPr>
          <a:xfrm flipH="1">
            <a:off x="2377288" y="429209"/>
            <a:ext cx="506643" cy="13594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3106049" y="449413"/>
            <a:ext cx="529139" cy="231474"/>
          </a:xfrm>
          <a:prstGeom prst="wedgeRoundRectCallout">
            <a:avLst>
              <a:gd name="adj1" fmla="val -104869"/>
              <a:gd name="adj2" fmla="val -2576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03</a:t>
            </a:r>
            <a:endParaRPr lang="en-US" sz="900" b="1" kern="1200" dirty="0"/>
          </a:p>
        </p:txBody>
      </p:sp>
      <p:sp>
        <p:nvSpPr>
          <p:cNvPr id="15" name="Rectangle 14"/>
          <p:cNvSpPr/>
          <p:nvPr/>
        </p:nvSpPr>
        <p:spPr>
          <a:xfrm flipH="1">
            <a:off x="5421210" y="118792"/>
            <a:ext cx="799554" cy="14155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5041713" y="497179"/>
            <a:ext cx="529139" cy="231474"/>
          </a:xfrm>
          <a:prstGeom prst="wedgeRoundRectCallout">
            <a:avLst>
              <a:gd name="adj1" fmla="val 48739"/>
              <a:gd name="adj2" fmla="val -16909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01</a:t>
            </a:r>
            <a:endParaRPr lang="en-US" sz="1000" b="1" kern="1200" dirty="0"/>
          </a:p>
        </p:txBody>
      </p:sp>
      <p:sp>
        <p:nvSpPr>
          <p:cNvPr id="19" name="Rectangle 18"/>
          <p:cNvSpPr/>
          <p:nvPr/>
        </p:nvSpPr>
        <p:spPr>
          <a:xfrm flipH="1">
            <a:off x="2343580" y="2102641"/>
            <a:ext cx="415067" cy="10158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flipH="1">
            <a:off x="2594405" y="2242341"/>
            <a:ext cx="415067" cy="10158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 flipH="1">
            <a:off x="2621847" y="2343927"/>
            <a:ext cx="415067" cy="10158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ounded Rectangular Callout 21"/>
          <p:cNvSpPr/>
          <p:nvPr/>
        </p:nvSpPr>
        <p:spPr>
          <a:xfrm>
            <a:off x="3002670" y="1850931"/>
            <a:ext cx="529139" cy="231474"/>
          </a:xfrm>
          <a:prstGeom prst="wedgeRoundRectCallout">
            <a:avLst>
              <a:gd name="adj1" fmla="val -104869"/>
              <a:gd name="adj2" fmla="val 7368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68b</a:t>
            </a:r>
            <a:endParaRPr lang="en-US" sz="1000" b="1" kern="1200" dirty="0"/>
          </a:p>
        </p:txBody>
      </p:sp>
      <p:sp>
        <p:nvSpPr>
          <p:cNvPr id="23" name="Rounded Rectangular Callout 22"/>
          <p:cNvSpPr/>
          <p:nvPr/>
        </p:nvSpPr>
        <p:spPr>
          <a:xfrm>
            <a:off x="1507464" y="2017585"/>
            <a:ext cx="529139" cy="231474"/>
          </a:xfrm>
          <a:prstGeom prst="wedgeRoundRectCallout">
            <a:avLst>
              <a:gd name="adj1" fmla="val 162445"/>
              <a:gd name="adj2" fmla="val 5722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61</a:t>
            </a:r>
            <a:endParaRPr lang="en-US" sz="1000" b="1" kern="1200" dirty="0"/>
          </a:p>
        </p:txBody>
      </p:sp>
      <p:sp>
        <p:nvSpPr>
          <p:cNvPr id="24" name="Rounded Rectangular Callout 23"/>
          <p:cNvSpPr/>
          <p:nvPr/>
        </p:nvSpPr>
        <p:spPr>
          <a:xfrm>
            <a:off x="2980152" y="2580052"/>
            <a:ext cx="529139" cy="231474"/>
          </a:xfrm>
          <a:prstGeom prst="wedgeRoundRectCallout">
            <a:avLst>
              <a:gd name="adj1" fmla="val -76067"/>
              <a:gd name="adj2" fmla="val -11148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62</a:t>
            </a:r>
            <a:endParaRPr lang="en-US" sz="1000" b="1" kern="1200" dirty="0"/>
          </a:p>
        </p:txBody>
      </p:sp>
      <p:sp>
        <p:nvSpPr>
          <p:cNvPr id="25" name="Rectangle 24"/>
          <p:cNvSpPr/>
          <p:nvPr/>
        </p:nvSpPr>
        <p:spPr>
          <a:xfrm flipH="1">
            <a:off x="3926681" y="2086473"/>
            <a:ext cx="1397958" cy="25745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5622130" y="2101041"/>
            <a:ext cx="1376364" cy="34447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7" name="Rounded Rectangular Callout 26"/>
          <p:cNvSpPr/>
          <p:nvPr/>
        </p:nvSpPr>
        <p:spPr>
          <a:xfrm>
            <a:off x="4342243" y="1715299"/>
            <a:ext cx="529139" cy="231474"/>
          </a:xfrm>
          <a:prstGeom prst="wedgeRoundRectCallout">
            <a:avLst>
              <a:gd name="adj1" fmla="val 29239"/>
              <a:gd name="adj2" fmla="val 14363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27</a:t>
            </a:r>
            <a:endParaRPr lang="en-US" sz="1000" b="1" kern="1200" dirty="0"/>
          </a:p>
        </p:txBody>
      </p:sp>
      <p:sp>
        <p:nvSpPr>
          <p:cNvPr id="28" name="Rounded Rectangular Callout 27"/>
          <p:cNvSpPr/>
          <p:nvPr/>
        </p:nvSpPr>
        <p:spPr>
          <a:xfrm>
            <a:off x="6068044" y="1730895"/>
            <a:ext cx="529139" cy="231474"/>
          </a:xfrm>
          <a:prstGeom prst="wedgeRoundRectCallout">
            <a:avLst>
              <a:gd name="adj1" fmla="val -17564"/>
              <a:gd name="adj2" fmla="val 14157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30</a:t>
            </a:r>
            <a:endParaRPr lang="en-US" sz="1000" b="1" kern="1200" dirty="0"/>
          </a:p>
        </p:txBody>
      </p:sp>
      <p:sp>
        <p:nvSpPr>
          <p:cNvPr id="31" name="Rectangle 30"/>
          <p:cNvSpPr/>
          <p:nvPr/>
        </p:nvSpPr>
        <p:spPr>
          <a:xfrm flipH="1">
            <a:off x="3291230" y="3441235"/>
            <a:ext cx="240579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2" name="Rounded Rectangular Callout 31"/>
          <p:cNvSpPr/>
          <p:nvPr/>
        </p:nvSpPr>
        <p:spPr>
          <a:xfrm>
            <a:off x="4638173" y="6418278"/>
            <a:ext cx="529139" cy="231474"/>
          </a:xfrm>
          <a:prstGeom prst="wedgeRoundRectCallout">
            <a:avLst>
              <a:gd name="adj1" fmla="val 98542"/>
              <a:gd name="adj2" fmla="val -8885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74</a:t>
            </a:r>
            <a:endParaRPr lang="en-US" sz="1000" b="1" kern="1200" dirty="0"/>
          </a:p>
        </p:txBody>
      </p:sp>
      <p:sp>
        <p:nvSpPr>
          <p:cNvPr id="33" name="Rectangle 32"/>
          <p:cNvSpPr/>
          <p:nvPr/>
        </p:nvSpPr>
        <p:spPr>
          <a:xfrm flipH="1">
            <a:off x="4820228" y="3441235"/>
            <a:ext cx="442970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4" name="Rounded Rectangular Callout 33"/>
          <p:cNvSpPr/>
          <p:nvPr/>
        </p:nvSpPr>
        <p:spPr>
          <a:xfrm>
            <a:off x="4300013" y="3607782"/>
            <a:ext cx="529139" cy="231474"/>
          </a:xfrm>
          <a:prstGeom prst="wedgeRoundRectCallout">
            <a:avLst>
              <a:gd name="adj1" fmla="val 98542"/>
              <a:gd name="adj2" fmla="val -8885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50</a:t>
            </a:r>
            <a:endParaRPr lang="en-US" sz="1000" b="1" kern="1200" dirty="0"/>
          </a:p>
        </p:txBody>
      </p:sp>
      <p:sp>
        <p:nvSpPr>
          <p:cNvPr id="35" name="Rectangle 34"/>
          <p:cNvSpPr/>
          <p:nvPr/>
        </p:nvSpPr>
        <p:spPr>
          <a:xfrm flipH="1">
            <a:off x="5826318" y="3441235"/>
            <a:ext cx="228600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flipH="1">
            <a:off x="6116831" y="3308699"/>
            <a:ext cx="228600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7" name="Rounded Rectangular Callout 36"/>
          <p:cNvSpPr/>
          <p:nvPr/>
        </p:nvSpPr>
        <p:spPr>
          <a:xfrm>
            <a:off x="5538905" y="3750704"/>
            <a:ext cx="529139" cy="231474"/>
          </a:xfrm>
          <a:prstGeom prst="wedgeRoundRectCallout">
            <a:avLst>
              <a:gd name="adj1" fmla="val 28338"/>
              <a:gd name="adj2" fmla="val -14852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42/43</a:t>
            </a:r>
            <a:endParaRPr lang="en-US" sz="1000" b="1" kern="12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6270630" y="3537828"/>
            <a:ext cx="529139" cy="231474"/>
          </a:xfrm>
          <a:prstGeom prst="wedgeRoundRectCallout">
            <a:avLst>
              <a:gd name="adj1" fmla="val -47266"/>
              <a:gd name="adj2" fmla="val -1176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44/45</a:t>
            </a:r>
            <a:endParaRPr lang="en-US" sz="1000" b="1" kern="1200" dirty="0"/>
          </a:p>
        </p:txBody>
      </p:sp>
      <p:sp>
        <p:nvSpPr>
          <p:cNvPr id="39" name="Rectangle 38"/>
          <p:cNvSpPr/>
          <p:nvPr/>
        </p:nvSpPr>
        <p:spPr>
          <a:xfrm flipH="1">
            <a:off x="2134583" y="3453895"/>
            <a:ext cx="761985" cy="10693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0" name="Rounded Rectangular Callout 39"/>
          <p:cNvSpPr/>
          <p:nvPr/>
        </p:nvSpPr>
        <p:spPr>
          <a:xfrm>
            <a:off x="1325146" y="3560826"/>
            <a:ext cx="529139" cy="231474"/>
          </a:xfrm>
          <a:prstGeom prst="wedgeRoundRectCallout">
            <a:avLst>
              <a:gd name="adj1" fmla="val 109343"/>
              <a:gd name="adj2" fmla="val -6622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72</a:t>
            </a:r>
            <a:endParaRPr lang="en-US" sz="1000" b="1" kern="1200" dirty="0"/>
          </a:p>
        </p:txBody>
      </p:sp>
      <p:sp>
        <p:nvSpPr>
          <p:cNvPr id="41" name="Rectangle 40"/>
          <p:cNvSpPr/>
          <p:nvPr/>
        </p:nvSpPr>
        <p:spPr>
          <a:xfrm flipH="1">
            <a:off x="2144164" y="6292943"/>
            <a:ext cx="761985" cy="10693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cxnSp>
        <p:nvCxnSpPr>
          <p:cNvPr id="42" name="Elbow Connector 41"/>
          <p:cNvCxnSpPr>
            <a:stCxn id="39" idx="3"/>
            <a:endCxn id="41" idx="3"/>
          </p:cNvCxnSpPr>
          <p:nvPr/>
        </p:nvCxnSpPr>
        <p:spPr>
          <a:xfrm rot="10800000" flipH="1" flipV="1">
            <a:off x="2134582" y="3507361"/>
            <a:ext cx="9581" cy="2839048"/>
          </a:xfrm>
          <a:prstGeom prst="bentConnector3">
            <a:avLst>
              <a:gd name="adj1" fmla="val -2385972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 flipH="1">
            <a:off x="3488863" y="6313502"/>
            <a:ext cx="240579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5" name="Rounded Rectangular Callout 44"/>
          <p:cNvSpPr/>
          <p:nvPr/>
        </p:nvSpPr>
        <p:spPr>
          <a:xfrm>
            <a:off x="3346403" y="6531139"/>
            <a:ext cx="529139" cy="231474"/>
          </a:xfrm>
          <a:prstGeom prst="wedgeRoundRectCallout">
            <a:avLst>
              <a:gd name="adj1" fmla="val -463"/>
              <a:gd name="adj2" fmla="val -1176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75</a:t>
            </a:r>
            <a:endParaRPr lang="en-US" sz="1000" b="1" kern="1200" dirty="0"/>
          </a:p>
        </p:txBody>
      </p:sp>
      <p:sp>
        <p:nvSpPr>
          <p:cNvPr id="46" name="Rectangle 45"/>
          <p:cNvSpPr/>
          <p:nvPr/>
        </p:nvSpPr>
        <p:spPr>
          <a:xfrm flipH="1">
            <a:off x="5358397" y="6289617"/>
            <a:ext cx="240579" cy="104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7" name="Rounded Rectangular Callout 46"/>
          <p:cNvSpPr/>
          <p:nvPr/>
        </p:nvSpPr>
        <p:spPr>
          <a:xfrm>
            <a:off x="2657322" y="3576955"/>
            <a:ext cx="529139" cy="231474"/>
          </a:xfrm>
          <a:prstGeom prst="wedgeRoundRectCallout">
            <a:avLst>
              <a:gd name="adj1" fmla="val 98542"/>
              <a:gd name="adj2" fmla="val -8885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46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2132582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443" y="0"/>
            <a:ext cx="529936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36498" y="1403638"/>
            <a:ext cx="23712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200" b="1" dirty="0" smtClean="0">
                <a:solidFill>
                  <a:srgbClr val="FF0000"/>
                </a:solidFill>
              </a:rPr>
              <a:t>08 INV AMT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14 FB </a:t>
            </a:r>
            <a:r>
              <a:rPr lang="en-PH" sz="1200" b="1" dirty="0">
                <a:solidFill>
                  <a:srgbClr val="FF0000"/>
                </a:solidFill>
              </a:rPr>
              <a:t>AMT</a:t>
            </a:r>
            <a:br>
              <a:rPr lang="en-PH" sz="1200" b="1" dirty="0">
                <a:solidFill>
                  <a:srgbClr val="FF0000"/>
                </a:solidFill>
              </a:rPr>
            </a:br>
            <a:r>
              <a:rPr lang="en-PH" sz="1200" b="1" dirty="0">
                <a:solidFill>
                  <a:srgbClr val="FF0000"/>
                </a:solidFill>
              </a:rPr>
              <a:t>68a SHIPMENT </a:t>
            </a:r>
            <a:r>
              <a:rPr lang="en-PH" sz="1200" b="1" dirty="0" smtClean="0">
                <a:solidFill>
                  <a:srgbClr val="FF0000"/>
                </a:solidFill>
              </a:rPr>
              <a:t>ID</a:t>
            </a:r>
            <a:br>
              <a:rPr lang="en-PH" sz="1200" b="1" dirty="0" smtClean="0">
                <a:solidFill>
                  <a:srgbClr val="FF0000"/>
                </a:solidFill>
              </a:rPr>
            </a:br>
            <a:r>
              <a:rPr lang="en-PH" sz="1200" b="1" dirty="0">
                <a:solidFill>
                  <a:srgbClr val="FF0000"/>
                </a:solidFill>
              </a:rPr>
              <a:t>13 FB KEY</a:t>
            </a:r>
          </a:p>
          <a:p>
            <a:endParaRPr lang="en-PH" sz="1200" b="1" dirty="0">
              <a:solidFill>
                <a:srgbClr val="FF0000"/>
              </a:solidFill>
            </a:endParaRPr>
          </a:p>
          <a:p>
            <a:endParaRPr lang="en-PH" sz="1200" b="1" dirty="0" smtClean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 flipH="1">
            <a:off x="6461349" y="107938"/>
            <a:ext cx="348530" cy="115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7149927" y="107938"/>
            <a:ext cx="529139" cy="231474"/>
          </a:xfrm>
          <a:prstGeom prst="wedgeRoundRectCallout">
            <a:avLst>
              <a:gd name="adj1" fmla="val -126470"/>
              <a:gd name="adj2" fmla="val -243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14</a:t>
            </a:r>
            <a:endParaRPr lang="en-US" sz="1000" b="1" kern="1200" dirty="0"/>
          </a:p>
        </p:txBody>
      </p:sp>
      <p:sp>
        <p:nvSpPr>
          <p:cNvPr id="6" name="Rectangle 5"/>
          <p:cNvSpPr/>
          <p:nvPr/>
        </p:nvSpPr>
        <p:spPr>
          <a:xfrm flipH="1">
            <a:off x="6461349" y="3193626"/>
            <a:ext cx="348530" cy="115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6568029" y="5045286"/>
            <a:ext cx="348530" cy="115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7256607" y="5045286"/>
            <a:ext cx="529139" cy="231474"/>
          </a:xfrm>
          <a:prstGeom prst="wedgeRoundRectCallout">
            <a:avLst>
              <a:gd name="adj1" fmla="val -126470"/>
              <a:gd name="adj2" fmla="val -243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08</a:t>
            </a:r>
            <a:endParaRPr lang="en-US" sz="1000" b="1" kern="1200" dirty="0"/>
          </a:p>
        </p:txBody>
      </p:sp>
      <p:cxnSp>
        <p:nvCxnSpPr>
          <p:cNvPr id="11" name="Elbow Connector 10"/>
          <p:cNvCxnSpPr>
            <a:stCxn id="5" idx="4"/>
            <a:endCxn id="6" idx="1"/>
          </p:cNvCxnSpPr>
          <p:nvPr/>
        </p:nvCxnSpPr>
        <p:spPr>
          <a:xfrm rot="16200000" flipH="1">
            <a:off x="5235448" y="1677063"/>
            <a:ext cx="3084277" cy="64585"/>
          </a:xfrm>
          <a:prstGeom prst="bentConnector4">
            <a:avLst>
              <a:gd name="adj1" fmla="val 152"/>
              <a:gd name="adj2" fmla="val 4626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ular Callout 9"/>
          <p:cNvSpPr/>
          <p:nvPr/>
        </p:nvSpPr>
        <p:spPr>
          <a:xfrm>
            <a:off x="2718019" y="4454150"/>
            <a:ext cx="529139" cy="231474"/>
          </a:xfrm>
          <a:prstGeom prst="wedgeRoundRectCallout">
            <a:avLst>
              <a:gd name="adj1" fmla="val -98868"/>
              <a:gd name="adj2" fmla="val 13815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68a</a:t>
            </a:r>
            <a:endParaRPr lang="en-US" sz="1000" b="1" kern="1200" dirty="0"/>
          </a:p>
        </p:txBody>
      </p:sp>
      <p:sp>
        <p:nvSpPr>
          <p:cNvPr id="12" name="Rounded Rectangular Callout 11"/>
          <p:cNvSpPr/>
          <p:nvPr/>
        </p:nvSpPr>
        <p:spPr>
          <a:xfrm>
            <a:off x="925184" y="4794115"/>
            <a:ext cx="529139" cy="231474"/>
          </a:xfrm>
          <a:prstGeom prst="wedgeRoundRectCallout">
            <a:avLst>
              <a:gd name="adj1" fmla="val 171318"/>
              <a:gd name="adj2" fmla="val -5247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dirty="0" smtClean="0"/>
              <a:t>13</a:t>
            </a:r>
            <a:endParaRPr lang="en-US" sz="1000" b="1" kern="1200" dirty="0"/>
          </a:p>
        </p:txBody>
      </p:sp>
      <p:sp>
        <p:nvSpPr>
          <p:cNvPr id="13" name="Rectangle 12"/>
          <p:cNvSpPr/>
          <p:nvPr/>
        </p:nvSpPr>
        <p:spPr>
          <a:xfrm flipH="1">
            <a:off x="1765945" y="4652336"/>
            <a:ext cx="952074" cy="28355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0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015" y="67377"/>
            <a:ext cx="529936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flipH="1">
            <a:off x="1841499" y="985111"/>
            <a:ext cx="1382963" cy="26617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3460577" y="1019810"/>
            <a:ext cx="529139" cy="231474"/>
          </a:xfrm>
          <a:prstGeom prst="wedgeRoundRectCallout">
            <a:avLst>
              <a:gd name="adj1" fmla="val -98869"/>
              <a:gd name="adj2" fmla="val -243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 smtClean="0"/>
              <a:t>02</a:t>
            </a:r>
            <a:endParaRPr lang="en-US" sz="1100" b="1" kern="1200" dirty="0"/>
          </a:p>
        </p:txBody>
      </p:sp>
      <p:sp>
        <p:nvSpPr>
          <p:cNvPr id="5" name="Rectangle 4"/>
          <p:cNvSpPr/>
          <p:nvPr/>
        </p:nvSpPr>
        <p:spPr>
          <a:xfrm>
            <a:off x="7090194" y="1644134"/>
            <a:ext cx="8490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02 BILL TO</a:t>
            </a:r>
            <a:endParaRPr lang="en-PH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830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2152651" y="959911"/>
            <a:ext cx="333047" cy="30928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900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4720460" y="1543050"/>
            <a:ext cx="2597369" cy="393194"/>
          </a:xfrm>
          <a:prstGeom prst="rect">
            <a:avLst/>
          </a:prstGeom>
        </p:spPr>
        <p:txBody>
          <a:bodyPr vert="horz" lIns="68580" tIns="34290" rIns="68580" bIns="3429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r>
              <a:rPr lang="en-US" altLang="en-US" sz="24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4103006"/>
              </p:ext>
            </p:extLst>
          </p:nvPr>
        </p:nvGraphicFramePr>
        <p:xfrm>
          <a:off x="3388272" y="2057401"/>
          <a:ext cx="5450928" cy="2709019"/>
        </p:xfrm>
        <a:graphic>
          <a:graphicData uri="http://schemas.openxmlformats.org/drawingml/2006/table">
            <a:tbl>
              <a:tblPr/>
              <a:tblGrid>
                <a:gridCol w="2423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495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DI-73922</a:t>
                      </a: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BABY G. VILLACARLOS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09/25/2025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DI-74314 – Update to capture bill to (slide 5)</a:t>
                      </a: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KHEILA MARY A. INOC</a:t>
                      </a: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10032025</a:t>
                      </a: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1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11678</TotalTime>
  <Words>205</Words>
  <Application>Microsoft Office PowerPoint</Application>
  <PresentationFormat>Widescreen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joyce.catubig</dc:creator>
  <cp:lastModifiedBy>Intrinsic CTS Inc</cp:lastModifiedBy>
  <cp:revision>125</cp:revision>
  <dcterms:created xsi:type="dcterms:W3CDTF">2024-06-25T01:46:07Z</dcterms:created>
  <dcterms:modified xsi:type="dcterms:W3CDTF">2025-10-03T08:56:00Z</dcterms:modified>
</cp:coreProperties>
</file>