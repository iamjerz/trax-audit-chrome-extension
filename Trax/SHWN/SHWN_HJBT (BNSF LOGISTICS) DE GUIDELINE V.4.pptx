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9" autoAdjust="0"/>
    <p:restoredTop sz="94660"/>
  </p:normalViewPr>
  <p:slideViewPr>
    <p:cSldViewPr snapToGrid="0">
      <p:cViewPr>
        <p:scale>
          <a:sx n="125" d="100"/>
          <a:sy n="125" d="100"/>
        </p:scale>
        <p:origin x="-514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5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3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9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9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1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4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6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14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998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F9829-A5B3-4824-9AFD-A583748CE2B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CF443-0E7D-45C6-BCE2-CB55E5D5C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2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5092" y="2478842"/>
            <a:ext cx="8069989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 smtClean="0">
                <a:solidFill>
                  <a:srgbClr val="FF0000"/>
                </a:solidFill>
              </a:rPr>
              <a:t>SHWN_</a:t>
            </a:r>
            <a:r>
              <a:rPr lang="en-PH" sz="2800" dirty="0" smtClean="0">
                <a:solidFill>
                  <a:srgbClr val="00B050"/>
                </a:solidFill>
              </a:rPr>
              <a:t>HJBT</a:t>
            </a:r>
            <a:r>
              <a:rPr lang="en-PH" sz="2800" dirty="0" smtClean="0">
                <a:solidFill>
                  <a:srgbClr val="FF0000"/>
                </a:solidFill>
              </a:rPr>
              <a:t> </a:t>
            </a:r>
            <a:r>
              <a:rPr lang="en-PH" sz="2800" dirty="0" smtClean="0"/>
              <a:t>(BNSF LOGISTICS)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Always </a:t>
            </a:r>
            <a:r>
              <a:rPr lang="en-US" sz="2400" dirty="0">
                <a:solidFill>
                  <a:srgbClr val="FF0000"/>
                </a:solidFill>
              </a:rPr>
              <a:t>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PH" sz="2000" dirty="0">
                <a:solidFill>
                  <a:srgbClr val="FF0000"/>
                </a:solidFill>
              </a:rPr>
              <a:t>SHWN</a:t>
            </a:r>
            <a:endParaRPr lang="en-US" sz="2000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 smtClean="0"/>
              <a:t>Scac</a:t>
            </a:r>
            <a:r>
              <a:rPr lang="en-US" sz="2000" dirty="0" smtClean="0"/>
              <a:t> Code (68) </a:t>
            </a:r>
            <a:r>
              <a:rPr lang="en-US" sz="2000" dirty="0" smtClean="0">
                <a:solidFill>
                  <a:srgbClr val="00B050"/>
                </a:solidFill>
              </a:rPr>
              <a:t>SCAC CODE </a:t>
            </a:r>
            <a:r>
              <a:rPr lang="en-US" sz="2000" dirty="0" smtClean="0"/>
              <a:t>(69) </a:t>
            </a:r>
            <a:r>
              <a:rPr lang="en-PH" sz="2000" dirty="0">
                <a:solidFill>
                  <a:srgbClr val="00B050"/>
                </a:solidFill>
              </a:rPr>
              <a:t>HJBT</a:t>
            </a:r>
            <a:endParaRPr lang="en-PH" sz="20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84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72" y="0"/>
            <a:ext cx="5299364" cy="6858000"/>
          </a:xfrm>
          <a:prstGeom prst="rect">
            <a:avLst/>
          </a:prstGeom>
        </p:spPr>
      </p:pic>
      <p:sp>
        <p:nvSpPr>
          <p:cNvPr id="4" name="TextBox 58"/>
          <p:cNvSpPr txBox="1"/>
          <p:nvPr/>
        </p:nvSpPr>
        <p:spPr>
          <a:xfrm>
            <a:off x="8561214" y="1191241"/>
            <a:ext cx="188327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11 DUE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27.9 </a:t>
            </a:r>
            <a:r>
              <a:rPr lang="en-US" sz="1200" dirty="0">
                <a:solidFill>
                  <a:srgbClr val="FF0000"/>
                </a:solidFill>
              </a:rPr>
              <a:t>SHIPPER </a:t>
            </a:r>
            <a:r>
              <a:rPr lang="en-US" sz="1200" dirty="0" smtClean="0">
                <a:solidFill>
                  <a:srgbClr val="FF0000"/>
                </a:solidFill>
              </a:rPr>
              <a:t>INV PORT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30 CONSIGNEE </a:t>
            </a:r>
            <a:r>
              <a:rPr lang="en-US" sz="1200" dirty="0" smtClean="0">
                <a:solidFill>
                  <a:srgbClr val="FF0000"/>
                </a:solidFill>
              </a:rPr>
              <a:t>INV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30.9 CONSIGNEE </a:t>
            </a:r>
            <a:r>
              <a:rPr lang="en-US" sz="1200" dirty="0">
                <a:solidFill>
                  <a:srgbClr val="FF0000"/>
                </a:solidFill>
              </a:rPr>
              <a:t>INV </a:t>
            </a:r>
            <a:r>
              <a:rPr lang="en-US" sz="1200" dirty="0" smtClean="0">
                <a:solidFill>
                  <a:srgbClr val="FF0000"/>
                </a:solidFill>
              </a:rPr>
              <a:t>PORT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38 SRVC LEVEL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42/43 ACTUAL/FNCL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44/45 UOM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46 PIECES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47 TYPE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48 DISTANCE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49 UOM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VEHICLE TYPE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68b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72 LINE ITEM DESCRIPTION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74 </a:t>
            </a:r>
            <a:r>
              <a:rPr lang="en-US" sz="1200" dirty="0">
                <a:solidFill>
                  <a:srgbClr val="FF0000"/>
                </a:solidFill>
              </a:rPr>
              <a:t>LINE ITEM </a:t>
            </a:r>
            <a:r>
              <a:rPr lang="en-US" sz="1200" dirty="0" smtClean="0">
                <a:solidFill>
                  <a:srgbClr val="FF0000"/>
                </a:solidFill>
              </a:rPr>
              <a:t>QTY Q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75 </a:t>
            </a:r>
            <a:r>
              <a:rPr lang="en-US" sz="1200" dirty="0">
                <a:solidFill>
                  <a:srgbClr val="FF0000"/>
                </a:solidFill>
              </a:rPr>
              <a:t>LINE ITEM </a:t>
            </a:r>
            <a:r>
              <a:rPr lang="en-US" sz="1200" dirty="0" smtClean="0">
                <a:solidFill>
                  <a:srgbClr val="FF0000"/>
                </a:solidFill>
              </a:rPr>
              <a:t>RATE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77 </a:t>
            </a:r>
            <a:r>
              <a:rPr lang="en-US" sz="1200" dirty="0">
                <a:solidFill>
                  <a:srgbClr val="FF0000"/>
                </a:solidFill>
              </a:rPr>
              <a:t>LINE ITEM </a:t>
            </a:r>
            <a:r>
              <a:rPr lang="en-US" sz="1200" dirty="0" smtClean="0">
                <a:solidFill>
                  <a:srgbClr val="FF0000"/>
                </a:solidFill>
              </a:rPr>
              <a:t>RTUNT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85 LINE ITEM AMOUNT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08/14 </a:t>
            </a:r>
            <a:r>
              <a:rPr lang="en-US" sz="1200" dirty="0">
                <a:solidFill>
                  <a:srgbClr val="FF0000"/>
                </a:solidFill>
              </a:rPr>
              <a:t>INV AMT/FB AMT</a:t>
            </a:r>
          </a:p>
        </p:txBody>
      </p:sp>
      <p:sp>
        <p:nvSpPr>
          <p:cNvPr id="69" name="Rectangle 68"/>
          <p:cNvSpPr/>
          <p:nvPr/>
        </p:nvSpPr>
        <p:spPr>
          <a:xfrm flipH="1">
            <a:off x="5659286" y="638494"/>
            <a:ext cx="477017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0" name="Rounded Rectangular Callout 99"/>
          <p:cNvSpPr/>
          <p:nvPr/>
        </p:nvSpPr>
        <p:spPr>
          <a:xfrm>
            <a:off x="5944301" y="2119179"/>
            <a:ext cx="529139" cy="231474"/>
          </a:xfrm>
          <a:prstGeom prst="wedgeRoundRectCallout">
            <a:avLst>
              <a:gd name="adj1" fmla="val -91796"/>
              <a:gd name="adj2" fmla="val 190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</a:t>
            </a:r>
            <a:endParaRPr lang="en-US" sz="1000" b="1" kern="1200" dirty="0"/>
          </a:p>
        </p:txBody>
      </p:sp>
      <p:sp>
        <p:nvSpPr>
          <p:cNvPr id="124" name="Rectangle 123"/>
          <p:cNvSpPr/>
          <p:nvPr/>
        </p:nvSpPr>
        <p:spPr>
          <a:xfrm flipH="1">
            <a:off x="4106932" y="871202"/>
            <a:ext cx="984231" cy="40204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5" name="Rounded Rectangular Callout 124"/>
          <p:cNvSpPr/>
          <p:nvPr/>
        </p:nvSpPr>
        <p:spPr>
          <a:xfrm>
            <a:off x="3413595" y="1111448"/>
            <a:ext cx="529139" cy="231474"/>
          </a:xfrm>
          <a:prstGeom prst="wedgeRoundRectCallout">
            <a:avLst>
              <a:gd name="adj1" fmla="val 102254"/>
              <a:gd name="adj2" fmla="val -2031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51" name="Rounded Rectangular Callout 50"/>
          <p:cNvSpPr/>
          <p:nvPr/>
        </p:nvSpPr>
        <p:spPr>
          <a:xfrm>
            <a:off x="4953538" y="547777"/>
            <a:ext cx="529139" cy="231474"/>
          </a:xfrm>
          <a:prstGeom prst="wedgeRoundRectCallout">
            <a:avLst>
              <a:gd name="adj1" fmla="val 93073"/>
              <a:gd name="adj2" fmla="val 1712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11</a:t>
            </a:r>
            <a:endParaRPr lang="en-US" sz="1000" b="1" kern="1200" dirty="0"/>
          </a:p>
        </p:txBody>
      </p:sp>
      <p:sp>
        <p:nvSpPr>
          <p:cNvPr id="87" name="Rounded Rectangular Callout 86"/>
          <p:cNvSpPr/>
          <p:nvPr/>
        </p:nvSpPr>
        <p:spPr>
          <a:xfrm>
            <a:off x="929196" y="1622666"/>
            <a:ext cx="529139" cy="231474"/>
          </a:xfrm>
          <a:prstGeom prst="wedgeRoundRectCallout">
            <a:avLst>
              <a:gd name="adj1" fmla="val 149784"/>
              <a:gd name="adj2" fmla="val 161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108" name="Rounded Rectangular Callout 107"/>
          <p:cNvSpPr/>
          <p:nvPr/>
        </p:nvSpPr>
        <p:spPr>
          <a:xfrm>
            <a:off x="921443" y="1111448"/>
            <a:ext cx="529139" cy="231474"/>
          </a:xfrm>
          <a:prstGeom prst="wedgeRoundRectCallout">
            <a:avLst>
              <a:gd name="adj1" fmla="val 150857"/>
              <a:gd name="adj2" fmla="val 1836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48" name="Rectangle 47"/>
          <p:cNvSpPr/>
          <p:nvPr/>
        </p:nvSpPr>
        <p:spPr>
          <a:xfrm flipH="1">
            <a:off x="3386320" y="642667"/>
            <a:ext cx="477017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 flipH="1">
            <a:off x="4182740" y="239456"/>
            <a:ext cx="748768" cy="21463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flipH="1">
            <a:off x="1975129" y="1012751"/>
            <a:ext cx="1265477" cy="4506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5" name="Rounded Rectangular Callout 64"/>
          <p:cNvSpPr/>
          <p:nvPr/>
        </p:nvSpPr>
        <p:spPr>
          <a:xfrm>
            <a:off x="3409968" y="1622666"/>
            <a:ext cx="529139" cy="231474"/>
          </a:xfrm>
          <a:prstGeom prst="wedgeRoundRectCallout">
            <a:avLst>
              <a:gd name="adj1" fmla="val 144023"/>
              <a:gd name="adj2" fmla="val 309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67" name="Rectangle 66"/>
          <p:cNvSpPr/>
          <p:nvPr/>
        </p:nvSpPr>
        <p:spPr>
          <a:xfrm flipH="1">
            <a:off x="4582030" y="1729398"/>
            <a:ext cx="477017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 flipH="1">
            <a:off x="1975036" y="1715540"/>
            <a:ext cx="477017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2" name="Rounded Rectangular Callout 71"/>
          <p:cNvSpPr/>
          <p:nvPr/>
        </p:nvSpPr>
        <p:spPr>
          <a:xfrm>
            <a:off x="5298032" y="203510"/>
            <a:ext cx="529139" cy="231474"/>
          </a:xfrm>
          <a:prstGeom prst="wedgeRoundRectCallout">
            <a:avLst>
              <a:gd name="adj1" fmla="val -96115"/>
              <a:gd name="adj2" fmla="val 3317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73" name="Rounded Rectangular Callout 72"/>
          <p:cNvSpPr/>
          <p:nvPr/>
        </p:nvSpPr>
        <p:spPr>
          <a:xfrm>
            <a:off x="2635316" y="547777"/>
            <a:ext cx="529139" cy="231474"/>
          </a:xfrm>
          <a:prstGeom prst="wedgeRoundRectCallout">
            <a:avLst>
              <a:gd name="adj1" fmla="val 94566"/>
              <a:gd name="adj2" fmla="val 3564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75" name="Rectangle 74"/>
          <p:cNvSpPr/>
          <p:nvPr/>
        </p:nvSpPr>
        <p:spPr>
          <a:xfrm flipH="1">
            <a:off x="1579714" y="1981796"/>
            <a:ext cx="2001685" cy="4851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 flipH="1">
            <a:off x="1890712" y="2604052"/>
            <a:ext cx="3768574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 flipH="1">
            <a:off x="4093079" y="1987484"/>
            <a:ext cx="1734092" cy="4851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 flipH="1">
            <a:off x="1890711" y="2730339"/>
            <a:ext cx="3768574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0" name="Rounded Rectangular Callout 79"/>
          <p:cNvSpPr/>
          <p:nvPr/>
        </p:nvSpPr>
        <p:spPr>
          <a:xfrm>
            <a:off x="921442" y="1956457"/>
            <a:ext cx="529139" cy="231474"/>
          </a:xfrm>
          <a:prstGeom prst="wedgeRoundRectCallout">
            <a:avLst>
              <a:gd name="adj1" fmla="val 116655"/>
              <a:gd name="adj2" fmla="val 224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27</a:t>
            </a:r>
            <a:endParaRPr lang="en-US" sz="1000" b="1" kern="1200" dirty="0"/>
          </a:p>
        </p:txBody>
      </p:sp>
      <p:sp>
        <p:nvSpPr>
          <p:cNvPr id="92" name="Rectangle 91"/>
          <p:cNvSpPr/>
          <p:nvPr/>
        </p:nvSpPr>
        <p:spPr>
          <a:xfrm flipH="1">
            <a:off x="1590488" y="2985551"/>
            <a:ext cx="283803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 flipH="1">
            <a:off x="1874292" y="2986787"/>
            <a:ext cx="235563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 flipH="1">
            <a:off x="1590490" y="3241999"/>
            <a:ext cx="909822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 flipH="1">
            <a:off x="2996059" y="3226701"/>
            <a:ext cx="168396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 flipH="1">
            <a:off x="2601374" y="2985334"/>
            <a:ext cx="168396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 flipH="1">
            <a:off x="3106502" y="2981795"/>
            <a:ext cx="279818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 flipH="1">
            <a:off x="4659758" y="3238379"/>
            <a:ext cx="279818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 flipH="1">
            <a:off x="5332101" y="3238379"/>
            <a:ext cx="171447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 flipH="1">
            <a:off x="3325501" y="4357912"/>
            <a:ext cx="492116" cy="2496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 flipH="1">
            <a:off x="1575392" y="4357911"/>
            <a:ext cx="831257" cy="2496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 flipH="1">
            <a:off x="4061212" y="4351593"/>
            <a:ext cx="492116" cy="2496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 flipH="1">
            <a:off x="4903469" y="4351593"/>
            <a:ext cx="492116" cy="2496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 flipH="1">
            <a:off x="6075189" y="4357976"/>
            <a:ext cx="544685" cy="2496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 flipH="1">
            <a:off x="6073013" y="4607626"/>
            <a:ext cx="337443" cy="13576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 flipH="1">
            <a:off x="6410458" y="4607626"/>
            <a:ext cx="209415" cy="13576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 flipH="1">
            <a:off x="4599047" y="3504320"/>
            <a:ext cx="492116" cy="10945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1" name="Rounded Rectangular Callout 120"/>
          <p:cNvSpPr/>
          <p:nvPr/>
        </p:nvSpPr>
        <p:spPr>
          <a:xfrm>
            <a:off x="6872398" y="4313038"/>
            <a:ext cx="529139" cy="231474"/>
          </a:xfrm>
          <a:prstGeom prst="wedgeRoundRectCallout">
            <a:avLst>
              <a:gd name="adj1" fmla="val -109797"/>
              <a:gd name="adj2" fmla="val 1918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122" name="Rounded Rectangular Callout 121"/>
          <p:cNvSpPr/>
          <p:nvPr/>
        </p:nvSpPr>
        <p:spPr>
          <a:xfrm>
            <a:off x="6410459" y="4881982"/>
            <a:ext cx="529139" cy="231474"/>
          </a:xfrm>
          <a:prstGeom prst="wedgeRoundRectCallout">
            <a:avLst>
              <a:gd name="adj1" fmla="val -38081"/>
              <a:gd name="adj2" fmla="val -13971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</a:t>
            </a:r>
            <a:r>
              <a:rPr lang="en-US" sz="1000" b="1" dirty="0" smtClean="0"/>
              <a:t>9</a:t>
            </a:r>
            <a:endParaRPr lang="en-US" sz="1000" b="1" kern="1200" dirty="0"/>
          </a:p>
        </p:txBody>
      </p:sp>
      <p:sp>
        <p:nvSpPr>
          <p:cNvPr id="123" name="Rounded Rectangular Callout 122"/>
          <p:cNvSpPr/>
          <p:nvPr/>
        </p:nvSpPr>
        <p:spPr>
          <a:xfrm>
            <a:off x="5832365" y="4877300"/>
            <a:ext cx="529139" cy="231474"/>
          </a:xfrm>
          <a:prstGeom prst="wedgeRoundRectCallout">
            <a:avLst>
              <a:gd name="adj1" fmla="val 19522"/>
              <a:gd name="adj2" fmla="val -13642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08/14</a:t>
            </a:r>
            <a:endParaRPr lang="en-US" sz="1000" b="1" kern="1200" dirty="0"/>
          </a:p>
        </p:txBody>
      </p:sp>
      <p:sp>
        <p:nvSpPr>
          <p:cNvPr id="126" name="Rounded Rectangular Callout 125"/>
          <p:cNvSpPr/>
          <p:nvPr/>
        </p:nvSpPr>
        <p:spPr>
          <a:xfrm>
            <a:off x="4111569" y="3993832"/>
            <a:ext cx="529139" cy="231474"/>
          </a:xfrm>
          <a:prstGeom prst="wedgeRoundRectCallout">
            <a:avLst>
              <a:gd name="adj1" fmla="val -9741"/>
              <a:gd name="adj2" fmla="val 1361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77</a:t>
            </a:r>
            <a:endParaRPr lang="en-US" sz="1000" b="1" kern="1200" dirty="0"/>
          </a:p>
        </p:txBody>
      </p:sp>
      <p:sp>
        <p:nvSpPr>
          <p:cNvPr id="127" name="Rounded Rectangular Callout 126"/>
          <p:cNvSpPr/>
          <p:nvPr/>
        </p:nvSpPr>
        <p:spPr>
          <a:xfrm>
            <a:off x="4931508" y="3990719"/>
            <a:ext cx="529139" cy="231474"/>
          </a:xfrm>
          <a:prstGeom prst="wedgeRoundRectCallout">
            <a:avLst>
              <a:gd name="adj1" fmla="val -9741"/>
              <a:gd name="adj2" fmla="val 1361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/>
              <a:t>74</a:t>
            </a:r>
            <a:endParaRPr lang="en-US" sz="1000" b="1" kern="1200" dirty="0"/>
          </a:p>
        </p:txBody>
      </p:sp>
      <p:sp>
        <p:nvSpPr>
          <p:cNvPr id="128" name="Rounded Rectangular Callout 127"/>
          <p:cNvSpPr/>
          <p:nvPr/>
        </p:nvSpPr>
        <p:spPr>
          <a:xfrm>
            <a:off x="3327491" y="3990719"/>
            <a:ext cx="529139" cy="231474"/>
          </a:xfrm>
          <a:prstGeom prst="wedgeRoundRectCallout">
            <a:avLst>
              <a:gd name="adj1" fmla="val -9741"/>
              <a:gd name="adj2" fmla="val 1361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129" name="Rounded Rectangular Callout 128"/>
          <p:cNvSpPr/>
          <p:nvPr/>
        </p:nvSpPr>
        <p:spPr>
          <a:xfrm>
            <a:off x="5162801" y="2881500"/>
            <a:ext cx="529139" cy="231474"/>
          </a:xfrm>
          <a:prstGeom prst="wedgeRoundRectCallout">
            <a:avLst>
              <a:gd name="adj1" fmla="val -11541"/>
              <a:gd name="adj2" fmla="val 12507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44/45</a:t>
            </a:r>
            <a:endParaRPr lang="en-US" sz="1000" b="1" kern="1200" dirty="0"/>
          </a:p>
        </p:txBody>
      </p:sp>
      <p:sp>
        <p:nvSpPr>
          <p:cNvPr id="130" name="Rounded Rectangular Callout 129"/>
          <p:cNvSpPr/>
          <p:nvPr/>
        </p:nvSpPr>
        <p:spPr>
          <a:xfrm>
            <a:off x="937821" y="4407835"/>
            <a:ext cx="529139" cy="231474"/>
          </a:xfrm>
          <a:prstGeom prst="wedgeRoundRectCallout">
            <a:avLst>
              <a:gd name="adj1" fmla="val 91454"/>
              <a:gd name="adj2" fmla="val -124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131" name="Rounded Rectangular Callout 130"/>
          <p:cNvSpPr/>
          <p:nvPr/>
        </p:nvSpPr>
        <p:spPr>
          <a:xfrm>
            <a:off x="929194" y="2954046"/>
            <a:ext cx="529139" cy="231474"/>
          </a:xfrm>
          <a:prstGeom prst="wedgeRoundRectCallout">
            <a:avLst>
              <a:gd name="adj1" fmla="val 91454"/>
              <a:gd name="adj2" fmla="val -124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48</a:t>
            </a:r>
            <a:endParaRPr lang="en-US" sz="1000" b="1" kern="1200" dirty="0"/>
          </a:p>
        </p:txBody>
      </p:sp>
      <p:sp>
        <p:nvSpPr>
          <p:cNvPr id="132" name="Rounded Rectangular Callout 131"/>
          <p:cNvSpPr/>
          <p:nvPr/>
        </p:nvSpPr>
        <p:spPr>
          <a:xfrm>
            <a:off x="929193" y="2663129"/>
            <a:ext cx="529139" cy="231474"/>
          </a:xfrm>
          <a:prstGeom prst="wedgeRoundRectCallout">
            <a:avLst>
              <a:gd name="adj1" fmla="val 143116"/>
              <a:gd name="adj2" fmla="val 918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49</a:t>
            </a:r>
            <a:endParaRPr lang="en-US" sz="1000" b="1" kern="1200" dirty="0"/>
          </a:p>
        </p:txBody>
      </p:sp>
      <p:sp>
        <p:nvSpPr>
          <p:cNvPr id="133" name="Rounded Rectangular Callout 132"/>
          <p:cNvSpPr/>
          <p:nvPr/>
        </p:nvSpPr>
        <p:spPr>
          <a:xfrm>
            <a:off x="5286609" y="3429000"/>
            <a:ext cx="529139" cy="231474"/>
          </a:xfrm>
          <a:prstGeom prst="wedgeRoundRectCallout">
            <a:avLst>
              <a:gd name="adj1" fmla="val -100429"/>
              <a:gd name="adj2" fmla="val 161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134" name="Rounded Rectangular Callout 133"/>
          <p:cNvSpPr/>
          <p:nvPr/>
        </p:nvSpPr>
        <p:spPr>
          <a:xfrm>
            <a:off x="4514811" y="2878433"/>
            <a:ext cx="529139" cy="231474"/>
          </a:xfrm>
          <a:prstGeom prst="wedgeRoundRectCallout">
            <a:avLst>
              <a:gd name="adj1" fmla="val 4660"/>
              <a:gd name="adj2" fmla="val 1361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42/43</a:t>
            </a:r>
            <a:endParaRPr lang="en-US" sz="1000" b="1" kern="1200" dirty="0"/>
          </a:p>
        </p:txBody>
      </p:sp>
      <p:sp>
        <p:nvSpPr>
          <p:cNvPr id="135" name="Rounded Rectangular Callout 134"/>
          <p:cNvSpPr/>
          <p:nvPr/>
        </p:nvSpPr>
        <p:spPr>
          <a:xfrm>
            <a:off x="925684" y="3228394"/>
            <a:ext cx="529139" cy="231474"/>
          </a:xfrm>
          <a:prstGeom prst="wedgeRoundRectCallout">
            <a:avLst>
              <a:gd name="adj1" fmla="val 101054"/>
              <a:gd name="adj2" fmla="val -221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90</a:t>
            </a:r>
            <a:endParaRPr lang="en-US" sz="1000" b="1" kern="1200" dirty="0"/>
          </a:p>
        </p:txBody>
      </p:sp>
      <p:sp>
        <p:nvSpPr>
          <p:cNvPr id="136" name="Rounded Rectangular Callout 135"/>
          <p:cNvSpPr/>
          <p:nvPr/>
        </p:nvSpPr>
        <p:spPr>
          <a:xfrm>
            <a:off x="3164455" y="3538176"/>
            <a:ext cx="529139" cy="231474"/>
          </a:xfrm>
          <a:prstGeom prst="wedgeRoundRectCallout">
            <a:avLst>
              <a:gd name="adj1" fmla="val -53183"/>
              <a:gd name="adj2" fmla="val -13101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46</a:t>
            </a:r>
            <a:endParaRPr lang="en-US" sz="1000" b="1" kern="1200" dirty="0"/>
          </a:p>
        </p:txBody>
      </p:sp>
      <p:sp>
        <p:nvSpPr>
          <p:cNvPr id="137" name="Rectangle 136"/>
          <p:cNvSpPr/>
          <p:nvPr/>
        </p:nvSpPr>
        <p:spPr>
          <a:xfrm flipH="1">
            <a:off x="3472719" y="3226701"/>
            <a:ext cx="203760" cy="1258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8" name="Rounded Rectangular Callout 137"/>
          <p:cNvSpPr/>
          <p:nvPr/>
        </p:nvSpPr>
        <p:spPr>
          <a:xfrm>
            <a:off x="3754639" y="3540308"/>
            <a:ext cx="529139" cy="231474"/>
          </a:xfrm>
          <a:prstGeom prst="wedgeRoundRectCallout">
            <a:avLst>
              <a:gd name="adj1" fmla="val -68783"/>
              <a:gd name="adj2" fmla="val -15021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47</a:t>
            </a:r>
            <a:endParaRPr lang="en-US" sz="1000" b="1" kern="1200" dirty="0"/>
          </a:p>
        </p:txBody>
      </p:sp>
      <p:sp>
        <p:nvSpPr>
          <p:cNvPr id="139" name="Rounded Rectangular Callout 138"/>
          <p:cNvSpPr/>
          <p:nvPr/>
        </p:nvSpPr>
        <p:spPr>
          <a:xfrm>
            <a:off x="3644659" y="2937880"/>
            <a:ext cx="529139" cy="231474"/>
          </a:xfrm>
          <a:prstGeom prst="wedgeRoundRectCallout">
            <a:avLst>
              <a:gd name="adj1" fmla="val -123298"/>
              <a:gd name="adj2" fmla="val -2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68a</a:t>
            </a:r>
            <a:endParaRPr lang="en-US" sz="1000" b="1" kern="1200" dirty="0"/>
          </a:p>
        </p:txBody>
      </p:sp>
      <p:sp>
        <p:nvSpPr>
          <p:cNvPr id="140" name="Rounded Rectangular Callout 139"/>
          <p:cNvSpPr/>
          <p:nvPr/>
        </p:nvSpPr>
        <p:spPr>
          <a:xfrm>
            <a:off x="2516329" y="3387783"/>
            <a:ext cx="529139" cy="231474"/>
          </a:xfrm>
          <a:prstGeom prst="wedgeRoundRectCallout">
            <a:avLst>
              <a:gd name="adj1" fmla="val -13852"/>
              <a:gd name="adj2" fmla="val -19122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38</a:t>
            </a:r>
            <a:endParaRPr lang="en-US" sz="1000" b="1" kern="1200" dirty="0"/>
          </a:p>
        </p:txBody>
      </p:sp>
      <p:sp>
        <p:nvSpPr>
          <p:cNvPr id="142" name="Rounded Rectangular Callout 141"/>
          <p:cNvSpPr/>
          <p:nvPr/>
        </p:nvSpPr>
        <p:spPr>
          <a:xfrm>
            <a:off x="5827172" y="2772215"/>
            <a:ext cx="529139" cy="231474"/>
          </a:xfrm>
          <a:prstGeom prst="wedgeRoundRectCallout">
            <a:avLst>
              <a:gd name="adj1" fmla="val -107817"/>
              <a:gd name="adj2" fmla="val -3513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30.9</a:t>
            </a:r>
            <a:endParaRPr lang="en-US" sz="1000" b="1" kern="1200" dirty="0"/>
          </a:p>
        </p:txBody>
      </p:sp>
      <p:sp>
        <p:nvSpPr>
          <p:cNvPr id="143" name="Rounded Rectangular Callout 142"/>
          <p:cNvSpPr/>
          <p:nvPr/>
        </p:nvSpPr>
        <p:spPr>
          <a:xfrm>
            <a:off x="5828837" y="2507365"/>
            <a:ext cx="529139" cy="231474"/>
          </a:xfrm>
          <a:prstGeom prst="wedgeRoundRectCallout">
            <a:avLst>
              <a:gd name="adj1" fmla="val -109617"/>
              <a:gd name="adj2" fmla="val 154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27.9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55659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694" y="3517"/>
            <a:ext cx="4845538" cy="6858000"/>
          </a:xfrm>
          <a:prstGeom prst="rect">
            <a:avLst/>
          </a:prstGeom>
        </p:spPr>
      </p:pic>
      <p:sp>
        <p:nvSpPr>
          <p:cNvPr id="4" name="TextBox 58"/>
          <p:cNvSpPr txBox="1"/>
          <p:nvPr/>
        </p:nvSpPr>
        <p:spPr>
          <a:xfrm>
            <a:off x="8675629" y="1399896"/>
            <a:ext cx="18118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rgbClr val="FF0000"/>
                </a:solidFill>
              </a:rPr>
              <a:t>28 SHIPPER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31 CONSIGNEE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36 FREIGHT TERMS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61 SHIP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68b TRAILER NO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68c ORD 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89 PROD TYPE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90 PROD DESC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95 PCS CNT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96/97 </a:t>
            </a:r>
            <a:r>
              <a:rPr lang="en-US" sz="1200" dirty="0">
                <a:solidFill>
                  <a:srgbClr val="FF0000"/>
                </a:solidFill>
              </a:rPr>
              <a:t>GROSS </a:t>
            </a:r>
            <a:r>
              <a:rPr lang="en-US" sz="1200" dirty="0" smtClean="0">
                <a:solidFill>
                  <a:srgbClr val="FF0000"/>
                </a:solidFill>
              </a:rPr>
              <a:t>WT/NET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98 WT UOM</a:t>
            </a:r>
          </a:p>
        </p:txBody>
      </p:sp>
      <p:sp>
        <p:nvSpPr>
          <p:cNvPr id="43" name="Rectangle 42"/>
          <p:cNvSpPr/>
          <p:nvPr/>
        </p:nvSpPr>
        <p:spPr>
          <a:xfrm flipH="1">
            <a:off x="2559540" y="521692"/>
            <a:ext cx="1395240" cy="41910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 flipH="1">
            <a:off x="5947823" y="1463192"/>
            <a:ext cx="634701" cy="1272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 flipH="1">
            <a:off x="2694168" y="4413250"/>
            <a:ext cx="233791" cy="15064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6" name="Rounded Rectangular Callout 65"/>
          <p:cNvSpPr/>
          <p:nvPr/>
        </p:nvSpPr>
        <p:spPr>
          <a:xfrm>
            <a:off x="1881041" y="709322"/>
            <a:ext cx="529139" cy="231474"/>
          </a:xfrm>
          <a:prstGeom prst="wedgeRoundRectCallout">
            <a:avLst>
              <a:gd name="adj1" fmla="val 107867"/>
              <a:gd name="adj2" fmla="val -593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28</a:t>
            </a:r>
            <a:endParaRPr lang="en-US" sz="1000" b="1" kern="1200" dirty="0"/>
          </a:p>
        </p:txBody>
      </p:sp>
      <p:sp>
        <p:nvSpPr>
          <p:cNvPr id="67" name="Rounded Rectangular Callout 66"/>
          <p:cNvSpPr/>
          <p:nvPr/>
        </p:nvSpPr>
        <p:spPr>
          <a:xfrm>
            <a:off x="6722316" y="1419911"/>
            <a:ext cx="529139" cy="231474"/>
          </a:xfrm>
          <a:prstGeom prst="wedgeRoundRectCallout">
            <a:avLst>
              <a:gd name="adj1" fmla="val -117145"/>
              <a:gd name="adj2" fmla="val -100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36</a:t>
            </a:r>
            <a:endParaRPr lang="en-US" sz="1000" b="1" kern="1200" dirty="0"/>
          </a:p>
        </p:txBody>
      </p:sp>
      <p:sp>
        <p:nvSpPr>
          <p:cNvPr id="35" name="Rectangle 34"/>
          <p:cNvSpPr/>
          <p:nvPr/>
        </p:nvSpPr>
        <p:spPr>
          <a:xfrm flipH="1">
            <a:off x="5742288" y="402908"/>
            <a:ext cx="1006714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7" name="Rounded Rectangular Callout 56"/>
          <p:cNvSpPr/>
          <p:nvPr/>
        </p:nvSpPr>
        <p:spPr>
          <a:xfrm>
            <a:off x="1969759" y="4370656"/>
            <a:ext cx="529139" cy="231474"/>
          </a:xfrm>
          <a:prstGeom prst="wedgeRoundRectCallout">
            <a:avLst>
              <a:gd name="adj1" fmla="val 106067"/>
              <a:gd name="adj2" fmla="val 62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95</a:t>
            </a:r>
            <a:endParaRPr lang="en-US" sz="1000" b="1" kern="1200" dirty="0"/>
          </a:p>
        </p:txBody>
      </p:sp>
      <p:sp>
        <p:nvSpPr>
          <p:cNvPr id="60" name="Rectangle 59"/>
          <p:cNvSpPr/>
          <p:nvPr/>
        </p:nvSpPr>
        <p:spPr>
          <a:xfrm flipH="1">
            <a:off x="6309540" y="4399609"/>
            <a:ext cx="459537" cy="950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 flipH="1">
            <a:off x="2559541" y="940796"/>
            <a:ext cx="1395240" cy="4591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1881041" y="1232512"/>
            <a:ext cx="529139" cy="231474"/>
          </a:xfrm>
          <a:prstGeom prst="wedgeRoundRectCallout">
            <a:avLst>
              <a:gd name="adj1" fmla="val 107867"/>
              <a:gd name="adj2" fmla="val -593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31</a:t>
            </a:r>
            <a:endParaRPr lang="en-US" sz="1000" b="1" kern="1200" dirty="0"/>
          </a:p>
        </p:txBody>
      </p:sp>
      <p:sp>
        <p:nvSpPr>
          <p:cNvPr id="34" name="Rectangle 33"/>
          <p:cNvSpPr/>
          <p:nvPr/>
        </p:nvSpPr>
        <p:spPr>
          <a:xfrm flipH="1">
            <a:off x="3188830" y="1957844"/>
            <a:ext cx="354469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flipH="1">
            <a:off x="4547741" y="1107107"/>
            <a:ext cx="574116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8" name="Rounded Rectangular Callout 37"/>
          <p:cNvSpPr/>
          <p:nvPr/>
        </p:nvSpPr>
        <p:spPr>
          <a:xfrm>
            <a:off x="4204006" y="1358288"/>
            <a:ext cx="529139" cy="231474"/>
          </a:xfrm>
          <a:prstGeom prst="wedgeRoundRectCallout">
            <a:avLst>
              <a:gd name="adj1" fmla="val 61665"/>
              <a:gd name="adj2" fmla="val -1227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3828703" y="1892660"/>
            <a:ext cx="529139" cy="231474"/>
          </a:xfrm>
          <a:prstGeom prst="wedgeRoundRectCallout">
            <a:avLst>
              <a:gd name="adj1" fmla="val -113005"/>
              <a:gd name="adj2" fmla="val 1464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68c</a:t>
            </a:r>
            <a:endParaRPr lang="en-US" sz="1000" b="1" kern="1200" dirty="0"/>
          </a:p>
        </p:txBody>
      </p:sp>
      <p:sp>
        <p:nvSpPr>
          <p:cNvPr id="50" name="Rectangle 49"/>
          <p:cNvSpPr/>
          <p:nvPr/>
        </p:nvSpPr>
        <p:spPr>
          <a:xfrm flipH="1">
            <a:off x="6507327" y="2029122"/>
            <a:ext cx="178594" cy="950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1" name="Rounded Rectangular Callout 50"/>
          <p:cNvSpPr/>
          <p:nvPr/>
        </p:nvSpPr>
        <p:spPr>
          <a:xfrm>
            <a:off x="5875680" y="4079255"/>
            <a:ext cx="529139" cy="231474"/>
          </a:xfrm>
          <a:prstGeom prst="wedgeRoundRectCallout">
            <a:avLst>
              <a:gd name="adj1" fmla="val 49212"/>
              <a:gd name="adj2" fmla="val 11571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96/97</a:t>
            </a:r>
            <a:endParaRPr lang="en-US" sz="1000" b="1" kern="1200" dirty="0"/>
          </a:p>
        </p:txBody>
      </p:sp>
      <p:sp>
        <p:nvSpPr>
          <p:cNvPr id="52" name="Rounded Rectangular Callout 51"/>
          <p:cNvSpPr/>
          <p:nvPr/>
        </p:nvSpPr>
        <p:spPr>
          <a:xfrm>
            <a:off x="6804129" y="1913385"/>
            <a:ext cx="529139" cy="231474"/>
          </a:xfrm>
          <a:prstGeom prst="wedgeRoundRectCallout">
            <a:avLst>
              <a:gd name="adj1" fmla="val -76045"/>
              <a:gd name="adj2" fmla="val 2072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98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6932893" y="208601"/>
            <a:ext cx="529139" cy="231474"/>
          </a:xfrm>
          <a:prstGeom prst="wedgeRoundRectCallout">
            <a:avLst>
              <a:gd name="adj1" fmla="val -117145"/>
              <a:gd name="adj2" fmla="val 4571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30" name="Rectangle 29"/>
          <p:cNvSpPr/>
          <p:nvPr/>
        </p:nvSpPr>
        <p:spPr>
          <a:xfrm flipH="1">
            <a:off x="3353378" y="2197807"/>
            <a:ext cx="2522301" cy="19554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1" name="Rounded Rectangular Callout 30"/>
          <p:cNvSpPr/>
          <p:nvPr/>
        </p:nvSpPr>
        <p:spPr>
          <a:xfrm>
            <a:off x="4990033" y="2538121"/>
            <a:ext cx="529139" cy="231474"/>
          </a:xfrm>
          <a:prstGeom prst="wedgeRoundRectCallout">
            <a:avLst>
              <a:gd name="adj1" fmla="val -98604"/>
              <a:gd name="adj2" fmla="val -1236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90</a:t>
            </a:r>
            <a:endParaRPr lang="en-US" sz="1000" b="1" kern="1200" dirty="0"/>
          </a:p>
        </p:txBody>
      </p:sp>
      <p:sp>
        <p:nvSpPr>
          <p:cNvPr id="32" name="Rectangle 31"/>
          <p:cNvSpPr/>
          <p:nvPr/>
        </p:nvSpPr>
        <p:spPr>
          <a:xfrm flipH="1">
            <a:off x="2927960" y="2156999"/>
            <a:ext cx="333415" cy="2437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2191469" y="2144859"/>
            <a:ext cx="529139" cy="231474"/>
          </a:xfrm>
          <a:prstGeom prst="wedgeRoundRectCallout">
            <a:avLst>
              <a:gd name="adj1" fmla="val 106067"/>
              <a:gd name="adj2" fmla="val 62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89</a:t>
            </a:r>
            <a:endParaRPr lang="en-US" sz="1000" b="1" kern="1200" dirty="0"/>
          </a:p>
        </p:txBody>
      </p:sp>
      <p:sp>
        <p:nvSpPr>
          <p:cNvPr id="39" name="Rectangle 38"/>
          <p:cNvSpPr/>
          <p:nvPr/>
        </p:nvSpPr>
        <p:spPr>
          <a:xfrm flipH="1">
            <a:off x="5178881" y="1074869"/>
            <a:ext cx="574116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4835146" y="1326050"/>
            <a:ext cx="529139" cy="231474"/>
          </a:xfrm>
          <a:prstGeom prst="wedgeRoundRectCallout">
            <a:avLst>
              <a:gd name="adj1" fmla="val 61665"/>
              <a:gd name="adj2" fmla="val -1227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21878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65" y="0"/>
            <a:ext cx="4852211" cy="6858000"/>
          </a:xfrm>
          <a:prstGeom prst="rect">
            <a:avLst/>
          </a:prstGeom>
        </p:spPr>
      </p:pic>
      <p:sp>
        <p:nvSpPr>
          <p:cNvPr id="3" name="TextBox 58"/>
          <p:cNvSpPr txBox="1"/>
          <p:nvPr/>
        </p:nvSpPr>
        <p:spPr>
          <a:xfrm>
            <a:off x="8675629" y="1399896"/>
            <a:ext cx="195059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rgbClr val="FF0000"/>
                </a:solidFill>
              </a:rPr>
              <a:t>01 REMIT TO 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11 DUE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30 CONSIGNEE INV 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42/43 </a:t>
            </a:r>
            <a:r>
              <a:rPr lang="en-US" sz="1200" dirty="0" smtClean="0">
                <a:solidFill>
                  <a:srgbClr val="FF0000"/>
                </a:solidFill>
              </a:rPr>
              <a:t>ACTUAL </a:t>
            </a:r>
            <a:r>
              <a:rPr lang="en-US" sz="1200" dirty="0" smtClean="0">
                <a:solidFill>
                  <a:srgbClr val="FF0000"/>
                </a:solidFill>
              </a:rPr>
              <a:t>WT/FNCL WT</a:t>
            </a:r>
            <a:br>
              <a:rPr lang="en-US" sz="1200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48 DISTANCE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46 PIECES</a:t>
            </a:r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72 LINE ITEM </a:t>
            </a:r>
            <a:r>
              <a:rPr lang="en-US" sz="1200" dirty="0" smtClean="0">
                <a:solidFill>
                  <a:srgbClr val="FF0000"/>
                </a:solidFill>
              </a:rPr>
              <a:t>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74 QTY Q</a:t>
            </a:r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75 LINE ITEM RATE 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85 LINE ITEM AMT 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TRAILER NO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68b SHIP </a:t>
            </a:r>
            <a:r>
              <a:rPr lang="en-US" sz="1200" dirty="0" smtClean="0">
                <a:solidFill>
                  <a:srgbClr val="FF0000"/>
                </a:solidFill>
              </a:rPr>
              <a:t>NO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68c REF</a:t>
            </a:r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08/14 INV AMT/ FB AMT </a:t>
            </a:r>
          </a:p>
        </p:txBody>
      </p:sp>
      <p:sp>
        <p:nvSpPr>
          <p:cNvPr id="4" name="Rectangle 3"/>
          <p:cNvSpPr/>
          <p:nvPr/>
        </p:nvSpPr>
        <p:spPr>
          <a:xfrm flipH="1">
            <a:off x="4348916" y="481703"/>
            <a:ext cx="484341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6489358" y="56149"/>
            <a:ext cx="529139" cy="231474"/>
          </a:xfrm>
          <a:prstGeom prst="wedgeRoundRectCallout">
            <a:avLst>
              <a:gd name="adj1" fmla="val -84887"/>
              <a:gd name="adj2" fmla="val 6415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6" name="Rectangle 5"/>
          <p:cNvSpPr/>
          <p:nvPr/>
        </p:nvSpPr>
        <p:spPr>
          <a:xfrm flipH="1">
            <a:off x="5781476" y="481703"/>
            <a:ext cx="484341" cy="1187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6023645" y="5232228"/>
            <a:ext cx="242171" cy="974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1949703" y="1340504"/>
            <a:ext cx="1969153" cy="33154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flipH="1">
            <a:off x="4833256" y="1128986"/>
            <a:ext cx="844732" cy="33405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2202253" y="2297440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1960081" y="2435274"/>
            <a:ext cx="770926" cy="3018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1960081" y="2921110"/>
            <a:ext cx="770926" cy="3018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2257117" y="2774742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5000316" y="2500995"/>
            <a:ext cx="412931" cy="910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002929" y="2724912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2018864" y="3447268"/>
            <a:ext cx="419535" cy="3749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5899040" y="3440600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flipH="1">
            <a:off x="5418792" y="3429000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4833256" y="3440600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3982140" y="5334596"/>
            <a:ext cx="366776" cy="10855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4136570" y="145089"/>
            <a:ext cx="529139" cy="231474"/>
          </a:xfrm>
          <a:prstGeom prst="wedgeRoundRectCallout">
            <a:avLst>
              <a:gd name="adj1" fmla="val 61425"/>
              <a:gd name="adj2" fmla="val 9048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24" name="Rectangle 23"/>
          <p:cNvSpPr/>
          <p:nvPr/>
        </p:nvSpPr>
        <p:spPr>
          <a:xfrm flipH="1">
            <a:off x="5726611" y="250229"/>
            <a:ext cx="539204" cy="12633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6298106" y="647461"/>
            <a:ext cx="529139" cy="231474"/>
          </a:xfrm>
          <a:prstGeom prst="wedgeRoundRectCallout">
            <a:avLst>
              <a:gd name="adj1" fmla="val -82583"/>
              <a:gd name="adj2" fmla="val -5435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11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5920542" y="1211764"/>
            <a:ext cx="529139" cy="231474"/>
          </a:xfrm>
          <a:prstGeom prst="wedgeRoundRectCallout">
            <a:avLst>
              <a:gd name="adj1" fmla="val -87191"/>
              <a:gd name="adj2" fmla="val 193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4136570" y="1398469"/>
            <a:ext cx="529139" cy="231474"/>
          </a:xfrm>
          <a:prstGeom prst="wedgeRoundRectCallout">
            <a:avLst>
              <a:gd name="adj1" fmla="val -87191"/>
              <a:gd name="adj2" fmla="val 193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2745982" y="2084817"/>
            <a:ext cx="529139" cy="231474"/>
          </a:xfrm>
          <a:prstGeom prst="wedgeRoundRectCallout">
            <a:avLst>
              <a:gd name="adj1" fmla="val -79127"/>
              <a:gd name="adj2" fmla="val 6415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1306134" y="2385258"/>
            <a:ext cx="529139" cy="231474"/>
          </a:xfrm>
          <a:prstGeom prst="wedgeRoundRectCallout">
            <a:avLst>
              <a:gd name="adj1" fmla="val 71793"/>
              <a:gd name="adj2" fmla="val 6415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27</a:t>
            </a:r>
            <a:endParaRPr lang="en-US" sz="1000" b="1" kern="12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1301106" y="2921110"/>
            <a:ext cx="529139" cy="231474"/>
          </a:xfrm>
          <a:prstGeom prst="wedgeRoundRectCallout">
            <a:avLst>
              <a:gd name="adj1" fmla="val 71793"/>
              <a:gd name="adj2" fmla="val 6415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</a:t>
            </a:r>
            <a:endParaRPr lang="en-US" sz="1000" b="1" kern="12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2827558" y="2737104"/>
            <a:ext cx="529139" cy="231474"/>
          </a:xfrm>
          <a:prstGeom prst="wedgeRoundRectCallout">
            <a:avLst>
              <a:gd name="adj1" fmla="val -86039"/>
              <a:gd name="adj2" fmla="val -1222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62</a:t>
            </a:r>
            <a:endParaRPr lang="en-US" sz="1000" b="1" kern="1200" dirty="0"/>
          </a:p>
        </p:txBody>
      </p:sp>
      <p:sp>
        <p:nvSpPr>
          <p:cNvPr id="32" name="Rounded Rectangular Callout 31"/>
          <p:cNvSpPr/>
          <p:nvPr/>
        </p:nvSpPr>
        <p:spPr>
          <a:xfrm>
            <a:off x="5655972" y="2388918"/>
            <a:ext cx="529139" cy="231474"/>
          </a:xfrm>
          <a:prstGeom prst="wedgeRoundRectCallout">
            <a:avLst>
              <a:gd name="adj1" fmla="val -87191"/>
              <a:gd name="adj2" fmla="val 193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33" name="Rounded Rectangular Callout 32"/>
          <p:cNvSpPr/>
          <p:nvPr/>
        </p:nvSpPr>
        <p:spPr>
          <a:xfrm>
            <a:off x="2612542" y="3359762"/>
            <a:ext cx="529139" cy="231474"/>
          </a:xfrm>
          <a:prstGeom prst="wedgeRoundRectCallout">
            <a:avLst>
              <a:gd name="adj1" fmla="val -87191"/>
              <a:gd name="adj2" fmla="val 193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5579121" y="2759298"/>
            <a:ext cx="529139" cy="231474"/>
          </a:xfrm>
          <a:prstGeom prst="wedgeRoundRectCallout">
            <a:avLst>
              <a:gd name="adj1" fmla="val -83735"/>
              <a:gd name="adj2" fmla="val -411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6484576" y="3470549"/>
            <a:ext cx="529139" cy="231474"/>
          </a:xfrm>
          <a:prstGeom prst="wedgeRoundRectCallout">
            <a:avLst>
              <a:gd name="adj1" fmla="val -83735"/>
              <a:gd name="adj2" fmla="val -411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5363334" y="3772547"/>
            <a:ext cx="529139" cy="231474"/>
          </a:xfrm>
          <a:prstGeom prst="wedgeRoundRectCallout">
            <a:avLst>
              <a:gd name="adj1" fmla="val -6547"/>
              <a:gd name="adj2" fmla="val -14126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4428561" y="3729856"/>
            <a:ext cx="529139" cy="231474"/>
          </a:xfrm>
          <a:prstGeom prst="wedgeRoundRectCallout">
            <a:avLst>
              <a:gd name="adj1" fmla="val 49904"/>
              <a:gd name="adj2" fmla="val -12283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48</a:t>
            </a:r>
            <a:endParaRPr lang="en-US" sz="1000" b="1" kern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3587837" y="5571887"/>
            <a:ext cx="529139" cy="231474"/>
          </a:xfrm>
          <a:prstGeom prst="wedgeRoundRectCallout">
            <a:avLst>
              <a:gd name="adj1" fmla="val 51056"/>
              <a:gd name="adj2" fmla="val -11493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42/43</a:t>
            </a:r>
            <a:endParaRPr lang="en-US" sz="1000" b="1" kern="12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6484575" y="5000754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08/14</a:t>
            </a:r>
            <a:endParaRPr lang="en-US" sz="1000" b="1" kern="1200" dirty="0"/>
          </a:p>
        </p:txBody>
      </p:sp>
      <p:sp>
        <p:nvSpPr>
          <p:cNvPr id="40" name="Rectangle 39"/>
          <p:cNvSpPr/>
          <p:nvPr/>
        </p:nvSpPr>
        <p:spPr>
          <a:xfrm flipH="1">
            <a:off x="5023393" y="2926611"/>
            <a:ext cx="366776" cy="1061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ounded Rectangular Callout 40"/>
          <p:cNvSpPr/>
          <p:nvPr/>
        </p:nvSpPr>
        <p:spPr>
          <a:xfrm>
            <a:off x="5579120" y="3058620"/>
            <a:ext cx="529139" cy="231474"/>
          </a:xfrm>
          <a:prstGeom prst="wedgeRoundRectCallout">
            <a:avLst>
              <a:gd name="adj1" fmla="val -99864"/>
              <a:gd name="adj2" fmla="val -6489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68c</a:t>
            </a:r>
            <a:endParaRPr lang="en-US" sz="1000" b="1" kern="1200" dirty="0"/>
          </a:p>
        </p:txBody>
      </p:sp>
      <p:sp>
        <p:nvSpPr>
          <p:cNvPr id="42" name="Rectangle 41"/>
          <p:cNvSpPr/>
          <p:nvPr/>
        </p:nvSpPr>
        <p:spPr>
          <a:xfrm flipH="1">
            <a:off x="3452135" y="3449020"/>
            <a:ext cx="366776" cy="10855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3" name="Rounded Rectangular Callout 42"/>
          <p:cNvSpPr/>
          <p:nvPr/>
        </p:nvSpPr>
        <p:spPr>
          <a:xfrm>
            <a:off x="3522914" y="3012550"/>
            <a:ext cx="529139" cy="231474"/>
          </a:xfrm>
          <a:prstGeom prst="wedgeRoundRectCallout">
            <a:avLst>
              <a:gd name="adj1" fmla="val -26132"/>
              <a:gd name="adj2" fmla="val 16686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44" name="Rectangle 43"/>
          <p:cNvSpPr/>
          <p:nvPr/>
        </p:nvSpPr>
        <p:spPr>
          <a:xfrm flipH="1">
            <a:off x="3531101" y="5334595"/>
            <a:ext cx="366776" cy="10855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3058698" y="5450333"/>
            <a:ext cx="529139" cy="231474"/>
          </a:xfrm>
          <a:prstGeom prst="wedgeRoundRectCallout">
            <a:avLst>
              <a:gd name="adj1" fmla="val 81010"/>
              <a:gd name="adj2" fmla="val -7279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46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089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068" y="0"/>
            <a:ext cx="4857912" cy="6858000"/>
          </a:xfrm>
          <a:prstGeom prst="rect">
            <a:avLst/>
          </a:prstGeom>
        </p:spPr>
      </p:pic>
      <p:sp>
        <p:nvSpPr>
          <p:cNvPr id="3" name="TextBox 58"/>
          <p:cNvSpPr txBox="1"/>
          <p:nvPr/>
        </p:nvSpPr>
        <p:spPr>
          <a:xfrm>
            <a:off x="8309869" y="1089660"/>
            <a:ext cx="15729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28 SHIPPER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31 CONSIGNEE </a:t>
            </a:r>
            <a:r>
              <a:rPr lang="en-US" sz="1200" dirty="0" smtClean="0">
                <a:solidFill>
                  <a:srgbClr val="FF0000"/>
                </a:solidFill>
              </a:rPr>
              <a:t>BOL</a:t>
            </a:r>
          </a:p>
          <a:p>
            <a:r>
              <a:rPr lang="en-US" sz="1200" smtClean="0">
                <a:solidFill>
                  <a:srgbClr val="FF0000"/>
                </a:solidFill>
              </a:rPr>
              <a:t>36 FREIGHT TERM</a:t>
            </a:r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68a ORD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95 PCSCNT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96/97 GROSS/NET WT</a:t>
            </a:r>
            <a:endParaRPr lang="en-US" sz="1200" dirty="0" smtClean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2164080" y="545928"/>
            <a:ext cx="474616" cy="1246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2871909" y="344508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6" name="Rectangle 5"/>
          <p:cNvSpPr/>
          <p:nvPr/>
        </p:nvSpPr>
        <p:spPr>
          <a:xfrm flipH="1">
            <a:off x="2219596" y="794514"/>
            <a:ext cx="1430384" cy="29514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2189116" y="1295250"/>
            <a:ext cx="1613264" cy="36591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885369" y="710613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28</a:t>
            </a:r>
            <a:endParaRPr lang="en-US" sz="1000" b="1" kern="1200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4036635" y="1327764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31</a:t>
            </a:r>
            <a:endParaRPr lang="en-US" sz="1000" b="1" kern="1200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2570633" y="2577444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13" name="Rectangle 12"/>
          <p:cNvSpPr/>
          <p:nvPr/>
        </p:nvSpPr>
        <p:spPr>
          <a:xfrm flipH="1">
            <a:off x="1926772" y="2746602"/>
            <a:ext cx="474616" cy="1246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2995748" y="3429000"/>
            <a:ext cx="474616" cy="1246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3562019" y="3415875"/>
            <a:ext cx="474616" cy="1246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949240" y="3058665"/>
            <a:ext cx="529139" cy="231474"/>
          </a:xfrm>
          <a:prstGeom prst="wedgeRoundRectCallout">
            <a:avLst>
              <a:gd name="adj1" fmla="val -1939"/>
              <a:gd name="adj2" fmla="val 12735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95</a:t>
            </a:r>
            <a:endParaRPr lang="en-US" sz="1000" b="1" kern="120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3649980" y="3088432"/>
            <a:ext cx="529139" cy="231474"/>
          </a:xfrm>
          <a:prstGeom prst="wedgeRoundRectCallout">
            <a:avLst>
              <a:gd name="adj1" fmla="val -1939"/>
              <a:gd name="adj2" fmla="val 12735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96/97</a:t>
            </a:r>
            <a:endParaRPr lang="en-US" sz="1000" b="1" kern="1200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4786443" y="858186"/>
            <a:ext cx="529139" cy="231474"/>
          </a:xfrm>
          <a:prstGeom prst="wedgeRoundRectCallout">
            <a:avLst>
              <a:gd name="adj1" fmla="val -86039"/>
              <a:gd name="adj2" fmla="val 53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36</a:t>
            </a:r>
            <a:endParaRPr lang="en-US" sz="1000" b="1" kern="1200" dirty="0"/>
          </a:p>
        </p:txBody>
      </p:sp>
      <p:sp>
        <p:nvSpPr>
          <p:cNvPr id="19" name="Rectangle 18"/>
          <p:cNvSpPr/>
          <p:nvPr/>
        </p:nvSpPr>
        <p:spPr>
          <a:xfrm flipH="1">
            <a:off x="4179119" y="1010293"/>
            <a:ext cx="474616" cy="1246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00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8266575"/>
              </p:ext>
            </p:extLst>
          </p:nvPr>
        </p:nvGraphicFramePr>
        <p:xfrm>
          <a:off x="3065418" y="2057401"/>
          <a:ext cx="6975566" cy="2381267"/>
        </p:xfrm>
        <a:graphic>
          <a:graphicData uri="http://schemas.openxmlformats.org/drawingml/2006/table">
            <a:tbl>
              <a:tblPr/>
              <a:tblGrid>
                <a:gridCol w="2847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DI-61163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JOYCE MAE CATUBIG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07/04/2024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DI-63297 – Updated according to instruction (slide 2 )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KHEILA MARY INOC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08/27/2024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DI-63359 - </a:t>
                      </a: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Updated according to instruction (slide 2 )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KHEILA MARY INOC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08/28/2024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DI-65874 – Added new invoice format (slide 4&amp;5)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</a:t>
                      </a:r>
                      <a:r>
                        <a:rPr kumimoji="0" lang="en-GB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J. </a:t>
                      </a:r>
                      <a:r>
                        <a:rPr kumimoji="0" lang="en-GB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Locaylocay</a:t>
                      </a: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11/13/2024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50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330</Words>
  <Application>Microsoft Office PowerPoint</Application>
  <PresentationFormat>Widescreen</PresentationFormat>
  <Paragraphs>154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John Ryan Infante</cp:lastModifiedBy>
  <cp:revision>34</cp:revision>
  <dcterms:created xsi:type="dcterms:W3CDTF">2024-07-04T13:11:41Z</dcterms:created>
  <dcterms:modified xsi:type="dcterms:W3CDTF">2024-11-15T20:52:19Z</dcterms:modified>
</cp:coreProperties>
</file>