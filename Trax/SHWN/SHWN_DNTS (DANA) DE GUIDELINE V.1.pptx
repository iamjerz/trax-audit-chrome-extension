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7" autoAdjust="0"/>
    <p:restoredTop sz="94660"/>
  </p:normalViewPr>
  <p:slideViewPr>
    <p:cSldViewPr snapToGrid="0">
      <p:cViewPr>
        <p:scale>
          <a:sx n="130" d="100"/>
          <a:sy n="130" d="100"/>
        </p:scale>
        <p:origin x="77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195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965961" y="2251166"/>
            <a:ext cx="8069989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 smtClean="0">
                <a:solidFill>
                  <a:srgbClr val="FF0000"/>
                </a:solidFill>
              </a:rPr>
              <a:t>SHWN_</a:t>
            </a:r>
            <a:r>
              <a:rPr lang="en-PH" sz="2800" dirty="0" smtClean="0">
                <a:solidFill>
                  <a:srgbClr val="00B050"/>
                </a:solidFill>
              </a:rPr>
              <a:t>DNTS</a:t>
            </a:r>
            <a:r>
              <a:rPr lang="en-US" sz="2800" dirty="0" smtClean="0"/>
              <a:t>(DANA</a:t>
            </a:r>
            <a:r>
              <a:rPr lang="en-PH" sz="2800" dirty="0" smtClean="0"/>
              <a:t>)</a:t>
            </a:r>
            <a:endParaRPr lang="en-PH" sz="2800" dirty="0"/>
          </a:p>
          <a:p>
            <a:r>
              <a:rPr lang="en-US" sz="2400" dirty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SHWN</a:t>
            </a:r>
            <a:endParaRPr lang="en-US" sz="2000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/>
              <a:t>Scac</a:t>
            </a:r>
            <a:r>
              <a:rPr lang="en-US" sz="2000" dirty="0"/>
              <a:t> Code (68) </a:t>
            </a:r>
            <a:r>
              <a:rPr lang="en-US" sz="2000" dirty="0">
                <a:solidFill>
                  <a:srgbClr val="00B050"/>
                </a:solidFill>
              </a:rPr>
              <a:t>SCAC CODE </a:t>
            </a:r>
            <a:r>
              <a:rPr lang="en-US" sz="2000" dirty="0"/>
              <a:t>(69) </a:t>
            </a:r>
            <a:r>
              <a:rPr lang="en-PH" sz="2000" dirty="0" smtClean="0">
                <a:solidFill>
                  <a:srgbClr val="00B050"/>
                </a:solidFill>
              </a:rPr>
              <a:t>DNTS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81" y="0"/>
            <a:ext cx="5299364" cy="6858000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6056822" y="5514131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08/14</a:t>
            </a:r>
            <a:endParaRPr lang="en-US" sz="10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204087" y="956663"/>
            <a:ext cx="29819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10 </a:t>
            </a:r>
            <a:r>
              <a:rPr lang="en-PH" sz="1200" dirty="0">
                <a:solidFill>
                  <a:srgbClr val="FF0000"/>
                </a:solidFill>
              </a:rPr>
              <a:t>DATE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30 CONSIGNEE INV</a:t>
            </a:r>
          </a:p>
          <a:p>
            <a:r>
              <a:rPr lang="en-US" sz="1200" dirty="0">
                <a:solidFill>
                  <a:srgbClr val="FF0000"/>
                </a:solidFill>
              </a:rPr>
              <a:t>42/43 ACTUAL WT/FNCL WT</a:t>
            </a:r>
          </a:p>
          <a:p>
            <a:r>
              <a:rPr lang="en-US" sz="1200" dirty="0">
                <a:solidFill>
                  <a:srgbClr val="FF0000"/>
                </a:solidFill>
              </a:rPr>
              <a:t>44/45 </a:t>
            </a:r>
            <a:r>
              <a:rPr lang="en-US" sz="1200" dirty="0" smtClean="0">
                <a:solidFill>
                  <a:srgbClr val="FF0000"/>
                </a:solidFill>
              </a:rPr>
              <a:t>UOM</a:t>
            </a:r>
          </a:p>
          <a:p>
            <a:r>
              <a:rPr lang="en-US" sz="1200" dirty="0">
                <a:solidFill>
                  <a:srgbClr val="FF0000"/>
                </a:solidFill>
              </a:rPr>
              <a:t>53 VOLUME</a:t>
            </a:r>
          </a:p>
          <a:p>
            <a:r>
              <a:rPr lang="en-US" sz="1200" dirty="0">
                <a:solidFill>
                  <a:srgbClr val="FF0000"/>
                </a:solidFill>
              </a:rPr>
              <a:t>54 </a:t>
            </a:r>
            <a:r>
              <a:rPr lang="en-US" sz="1200" dirty="0" smtClean="0">
                <a:solidFill>
                  <a:srgbClr val="FF0000"/>
                </a:solidFill>
              </a:rPr>
              <a:t>UOM</a:t>
            </a:r>
            <a:endParaRPr lang="en-US" sz="1200" dirty="0">
              <a:solidFill>
                <a:srgbClr val="FF0000"/>
              </a:solidFill>
            </a:endParaRPr>
          </a:p>
          <a:p>
            <a:r>
              <a:rPr lang="en-PH" sz="1200" dirty="0" smtClean="0">
                <a:solidFill>
                  <a:srgbClr val="FF0000"/>
                </a:solidFill>
              </a:rPr>
              <a:t>48 </a:t>
            </a:r>
            <a:r>
              <a:rPr lang="en-PH" sz="1200" dirty="0" smtClean="0">
                <a:solidFill>
                  <a:srgbClr val="FF0000"/>
                </a:solidFill>
              </a:rPr>
              <a:t>DISTANCE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64 CONTAINER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65 CONTAINER TYPE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74 LINE ITEM QTY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75 LINE ITEM RATE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</a:t>
            </a:r>
            <a:r>
              <a:rPr lang="en-PH" sz="1200" dirty="0" smtClean="0">
                <a:solidFill>
                  <a:srgbClr val="FF0000"/>
                </a:solidFill>
              </a:rPr>
              <a:t>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PO</a:t>
            </a:r>
            <a:endParaRPr lang="en-PH" sz="1200" dirty="0" smtClean="0">
              <a:solidFill>
                <a:srgbClr val="FF0000"/>
              </a:solidFill>
            </a:endParaRPr>
          </a:p>
          <a:p>
            <a:r>
              <a:rPr lang="en-PH" sz="1200" dirty="0" smtClean="0">
                <a:solidFill>
                  <a:srgbClr val="FF0000"/>
                </a:solidFill>
              </a:rPr>
              <a:t>08/14 INV AMT/FB AMT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3381003" y="387118"/>
            <a:ext cx="1417420" cy="41407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3381003" y="1072919"/>
            <a:ext cx="1417420" cy="32154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1140722" y="1309138"/>
            <a:ext cx="1556757" cy="41407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5086624" y="276082"/>
            <a:ext cx="536935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5126953" y="551491"/>
            <a:ext cx="536935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037830" y="884182"/>
            <a:ext cx="626057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941344" y="1855268"/>
            <a:ext cx="536935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2844066" y="1855268"/>
            <a:ext cx="280134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3100868" y="1855268"/>
            <a:ext cx="899631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4986886" y="1862732"/>
            <a:ext cx="280134" cy="18873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flipH="1">
            <a:off x="868578" y="2206544"/>
            <a:ext cx="1211679" cy="63170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 flipH="1">
            <a:off x="2978328" y="2224364"/>
            <a:ext cx="222594" cy="11684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flipH="1">
            <a:off x="3681746" y="2206545"/>
            <a:ext cx="245093" cy="14348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 flipH="1">
            <a:off x="4068652" y="2209124"/>
            <a:ext cx="244268" cy="62912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 flipH="1">
            <a:off x="4860503" y="2233182"/>
            <a:ext cx="508894" cy="56589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 flipH="1">
            <a:off x="5475508" y="2224364"/>
            <a:ext cx="305532" cy="5747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5475508" y="5799793"/>
            <a:ext cx="452852" cy="21492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868578" y="5907256"/>
            <a:ext cx="1036422" cy="3716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2074918" y="5791519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5928360" y="2251508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30" name="Rounded Rectangular Callout 29"/>
          <p:cNvSpPr/>
          <p:nvPr/>
        </p:nvSpPr>
        <p:spPr>
          <a:xfrm>
            <a:off x="5002450" y="2980793"/>
            <a:ext cx="529139" cy="231474"/>
          </a:xfrm>
          <a:prstGeom prst="wedgeRoundRectCallout">
            <a:avLst>
              <a:gd name="adj1" fmla="val -42993"/>
              <a:gd name="adj2" fmla="val -11968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31" name="Rounded Rectangular Callout 30"/>
          <p:cNvSpPr/>
          <p:nvPr/>
        </p:nvSpPr>
        <p:spPr>
          <a:xfrm>
            <a:off x="5731346" y="44608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32" name="Rounded Rectangular Callout 31"/>
          <p:cNvSpPr/>
          <p:nvPr/>
        </p:nvSpPr>
        <p:spPr>
          <a:xfrm>
            <a:off x="6047476" y="464819"/>
            <a:ext cx="529139" cy="231474"/>
          </a:xfrm>
          <a:prstGeom prst="wedgeRoundRectCallout">
            <a:avLst>
              <a:gd name="adj1" fmla="val -114997"/>
              <a:gd name="adj2" fmla="val 3175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33" name="Rounded Rectangular Callout 32"/>
          <p:cNvSpPr/>
          <p:nvPr/>
        </p:nvSpPr>
        <p:spPr>
          <a:xfrm>
            <a:off x="5843141" y="900746"/>
            <a:ext cx="529139" cy="231474"/>
          </a:xfrm>
          <a:prstGeom prst="wedgeRoundRectCallout">
            <a:avLst>
              <a:gd name="adj1" fmla="val -81875"/>
              <a:gd name="adj2" fmla="val -1433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5369446" y="1626908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64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3926216" y="1492531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65</a:t>
            </a:r>
            <a:endParaRPr lang="en-US" sz="1000" b="1" kern="1200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4343706" y="1893640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74</a:t>
            </a:r>
            <a:endParaRPr lang="en-US" sz="1000" b="1" kern="1200" dirty="0"/>
          </a:p>
        </p:txBody>
      </p:sp>
      <p:sp>
        <p:nvSpPr>
          <p:cNvPr id="37" name="Rounded Rectangular Callout 36"/>
          <p:cNvSpPr/>
          <p:nvPr/>
        </p:nvSpPr>
        <p:spPr>
          <a:xfrm>
            <a:off x="3033805" y="1507989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64</a:t>
            </a:r>
            <a:endParaRPr lang="en-US" sz="1000" b="1" kern="1200" dirty="0"/>
          </a:p>
        </p:txBody>
      </p:sp>
      <p:sp>
        <p:nvSpPr>
          <p:cNvPr id="38" name="Rounded Rectangular Callout 37"/>
          <p:cNvSpPr/>
          <p:nvPr/>
        </p:nvSpPr>
        <p:spPr>
          <a:xfrm>
            <a:off x="2064936" y="945605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233328" y="2350024"/>
            <a:ext cx="529139" cy="231474"/>
          </a:xfrm>
          <a:prstGeom prst="wedgeRoundRectCallout">
            <a:avLst>
              <a:gd name="adj1" fmla="val 77974"/>
              <a:gd name="adj2" fmla="val 6466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334651" y="1602881"/>
            <a:ext cx="529139" cy="231474"/>
          </a:xfrm>
          <a:prstGeom prst="wedgeRoundRectCallout">
            <a:avLst>
              <a:gd name="adj1" fmla="val 57813"/>
              <a:gd name="adj2" fmla="val 8771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41" name="Rounded Rectangular Callout 40"/>
          <p:cNvSpPr/>
          <p:nvPr/>
        </p:nvSpPr>
        <p:spPr>
          <a:xfrm>
            <a:off x="3646706" y="2536498"/>
            <a:ext cx="368890" cy="128325"/>
          </a:xfrm>
          <a:prstGeom prst="wedgeRoundRectCallout">
            <a:avLst>
              <a:gd name="adj1" fmla="val 4648"/>
              <a:gd name="adj2" fmla="val -14513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48</a:t>
            </a:r>
            <a:endParaRPr lang="en-US" sz="1000" b="1" kern="1200" dirty="0"/>
          </a:p>
        </p:txBody>
      </p:sp>
      <p:sp>
        <p:nvSpPr>
          <p:cNvPr id="42" name="Rounded Rectangular Callout 41"/>
          <p:cNvSpPr/>
          <p:nvPr/>
        </p:nvSpPr>
        <p:spPr>
          <a:xfrm>
            <a:off x="2341526" y="2367245"/>
            <a:ext cx="572504" cy="145725"/>
          </a:xfrm>
          <a:prstGeom prst="wedgeRoundRectCallout">
            <a:avLst>
              <a:gd name="adj1" fmla="val 57813"/>
              <a:gd name="adj2" fmla="val -12297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42/43</a:t>
            </a:r>
            <a:endParaRPr lang="en-US" sz="1000" b="1" kern="1200" dirty="0"/>
          </a:p>
        </p:txBody>
      </p:sp>
      <p:sp>
        <p:nvSpPr>
          <p:cNvPr id="43" name="Rounded Rectangular Callout 42"/>
          <p:cNvSpPr/>
          <p:nvPr/>
        </p:nvSpPr>
        <p:spPr>
          <a:xfrm>
            <a:off x="2627778" y="208244"/>
            <a:ext cx="529139" cy="231474"/>
          </a:xfrm>
          <a:prstGeom prst="wedgeRoundRectCallout">
            <a:avLst>
              <a:gd name="adj1" fmla="val 89494"/>
              <a:gd name="adj2" fmla="val 71253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27</a:t>
            </a:r>
            <a:endParaRPr lang="en-US" sz="1000" b="1" kern="1200" dirty="0"/>
          </a:p>
        </p:txBody>
      </p:sp>
      <p:sp>
        <p:nvSpPr>
          <p:cNvPr id="44" name="Rounded Rectangular Callout 43"/>
          <p:cNvSpPr/>
          <p:nvPr/>
        </p:nvSpPr>
        <p:spPr>
          <a:xfrm>
            <a:off x="2787903" y="780758"/>
            <a:ext cx="529139" cy="231474"/>
          </a:xfrm>
          <a:prstGeom prst="wedgeRoundRectCallout">
            <a:avLst>
              <a:gd name="adj1" fmla="val 70773"/>
              <a:gd name="adj2" fmla="val 9100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30</a:t>
            </a:r>
            <a:endParaRPr lang="en-US" sz="1000" b="1" kern="1200" dirty="0"/>
          </a:p>
        </p:txBody>
      </p:sp>
      <p:sp>
        <p:nvSpPr>
          <p:cNvPr id="45" name="Rectangle 44"/>
          <p:cNvSpPr/>
          <p:nvPr/>
        </p:nvSpPr>
        <p:spPr>
          <a:xfrm flipH="1">
            <a:off x="5038127" y="1212875"/>
            <a:ext cx="625759" cy="16820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6" name="Rounded Rectangular Callout 45"/>
          <p:cNvSpPr/>
          <p:nvPr/>
        </p:nvSpPr>
        <p:spPr>
          <a:xfrm>
            <a:off x="5865012" y="1218656"/>
            <a:ext cx="529139" cy="231474"/>
          </a:xfrm>
          <a:prstGeom prst="wedgeRoundRectCallout">
            <a:avLst>
              <a:gd name="adj1" fmla="val -81875"/>
              <a:gd name="adj2" fmla="val -1433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48" name="Rectangle 47"/>
          <p:cNvSpPr/>
          <p:nvPr/>
        </p:nvSpPr>
        <p:spPr>
          <a:xfrm flipH="1">
            <a:off x="3200923" y="2233182"/>
            <a:ext cx="180079" cy="108024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9" name="Rounded Rectangular Callout 48"/>
          <p:cNvSpPr/>
          <p:nvPr/>
        </p:nvSpPr>
        <p:spPr>
          <a:xfrm>
            <a:off x="3200924" y="2048495"/>
            <a:ext cx="480822" cy="111315"/>
          </a:xfrm>
          <a:prstGeom prst="wedgeRoundRectCallout">
            <a:avLst>
              <a:gd name="adj1" fmla="val -32898"/>
              <a:gd name="adj2" fmla="val 14331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 kern="1200" dirty="0" smtClean="0"/>
              <a:t>44/45</a:t>
            </a:r>
            <a:endParaRPr lang="en-US" sz="900" b="1" kern="1200" dirty="0"/>
          </a:p>
        </p:txBody>
      </p:sp>
      <p:sp>
        <p:nvSpPr>
          <p:cNvPr id="50" name="Rectangle 49"/>
          <p:cNvSpPr/>
          <p:nvPr/>
        </p:nvSpPr>
        <p:spPr>
          <a:xfrm flipH="1">
            <a:off x="3002376" y="2348922"/>
            <a:ext cx="98491" cy="6565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 flipH="1">
            <a:off x="3113915" y="2348923"/>
            <a:ext cx="149814" cy="6565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2" name="Rounded Rectangular Callout 51"/>
          <p:cNvSpPr/>
          <p:nvPr/>
        </p:nvSpPr>
        <p:spPr>
          <a:xfrm>
            <a:off x="2627777" y="2552389"/>
            <a:ext cx="389277" cy="112057"/>
          </a:xfrm>
          <a:prstGeom prst="wedgeRoundRectCallout">
            <a:avLst>
              <a:gd name="adj1" fmla="val 55510"/>
              <a:gd name="adj2" fmla="val -17097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53</a:t>
            </a:r>
            <a:endParaRPr lang="en-US" sz="1000" b="1" kern="1200" dirty="0"/>
          </a:p>
        </p:txBody>
      </p:sp>
      <p:sp>
        <p:nvSpPr>
          <p:cNvPr id="53" name="Rounded Rectangular Callout 52"/>
          <p:cNvSpPr/>
          <p:nvPr/>
        </p:nvSpPr>
        <p:spPr>
          <a:xfrm>
            <a:off x="3097548" y="2540819"/>
            <a:ext cx="389277" cy="94291"/>
          </a:xfrm>
          <a:prstGeom prst="wedgeRoundRectCallout">
            <a:avLst>
              <a:gd name="adj1" fmla="val -13577"/>
              <a:gd name="adj2" fmla="val -19474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54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34158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7" y="0"/>
            <a:ext cx="5297867" cy="6858000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5326380" y="3429000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bg1"/>
                </a:solidFill>
              </a:rPr>
              <a:t>96/97</a:t>
            </a:r>
            <a:endParaRPr lang="en-US" sz="1000" b="1" kern="12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4286788" y="761324"/>
            <a:ext cx="1039592" cy="1606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H="1">
            <a:off x="4633498" y="3729314"/>
            <a:ext cx="574772" cy="9211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H="1">
            <a:off x="1219738" y="3717884"/>
            <a:ext cx="170912" cy="10354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1559052" y="3464900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46/47</a:t>
            </a:r>
            <a:endParaRPr lang="en-US" sz="1000" b="1" kern="1200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5460492" y="519856"/>
            <a:ext cx="529139" cy="231474"/>
          </a:xfrm>
          <a:prstGeom prst="wedgeRoundRectCallout">
            <a:avLst>
              <a:gd name="adj1" fmla="val -67474"/>
              <a:gd name="adj2" fmla="val 100881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052237" y="2597767"/>
            <a:ext cx="286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US" sz="1200" dirty="0">
                <a:solidFill>
                  <a:srgbClr val="FF0000"/>
                </a:solidFill>
              </a:rPr>
              <a:t>96/97 GROSSWT/NETWT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46/47 </a:t>
            </a:r>
            <a:r>
              <a:rPr lang="en-PH" sz="1200" dirty="0" smtClean="0">
                <a:solidFill>
                  <a:srgbClr val="FF0000"/>
                </a:solidFill>
              </a:rPr>
              <a:t>PIECES/ PIECES TYPE</a:t>
            </a:r>
          </a:p>
        </p:txBody>
      </p:sp>
    </p:spTree>
    <p:extLst>
      <p:ext uri="{BB962C8B-B14F-4D97-AF65-F5344CB8AC3E}">
        <p14:creationId xmlns:p14="http://schemas.microsoft.com/office/powerpoint/2010/main" val="282528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535331"/>
              </p:ext>
            </p:extLst>
          </p:nvPr>
        </p:nvGraphicFramePr>
        <p:xfrm>
          <a:off x="3388272" y="2057401"/>
          <a:ext cx="5450928" cy="2569284"/>
        </p:xfrm>
        <a:graphic>
          <a:graphicData uri="http://schemas.openxmlformats.org/drawingml/2006/table">
            <a:tbl>
              <a:tblPr/>
              <a:tblGrid>
                <a:gridCol w="2423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DI-64961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</a:t>
                      </a: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J. </a:t>
                      </a: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Locaylocay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10/17/2024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58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10783</TotalTime>
  <Words>155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mary.apundar</cp:lastModifiedBy>
  <cp:revision>28</cp:revision>
  <dcterms:created xsi:type="dcterms:W3CDTF">2024-06-25T01:46:07Z</dcterms:created>
  <dcterms:modified xsi:type="dcterms:W3CDTF">2024-10-18T11:05:21Z</dcterms:modified>
</cp:coreProperties>
</file>