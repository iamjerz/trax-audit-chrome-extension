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90" r:id="rId2"/>
    <p:sldId id="293" r:id="rId3"/>
    <p:sldId id="294" r:id="rId4"/>
    <p:sldId id="295" r:id="rId5"/>
    <p:sldId id="291" r:id="rId6"/>
    <p:sldId id="296" r:id="rId7"/>
    <p:sldId id="292" r:id="rId8"/>
    <p:sldId id="297" r:id="rId9"/>
    <p:sldId id="298" r:id="rId10"/>
    <p:sldId id="299" r:id="rId11"/>
    <p:sldId id="300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2" autoAdjust="0"/>
    <p:restoredTop sz="95332" autoAdjust="0"/>
  </p:normalViewPr>
  <p:slideViewPr>
    <p:cSldViewPr snapToGrid="0" snapToObjects="1">
      <p:cViewPr varScale="1">
        <p:scale>
          <a:sx n="87" d="100"/>
          <a:sy n="87" d="100"/>
        </p:scale>
        <p:origin x="133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92A10-7C70-45E4-AEF2-F9703319B4F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B01C3-FB5F-4D6C-9B7C-5BACD22A3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8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B01C3-FB5F-4D6C-9B7C-5BACD22A3F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8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5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91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77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2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0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1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0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9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3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61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1" y="2314623"/>
            <a:ext cx="7444539" cy="1795934"/>
          </a:xfrm>
        </p:spPr>
        <p:txBody>
          <a:bodyPr anchor="t"/>
          <a:lstStyle>
            <a:lvl1pPr algn="l"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8" y="4214955"/>
            <a:ext cx="3501629" cy="1345115"/>
          </a:xfrm>
        </p:spPr>
        <p:txBody>
          <a:bodyPr/>
          <a:lstStyle>
            <a:lvl1pPr marL="0" indent="0" algn="l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625" y="6356353"/>
            <a:ext cx="82296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6" y="661415"/>
            <a:ext cx="1870277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722611" y="2122089"/>
            <a:ext cx="427493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888" y="5664462"/>
            <a:ext cx="3501629" cy="3362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398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897DA-725D-BD44-BC14-61787C81B71B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F73-58EB-9A43-836A-1A7C6FB23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6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88" y="74903"/>
            <a:ext cx="5815188" cy="67461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68445" y="533660"/>
            <a:ext cx="1915594" cy="3804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/>
          <p:cNvSpPr/>
          <p:nvPr/>
        </p:nvSpPr>
        <p:spPr>
          <a:xfrm>
            <a:off x="1976575" y="1479489"/>
            <a:ext cx="1900231" cy="4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/>
          <p:cNvSpPr/>
          <p:nvPr/>
        </p:nvSpPr>
        <p:spPr>
          <a:xfrm>
            <a:off x="5473755" y="1561595"/>
            <a:ext cx="744553" cy="184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/>
          <p:cNvSpPr/>
          <p:nvPr/>
        </p:nvSpPr>
        <p:spPr>
          <a:xfrm>
            <a:off x="4802352" y="3986821"/>
            <a:ext cx="216340" cy="1667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/>
        </p:nvSpPr>
        <p:spPr>
          <a:xfrm>
            <a:off x="2693209" y="1289885"/>
            <a:ext cx="600959" cy="1136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5471684" y="1255388"/>
            <a:ext cx="596369" cy="172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ounded Rectangular Callout 11"/>
          <p:cNvSpPr/>
          <p:nvPr/>
        </p:nvSpPr>
        <p:spPr>
          <a:xfrm>
            <a:off x="2166598" y="971695"/>
            <a:ext cx="578689" cy="150019"/>
          </a:xfrm>
          <a:prstGeom prst="wedgeRoundRectCallout">
            <a:avLst>
              <a:gd name="adj1" fmla="val 43740"/>
              <a:gd name="adj2" fmla="val 178514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05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3134143" y="1946648"/>
            <a:ext cx="578689" cy="150019"/>
          </a:xfrm>
          <a:prstGeom prst="wedgeRoundRectCallout">
            <a:avLst>
              <a:gd name="adj1" fmla="val -64918"/>
              <a:gd name="adj2" fmla="val 11402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68a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6459068" y="246904"/>
            <a:ext cx="578689" cy="150019"/>
          </a:xfrm>
          <a:prstGeom prst="wedgeRoundRectCallout">
            <a:avLst>
              <a:gd name="adj1" fmla="val -128514"/>
              <a:gd name="adj2" fmla="val 200868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01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6443663" y="934961"/>
            <a:ext cx="420379" cy="187811"/>
          </a:xfrm>
          <a:prstGeom prst="wedgeRoundRectCallout">
            <a:avLst>
              <a:gd name="adj1" fmla="val -173956"/>
              <a:gd name="adj2" fmla="val 11433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10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6469728" y="1289256"/>
            <a:ext cx="485625" cy="156779"/>
          </a:xfrm>
          <a:prstGeom prst="wedgeRoundRectCallout">
            <a:avLst>
              <a:gd name="adj1" fmla="val -124333"/>
              <a:gd name="adj2" fmla="val 155778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03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1354924" y="1328561"/>
            <a:ext cx="578689" cy="150019"/>
          </a:xfrm>
          <a:prstGeom prst="wedgeRoundRectCallout">
            <a:avLst>
              <a:gd name="adj1" fmla="val 72431"/>
              <a:gd name="adj2" fmla="val 20822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659" y="386198"/>
            <a:ext cx="18274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>
                <a:solidFill>
                  <a:srgbClr val="FF0000"/>
                </a:solidFill>
              </a:rPr>
              <a:t>68a AWB</a:t>
            </a:r>
          </a:p>
          <a:p>
            <a:r>
              <a:rPr lang="en-PH" sz="1200" dirty="0">
                <a:solidFill>
                  <a:srgbClr val="FF0000"/>
                </a:solidFill>
              </a:rPr>
              <a:t>68b HAWB</a:t>
            </a:r>
          </a:p>
          <a:p>
            <a:r>
              <a:rPr lang="en-PH" sz="1200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dirty="0">
                <a:solidFill>
                  <a:srgbClr val="FF0000"/>
                </a:solidFill>
              </a:rPr>
              <a:t>05 Acct</a:t>
            </a:r>
          </a:p>
          <a:p>
            <a:r>
              <a:rPr lang="en-PH" sz="1200" dirty="0">
                <a:solidFill>
                  <a:srgbClr val="FF0000"/>
                </a:solidFill>
              </a:rPr>
              <a:t>10 </a:t>
            </a:r>
            <a:r>
              <a:rPr lang="en-PH" sz="1200" dirty="0" err="1">
                <a:solidFill>
                  <a:srgbClr val="FF0000"/>
                </a:solidFill>
              </a:rPr>
              <a:t>Inv</a:t>
            </a:r>
            <a:r>
              <a:rPr lang="en-PH" sz="1200" dirty="0">
                <a:solidFill>
                  <a:srgbClr val="FF0000"/>
                </a:solidFill>
              </a:rPr>
              <a:t> Date</a:t>
            </a:r>
          </a:p>
          <a:p>
            <a:r>
              <a:rPr lang="en-PH" sz="1200" dirty="0">
                <a:solidFill>
                  <a:srgbClr val="FF0000"/>
                </a:solidFill>
              </a:rPr>
              <a:t>03 </a:t>
            </a:r>
            <a:r>
              <a:rPr lang="en-PH" sz="1200" dirty="0" err="1">
                <a:solidFill>
                  <a:srgbClr val="FF0000"/>
                </a:solidFill>
              </a:rPr>
              <a:t>Inv</a:t>
            </a:r>
            <a:r>
              <a:rPr lang="en-PH" sz="1200" dirty="0">
                <a:solidFill>
                  <a:srgbClr val="FF0000"/>
                </a:solidFill>
              </a:rPr>
              <a:t> Key</a:t>
            </a:r>
          </a:p>
          <a:p>
            <a:r>
              <a:rPr lang="en-PH" sz="1200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dirty="0">
                <a:solidFill>
                  <a:srgbClr val="FF0000"/>
                </a:solidFill>
              </a:rPr>
              <a:t>62 Delivered</a:t>
            </a:r>
          </a:p>
          <a:p>
            <a:r>
              <a:rPr lang="en-PH" sz="1200" dirty="0">
                <a:solidFill>
                  <a:srgbClr val="FF0000"/>
                </a:solidFill>
              </a:rPr>
              <a:t>46 Pieces</a:t>
            </a:r>
          </a:p>
          <a:p>
            <a:r>
              <a:rPr lang="en-PH" sz="1200" dirty="0">
                <a:solidFill>
                  <a:srgbClr val="FF0000"/>
                </a:solidFill>
              </a:rPr>
              <a:t>47 Pieces UOM</a:t>
            </a:r>
          </a:p>
          <a:p>
            <a:r>
              <a:rPr lang="en-PH" sz="1200" dirty="0">
                <a:solidFill>
                  <a:srgbClr val="FF0000"/>
                </a:solidFill>
              </a:rPr>
              <a:t>42 Actual </a:t>
            </a:r>
            <a:r>
              <a:rPr lang="en-PH" sz="1200" dirty="0" err="1">
                <a:solidFill>
                  <a:srgbClr val="FF0000"/>
                </a:solidFill>
              </a:rPr>
              <a:t>Wt</a:t>
            </a:r>
            <a:endParaRPr lang="en-PH" sz="1200" dirty="0">
              <a:solidFill>
                <a:srgbClr val="FF0000"/>
              </a:solidFill>
            </a:endParaRPr>
          </a:p>
          <a:p>
            <a:r>
              <a:rPr lang="en-PH" sz="1200" dirty="0">
                <a:solidFill>
                  <a:srgbClr val="FF0000"/>
                </a:solidFill>
              </a:rPr>
              <a:t>44 Actual </a:t>
            </a:r>
            <a:r>
              <a:rPr lang="en-PH" sz="1200" dirty="0" err="1">
                <a:solidFill>
                  <a:srgbClr val="FF0000"/>
                </a:solidFill>
              </a:rPr>
              <a:t>Wt</a:t>
            </a:r>
            <a:r>
              <a:rPr lang="en-PH" sz="1200" dirty="0">
                <a:solidFill>
                  <a:srgbClr val="FF0000"/>
                </a:solidFill>
              </a:rPr>
              <a:t> UOM</a:t>
            </a:r>
          </a:p>
          <a:p>
            <a:r>
              <a:rPr lang="en-PH" sz="1200" dirty="0">
                <a:solidFill>
                  <a:srgbClr val="FF0000"/>
                </a:solidFill>
              </a:rPr>
              <a:t>43 </a:t>
            </a:r>
            <a:r>
              <a:rPr lang="en-PH" sz="1200" dirty="0" err="1">
                <a:solidFill>
                  <a:srgbClr val="FF0000"/>
                </a:solidFill>
              </a:rPr>
              <a:t>Fncl</a:t>
            </a:r>
            <a:r>
              <a:rPr lang="en-PH" sz="1200" dirty="0">
                <a:solidFill>
                  <a:srgbClr val="FF0000"/>
                </a:solidFill>
              </a:rPr>
              <a:t> WT</a:t>
            </a:r>
          </a:p>
          <a:p>
            <a:r>
              <a:rPr lang="en-PH" sz="1200" dirty="0">
                <a:solidFill>
                  <a:srgbClr val="FF0000"/>
                </a:solidFill>
              </a:rPr>
              <a:t>45 </a:t>
            </a:r>
            <a:r>
              <a:rPr lang="en-PH" sz="1200" dirty="0" err="1">
                <a:solidFill>
                  <a:srgbClr val="FF0000"/>
                </a:solidFill>
              </a:rPr>
              <a:t>Fncl</a:t>
            </a:r>
            <a:r>
              <a:rPr lang="en-PH" sz="1200" dirty="0">
                <a:solidFill>
                  <a:srgbClr val="FF0000"/>
                </a:solidFill>
              </a:rPr>
              <a:t> WT UOM</a:t>
            </a:r>
          </a:p>
          <a:p>
            <a:r>
              <a:rPr lang="en-PH" sz="1200" dirty="0">
                <a:solidFill>
                  <a:srgbClr val="FF0000"/>
                </a:solidFill>
              </a:rPr>
              <a:t>72 Description</a:t>
            </a:r>
          </a:p>
          <a:p>
            <a:r>
              <a:rPr lang="en-PH" sz="1200" dirty="0">
                <a:solidFill>
                  <a:srgbClr val="FF0000"/>
                </a:solidFill>
              </a:rPr>
              <a:t>85 Line Item </a:t>
            </a:r>
            <a:r>
              <a:rPr lang="en-PH" sz="1200" dirty="0" err="1">
                <a:solidFill>
                  <a:srgbClr val="FF0000"/>
                </a:solidFill>
              </a:rPr>
              <a:t>Amt</a:t>
            </a:r>
            <a:endParaRPr lang="en-PH" sz="1200" dirty="0">
              <a:solidFill>
                <a:srgbClr val="FF0000"/>
              </a:solidFill>
            </a:endParaRPr>
          </a:p>
          <a:p>
            <a:r>
              <a:rPr lang="en-PH" sz="1200" dirty="0">
                <a:solidFill>
                  <a:srgbClr val="FF0000"/>
                </a:solidFill>
              </a:rPr>
              <a:t>14 FB </a:t>
            </a:r>
            <a:r>
              <a:rPr lang="en-PH" sz="1200" dirty="0" err="1">
                <a:solidFill>
                  <a:srgbClr val="FF0000"/>
                </a:solidFill>
              </a:rPr>
              <a:t>Amt</a:t>
            </a:r>
            <a:endParaRPr lang="en-PH" sz="1200" dirty="0">
              <a:solidFill>
                <a:srgbClr val="FF0000"/>
              </a:solidFill>
            </a:endParaRPr>
          </a:p>
          <a:p>
            <a:r>
              <a:rPr lang="en-PH" sz="1200" dirty="0">
                <a:solidFill>
                  <a:srgbClr val="FF0000"/>
                </a:solidFill>
              </a:rPr>
              <a:t>08 </a:t>
            </a:r>
            <a:r>
              <a:rPr lang="en-PH" sz="1200" dirty="0" err="1">
                <a:solidFill>
                  <a:srgbClr val="FF0000"/>
                </a:solidFill>
              </a:rPr>
              <a:t>Inv</a:t>
            </a:r>
            <a:r>
              <a:rPr lang="en-PH" sz="1200" dirty="0">
                <a:solidFill>
                  <a:srgbClr val="FF0000"/>
                </a:solidFill>
              </a:rPr>
              <a:t> </a:t>
            </a:r>
            <a:r>
              <a:rPr lang="en-PH" sz="1200" dirty="0" err="1">
                <a:solidFill>
                  <a:srgbClr val="FF0000"/>
                </a:solidFill>
              </a:rPr>
              <a:t>Amt</a:t>
            </a:r>
            <a:endParaRPr lang="en-PH" sz="1200" dirty="0">
              <a:solidFill>
                <a:srgbClr val="FF0000"/>
              </a:solidFill>
            </a:endParaRPr>
          </a:p>
          <a:p>
            <a:r>
              <a:rPr lang="en-PH" sz="1200" dirty="0">
                <a:solidFill>
                  <a:srgbClr val="FF0000"/>
                </a:solidFill>
              </a:rPr>
              <a:t>09 </a:t>
            </a:r>
            <a:r>
              <a:rPr lang="en-PH" sz="1200" dirty="0" err="1">
                <a:solidFill>
                  <a:srgbClr val="FF0000"/>
                </a:solidFill>
              </a:rPr>
              <a:t>Curr</a:t>
            </a:r>
            <a:endParaRPr lang="en-PH" sz="1200" dirty="0">
              <a:solidFill>
                <a:srgbClr val="FF0000"/>
              </a:solidFill>
            </a:endParaRPr>
          </a:p>
          <a:p>
            <a:r>
              <a:rPr lang="en-PH" sz="1200" dirty="0">
                <a:solidFill>
                  <a:srgbClr val="FF0000"/>
                </a:solidFill>
              </a:rPr>
              <a:t>38 </a:t>
            </a:r>
            <a:r>
              <a:rPr lang="en-PH" sz="1200" dirty="0" err="1">
                <a:solidFill>
                  <a:srgbClr val="FF0000"/>
                </a:solidFill>
              </a:rPr>
              <a:t>Srvc</a:t>
            </a:r>
            <a:r>
              <a:rPr lang="en-PH" sz="1200" dirty="0">
                <a:solidFill>
                  <a:srgbClr val="FF0000"/>
                </a:solidFill>
              </a:rPr>
              <a:t> Level</a:t>
            </a:r>
          </a:p>
          <a:p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5104278" y="3026414"/>
            <a:ext cx="369477" cy="223277"/>
          </a:xfrm>
          <a:prstGeom prst="wedgeRoundRectCallout">
            <a:avLst>
              <a:gd name="adj1" fmla="val -135259"/>
              <a:gd name="adj2" fmla="val 8169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14893" y="2442158"/>
            <a:ext cx="92227" cy="124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ounded Rectangular Callout 21"/>
          <p:cNvSpPr/>
          <p:nvPr/>
        </p:nvSpPr>
        <p:spPr>
          <a:xfrm>
            <a:off x="1106607" y="2750345"/>
            <a:ext cx="420379" cy="187811"/>
          </a:xfrm>
          <a:prstGeom prst="wedgeRoundRectCallout">
            <a:avLst>
              <a:gd name="adj1" fmla="val 167842"/>
              <a:gd name="adj2" fmla="val 16734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72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3522136" y="3649315"/>
            <a:ext cx="578689" cy="150019"/>
          </a:xfrm>
          <a:prstGeom prst="wedgeRoundRectCallout">
            <a:avLst>
              <a:gd name="adj1" fmla="val 102234"/>
              <a:gd name="adj2" fmla="val 23430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08/14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5364787" y="3848606"/>
            <a:ext cx="578689" cy="150019"/>
          </a:xfrm>
          <a:prstGeom prst="wedgeRoundRectCallout">
            <a:avLst>
              <a:gd name="adj1" fmla="val -111855"/>
              <a:gd name="adj2" fmla="val 11044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09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5256" y="3993898"/>
            <a:ext cx="451295" cy="152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/>
          <p:cNvSpPr/>
          <p:nvPr/>
        </p:nvSpPr>
        <p:spPr>
          <a:xfrm>
            <a:off x="3339515" y="2431569"/>
            <a:ext cx="398197" cy="132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/>
          <p:cNvSpPr/>
          <p:nvPr/>
        </p:nvSpPr>
        <p:spPr>
          <a:xfrm>
            <a:off x="4110157" y="2106374"/>
            <a:ext cx="686393" cy="154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Rectangle 27"/>
          <p:cNvSpPr/>
          <p:nvPr/>
        </p:nvSpPr>
        <p:spPr>
          <a:xfrm>
            <a:off x="1817613" y="2871579"/>
            <a:ext cx="1280906" cy="852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Rectangle 28"/>
          <p:cNvSpPr/>
          <p:nvPr/>
        </p:nvSpPr>
        <p:spPr>
          <a:xfrm>
            <a:off x="4353973" y="2808369"/>
            <a:ext cx="474105" cy="8991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Rectangle 29"/>
          <p:cNvSpPr/>
          <p:nvPr/>
        </p:nvSpPr>
        <p:spPr>
          <a:xfrm>
            <a:off x="2198954" y="2448119"/>
            <a:ext cx="256989" cy="115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ounded Rectangular Callout 31"/>
          <p:cNvSpPr/>
          <p:nvPr/>
        </p:nvSpPr>
        <p:spPr>
          <a:xfrm>
            <a:off x="1402619" y="2142361"/>
            <a:ext cx="400394" cy="215867"/>
          </a:xfrm>
          <a:prstGeom prst="wedgeRoundRectCallout">
            <a:avLst>
              <a:gd name="adj1" fmla="val 143886"/>
              <a:gd name="adj2" fmla="val 111760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46</a:t>
            </a:r>
          </a:p>
        </p:txBody>
      </p:sp>
      <p:sp>
        <p:nvSpPr>
          <p:cNvPr id="33" name="Rounded Rectangular Callout 32"/>
          <p:cNvSpPr/>
          <p:nvPr/>
        </p:nvSpPr>
        <p:spPr>
          <a:xfrm>
            <a:off x="974143" y="2356311"/>
            <a:ext cx="400394" cy="215867"/>
          </a:xfrm>
          <a:prstGeom prst="wedgeRoundRectCallout">
            <a:avLst>
              <a:gd name="adj1" fmla="val 298045"/>
              <a:gd name="adj2" fmla="val 4626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47</a:t>
            </a:r>
          </a:p>
        </p:txBody>
      </p:sp>
      <p:sp>
        <p:nvSpPr>
          <p:cNvPr id="34" name="Rounded Rectangular Callout 33"/>
          <p:cNvSpPr/>
          <p:nvPr/>
        </p:nvSpPr>
        <p:spPr>
          <a:xfrm>
            <a:off x="3285839" y="2751148"/>
            <a:ext cx="413580" cy="215867"/>
          </a:xfrm>
          <a:prstGeom prst="wedgeRoundRectCallout">
            <a:avLst>
              <a:gd name="adj1" fmla="val 47610"/>
              <a:gd name="adj2" fmla="val -15271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44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2589552" y="2588114"/>
            <a:ext cx="474975" cy="221395"/>
          </a:xfrm>
          <a:prstGeom prst="wedgeRoundRectCallout">
            <a:avLst>
              <a:gd name="adj1" fmla="val 121339"/>
              <a:gd name="adj2" fmla="val -72310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0221" y="4178308"/>
            <a:ext cx="2733534" cy="192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Rounded Rectangular Callout 38"/>
          <p:cNvSpPr/>
          <p:nvPr/>
        </p:nvSpPr>
        <p:spPr>
          <a:xfrm>
            <a:off x="5360634" y="4604756"/>
            <a:ext cx="578689" cy="150019"/>
          </a:xfrm>
          <a:prstGeom prst="wedgeRoundRectCallout">
            <a:avLst>
              <a:gd name="adj1" fmla="val -45857"/>
              <a:gd name="adj2" fmla="val -24000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38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4723" y="2450487"/>
            <a:ext cx="188779" cy="115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Rounded Rectangular Callout 42"/>
          <p:cNvSpPr/>
          <p:nvPr/>
        </p:nvSpPr>
        <p:spPr>
          <a:xfrm>
            <a:off x="3774392" y="2563914"/>
            <a:ext cx="420993" cy="221395"/>
          </a:xfrm>
          <a:prstGeom prst="wedgeRoundRectCallout">
            <a:avLst>
              <a:gd name="adj1" fmla="val 116026"/>
              <a:gd name="adj2" fmla="val -52630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43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8504" y="2446658"/>
            <a:ext cx="158086" cy="119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Rounded Rectangular Callout 44"/>
          <p:cNvSpPr/>
          <p:nvPr/>
        </p:nvSpPr>
        <p:spPr>
          <a:xfrm>
            <a:off x="5081228" y="2601620"/>
            <a:ext cx="423737" cy="215867"/>
          </a:xfrm>
          <a:prstGeom prst="wedgeRoundRectCallout">
            <a:avLst>
              <a:gd name="adj1" fmla="val -104613"/>
              <a:gd name="adj2" fmla="val -9616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16697" y="2442158"/>
            <a:ext cx="398197" cy="132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Rectangle 47"/>
          <p:cNvSpPr/>
          <p:nvPr/>
        </p:nvSpPr>
        <p:spPr>
          <a:xfrm>
            <a:off x="2307295" y="2108102"/>
            <a:ext cx="855527" cy="152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Rounded Rectangular Callout 48"/>
          <p:cNvSpPr/>
          <p:nvPr/>
        </p:nvSpPr>
        <p:spPr>
          <a:xfrm>
            <a:off x="4195385" y="1796629"/>
            <a:ext cx="578689" cy="150019"/>
          </a:xfrm>
          <a:prstGeom prst="wedgeRoundRectCallout">
            <a:avLst>
              <a:gd name="adj1" fmla="val -28121"/>
              <a:gd name="adj2" fmla="val 18917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68b</a:t>
            </a:r>
          </a:p>
        </p:txBody>
      </p:sp>
      <p:sp>
        <p:nvSpPr>
          <p:cNvPr id="51" name="Rounded Rectangular Callout 50"/>
          <p:cNvSpPr/>
          <p:nvPr/>
        </p:nvSpPr>
        <p:spPr>
          <a:xfrm>
            <a:off x="6363291" y="1757804"/>
            <a:ext cx="485625" cy="156779"/>
          </a:xfrm>
          <a:prstGeom prst="wedgeRoundRectCallout">
            <a:avLst>
              <a:gd name="adj1" fmla="val -124333"/>
              <a:gd name="adj2" fmla="val 155778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62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10585" y="2096667"/>
            <a:ext cx="744553" cy="184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extBox 1"/>
          <p:cNvSpPr txBox="1"/>
          <p:nvPr/>
        </p:nvSpPr>
        <p:spPr>
          <a:xfrm>
            <a:off x="1077900" y="5034496"/>
            <a:ext cx="5742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Note: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Data Entry should be able to capture </a:t>
            </a:r>
            <a:r>
              <a:rPr lang="en-US" sz="1200" b="1" dirty="0" smtClean="0">
                <a:solidFill>
                  <a:srgbClr val="FF0000"/>
                </a:solidFill>
              </a:rPr>
              <a:t>from </a:t>
            </a:r>
            <a:r>
              <a:rPr lang="en-US" sz="1200" b="1" dirty="0">
                <a:solidFill>
                  <a:srgbClr val="FF0000"/>
                </a:solidFill>
              </a:rPr>
              <a:t>and to information (Address) from what was reflected in the commercial invoice whenever available. </a:t>
            </a:r>
            <a:r>
              <a:rPr lang="en-US" sz="1200" b="1" dirty="0" smtClean="0">
                <a:solidFill>
                  <a:srgbClr val="FF0000"/>
                </a:solidFill>
              </a:rPr>
              <a:t>If not provided then use  the BOL.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01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756D0-25D1-4CFF-BFCA-84C13EB8B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0"/>
            <a:ext cx="887505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5CE067-EE14-4E2C-97A0-829504CB894C}"/>
              </a:ext>
            </a:extLst>
          </p:cNvPr>
          <p:cNvSpPr/>
          <p:nvPr/>
        </p:nvSpPr>
        <p:spPr>
          <a:xfrm>
            <a:off x="629770" y="857710"/>
            <a:ext cx="1179980" cy="3805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ounded Rectangular Callout 16">
            <a:extLst>
              <a:ext uri="{FF2B5EF4-FFF2-40B4-BE49-F238E27FC236}">
                <a16:creationId xmlns:a16="http://schemas.microsoft.com/office/drawing/2014/main" id="{0A7BA1B2-74E0-4DE4-8344-C83B308AD6BB}"/>
              </a:ext>
            </a:extLst>
          </p:cNvPr>
          <p:cNvSpPr/>
          <p:nvPr/>
        </p:nvSpPr>
        <p:spPr>
          <a:xfrm>
            <a:off x="2305050" y="1047979"/>
            <a:ext cx="500758" cy="168391"/>
          </a:xfrm>
          <a:prstGeom prst="wedgeRoundRectCallout">
            <a:avLst>
              <a:gd name="adj1" fmla="val -158080"/>
              <a:gd name="adj2" fmla="val -4489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13AB9-E2E3-41A7-AC36-69447CA2CE54}"/>
              </a:ext>
            </a:extLst>
          </p:cNvPr>
          <p:cNvSpPr txBox="1"/>
          <p:nvPr/>
        </p:nvSpPr>
        <p:spPr>
          <a:xfrm>
            <a:off x="7030684" y="1966623"/>
            <a:ext cx="1790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dirty="0">
                <a:solidFill>
                  <a:srgbClr val="FF0000"/>
                </a:solidFill>
              </a:rPr>
              <a:t>27 SHIPPER </a:t>
            </a:r>
            <a:r>
              <a:rPr lang="en-PH" sz="1200" dirty="0" smtClean="0">
                <a:solidFill>
                  <a:srgbClr val="FF0000"/>
                </a:solidFill>
              </a:rPr>
              <a:t>INVOICE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30 CONSIGNEE INVOICE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CE067-EE14-4E2C-97A0-829504CB894C}"/>
              </a:ext>
            </a:extLst>
          </p:cNvPr>
          <p:cNvSpPr/>
          <p:nvPr/>
        </p:nvSpPr>
        <p:spPr>
          <a:xfrm>
            <a:off x="3473118" y="2821493"/>
            <a:ext cx="1179980" cy="696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ounded Rectangular Callout 16">
            <a:extLst>
              <a:ext uri="{FF2B5EF4-FFF2-40B4-BE49-F238E27FC236}">
                <a16:creationId xmlns:a16="http://schemas.microsoft.com/office/drawing/2014/main" id="{0A7BA1B2-74E0-4DE4-8344-C83B308AD6BB}"/>
              </a:ext>
            </a:extLst>
          </p:cNvPr>
          <p:cNvSpPr/>
          <p:nvPr/>
        </p:nvSpPr>
        <p:spPr>
          <a:xfrm>
            <a:off x="4402719" y="2428288"/>
            <a:ext cx="500758" cy="168391"/>
          </a:xfrm>
          <a:prstGeom prst="wedgeRoundRectCallout">
            <a:avLst>
              <a:gd name="adj1" fmla="val -79822"/>
              <a:gd name="adj2" fmla="val 255058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30</a:t>
            </a:r>
            <a:endParaRPr lang="en-PH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3078384" y="822750"/>
            <a:ext cx="5742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Note: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Data Entry should be able to capture </a:t>
            </a:r>
            <a:r>
              <a:rPr lang="en-US" sz="1200" b="1" dirty="0" smtClean="0">
                <a:solidFill>
                  <a:srgbClr val="FF0000"/>
                </a:solidFill>
              </a:rPr>
              <a:t>from </a:t>
            </a:r>
            <a:r>
              <a:rPr lang="en-US" sz="1200" b="1" dirty="0">
                <a:solidFill>
                  <a:srgbClr val="FF0000"/>
                </a:solidFill>
              </a:rPr>
              <a:t>and to information (Address) from what was reflected in the commercial invoice whenever available. </a:t>
            </a:r>
            <a:r>
              <a:rPr lang="en-US" sz="1200" b="1" dirty="0" smtClean="0">
                <a:solidFill>
                  <a:srgbClr val="FF0000"/>
                </a:solidFill>
              </a:rPr>
              <a:t>If not provided then use  the BOL.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2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0976A-6048-4A68-904C-07EF5024E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222"/>
          <a:stretch/>
        </p:blipFill>
        <p:spPr>
          <a:xfrm>
            <a:off x="143996" y="1209674"/>
            <a:ext cx="7706396" cy="43338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911652-DB7B-4B44-B2FD-EA54044DE587}"/>
              </a:ext>
            </a:extLst>
          </p:cNvPr>
          <p:cNvSpPr/>
          <p:nvPr/>
        </p:nvSpPr>
        <p:spPr>
          <a:xfrm>
            <a:off x="1609725" y="2295985"/>
            <a:ext cx="1104900" cy="551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ounded Rectangular Callout 16">
            <a:extLst>
              <a:ext uri="{FF2B5EF4-FFF2-40B4-BE49-F238E27FC236}">
                <a16:creationId xmlns:a16="http://schemas.microsoft.com/office/drawing/2014/main" id="{7FD4611D-6D7E-497B-A710-F2D9D7D41C6C}"/>
              </a:ext>
            </a:extLst>
          </p:cNvPr>
          <p:cNvSpPr/>
          <p:nvPr/>
        </p:nvSpPr>
        <p:spPr>
          <a:xfrm>
            <a:off x="3143250" y="1863319"/>
            <a:ext cx="500758" cy="168391"/>
          </a:xfrm>
          <a:prstGeom prst="wedgeRoundRectCallout">
            <a:avLst>
              <a:gd name="adj1" fmla="val -148950"/>
              <a:gd name="adj2" fmla="val 371420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11652-DB7B-4B44-B2FD-EA54044DE587}"/>
              </a:ext>
            </a:extLst>
          </p:cNvPr>
          <p:cNvSpPr/>
          <p:nvPr/>
        </p:nvSpPr>
        <p:spPr>
          <a:xfrm>
            <a:off x="4572000" y="2295984"/>
            <a:ext cx="1306286" cy="778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ounded Rectangular Callout 16">
            <a:extLst>
              <a:ext uri="{FF2B5EF4-FFF2-40B4-BE49-F238E27FC236}">
                <a16:creationId xmlns:a16="http://schemas.microsoft.com/office/drawing/2014/main" id="{7FD4611D-6D7E-497B-A710-F2D9D7D41C6C}"/>
              </a:ext>
            </a:extLst>
          </p:cNvPr>
          <p:cNvSpPr/>
          <p:nvPr/>
        </p:nvSpPr>
        <p:spPr>
          <a:xfrm>
            <a:off x="4854484" y="2066229"/>
            <a:ext cx="500758" cy="168391"/>
          </a:xfrm>
          <a:prstGeom prst="wedgeRoundRectCallout">
            <a:avLst>
              <a:gd name="adj1" fmla="val 2350"/>
              <a:gd name="adj2" fmla="val 19041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30</a:t>
            </a:r>
            <a:endParaRPr lang="en-PH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13AB9-E2E3-41A7-AC36-69447CA2CE54}"/>
              </a:ext>
            </a:extLst>
          </p:cNvPr>
          <p:cNvSpPr txBox="1"/>
          <p:nvPr/>
        </p:nvSpPr>
        <p:spPr>
          <a:xfrm>
            <a:off x="7353991" y="2377403"/>
            <a:ext cx="1790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dirty="0">
                <a:solidFill>
                  <a:srgbClr val="FF0000"/>
                </a:solidFill>
              </a:rPr>
              <a:t>27 SHIPPER </a:t>
            </a:r>
            <a:r>
              <a:rPr lang="en-PH" sz="1200" dirty="0" smtClean="0">
                <a:solidFill>
                  <a:srgbClr val="FF0000"/>
                </a:solidFill>
              </a:rPr>
              <a:t>INVOICE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30 CONSIGNEE INVOICE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2474" y="789052"/>
            <a:ext cx="5742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Note: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Data Entry should be able to capture </a:t>
            </a:r>
            <a:r>
              <a:rPr lang="en-US" sz="1200" b="1" dirty="0" smtClean="0">
                <a:solidFill>
                  <a:srgbClr val="FF0000"/>
                </a:solidFill>
              </a:rPr>
              <a:t>from </a:t>
            </a:r>
            <a:r>
              <a:rPr lang="en-US" sz="1200" b="1" dirty="0">
                <a:solidFill>
                  <a:srgbClr val="FF0000"/>
                </a:solidFill>
              </a:rPr>
              <a:t>and to information (Address) from what was reflected in the commercial invoice whenever available. </a:t>
            </a:r>
            <a:r>
              <a:rPr lang="en-US" sz="1200" b="1" dirty="0" smtClean="0">
                <a:solidFill>
                  <a:srgbClr val="FF0000"/>
                </a:solidFill>
              </a:rPr>
              <a:t>If not provided then use  the BOL.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60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0911F5-12B0-4DFA-AB74-2BCE98A472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6"/>
          <a:stretch/>
        </p:blipFill>
        <p:spPr>
          <a:xfrm>
            <a:off x="1239730" y="0"/>
            <a:ext cx="4740490" cy="64865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882738-D327-4872-B20B-0D85C68BC002}"/>
              </a:ext>
            </a:extLst>
          </p:cNvPr>
          <p:cNvSpPr/>
          <p:nvPr/>
        </p:nvSpPr>
        <p:spPr>
          <a:xfrm>
            <a:off x="1715060" y="3238730"/>
            <a:ext cx="1090748" cy="704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ounded Rectangular Callout 16">
            <a:extLst>
              <a:ext uri="{FF2B5EF4-FFF2-40B4-BE49-F238E27FC236}">
                <a16:creationId xmlns:a16="http://schemas.microsoft.com/office/drawing/2014/main" id="{1AA6ED3A-B9E8-4D2F-BCB9-EF73301D60AE}"/>
              </a:ext>
            </a:extLst>
          </p:cNvPr>
          <p:cNvSpPr/>
          <p:nvPr/>
        </p:nvSpPr>
        <p:spPr>
          <a:xfrm>
            <a:off x="825500" y="3506844"/>
            <a:ext cx="500758" cy="168391"/>
          </a:xfrm>
          <a:prstGeom prst="wedgeRoundRectCallout">
            <a:avLst>
              <a:gd name="adj1" fmla="val 132310"/>
              <a:gd name="adj2" fmla="val -29813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A7B07E-DD27-46E3-8B76-813642F7B2C7}"/>
              </a:ext>
            </a:extLst>
          </p:cNvPr>
          <p:cNvSpPr txBox="1"/>
          <p:nvPr/>
        </p:nvSpPr>
        <p:spPr>
          <a:xfrm>
            <a:off x="6073140" y="2078474"/>
            <a:ext cx="23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27 SHIPPER INVOICE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30 </a:t>
            </a:r>
            <a:r>
              <a:rPr lang="en-PH" sz="1200" dirty="0">
                <a:solidFill>
                  <a:srgbClr val="FF0000"/>
                </a:solidFill>
              </a:rPr>
              <a:t>CONSIGNEE INVOICE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882738-D327-4872-B20B-0D85C68BC002}"/>
              </a:ext>
            </a:extLst>
          </p:cNvPr>
          <p:cNvSpPr/>
          <p:nvPr/>
        </p:nvSpPr>
        <p:spPr>
          <a:xfrm>
            <a:off x="3435910" y="1047980"/>
            <a:ext cx="1028140" cy="456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ounded Rectangular Callout 16">
            <a:extLst>
              <a:ext uri="{FF2B5EF4-FFF2-40B4-BE49-F238E27FC236}">
                <a16:creationId xmlns:a16="http://schemas.microsoft.com/office/drawing/2014/main" id="{1AA6ED3A-B9E8-4D2F-BCB9-EF73301D60AE}"/>
              </a:ext>
            </a:extLst>
          </p:cNvPr>
          <p:cNvSpPr/>
          <p:nvPr/>
        </p:nvSpPr>
        <p:spPr>
          <a:xfrm>
            <a:off x="2673350" y="1192269"/>
            <a:ext cx="500758" cy="168391"/>
          </a:xfrm>
          <a:prstGeom prst="wedgeRoundRectCallout">
            <a:avLst>
              <a:gd name="adj1" fmla="val 132310"/>
              <a:gd name="adj2" fmla="val -29813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27</a:t>
            </a:r>
            <a:endParaRPr lang="en-PH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715060" y="5280450"/>
            <a:ext cx="5742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Note: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Data Entry should be able to capture </a:t>
            </a:r>
            <a:r>
              <a:rPr lang="en-US" sz="1200" b="1" dirty="0" smtClean="0">
                <a:solidFill>
                  <a:srgbClr val="FF0000"/>
                </a:solidFill>
              </a:rPr>
              <a:t>from </a:t>
            </a:r>
            <a:r>
              <a:rPr lang="en-US" sz="1200" b="1" dirty="0">
                <a:solidFill>
                  <a:srgbClr val="FF0000"/>
                </a:solidFill>
              </a:rPr>
              <a:t>and to information (Address) from what was reflected in the commercial invoice whenever available. </a:t>
            </a:r>
            <a:r>
              <a:rPr lang="en-US" sz="1200" b="1" dirty="0" smtClean="0">
                <a:solidFill>
                  <a:srgbClr val="FF0000"/>
                </a:solidFill>
              </a:rPr>
              <a:t>If not provided then use  the BOL.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33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75" y="98172"/>
            <a:ext cx="6524625" cy="66830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48101" y="2410690"/>
            <a:ext cx="602389" cy="137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/>
          <p:cNvSpPr txBox="1"/>
          <p:nvPr/>
        </p:nvSpPr>
        <p:spPr>
          <a:xfrm>
            <a:off x="7316054" y="513077"/>
            <a:ext cx="20937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68A HAWB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36 FREIGHT TERMS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95 PCSCNT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96 GROSSWT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98 WTUOM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97 NETWT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90 PRODDESC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100 DIM UOM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99 DIM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61 PICKUP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31 BOL CONSIGNEE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31.9 BOL CONSIGNEE PORT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28 BOL SHIPPER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28.9 BOL SHIPPER PORT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5386601" y="2059398"/>
            <a:ext cx="439215" cy="251242"/>
          </a:xfrm>
          <a:prstGeom prst="wedgeRoundRectCallout">
            <a:avLst>
              <a:gd name="adj1" fmla="val -59408"/>
              <a:gd name="adj2" fmla="val 102762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36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6493483" y="2973350"/>
            <a:ext cx="400394" cy="215867"/>
          </a:xfrm>
          <a:prstGeom prst="wedgeRoundRectCallout">
            <a:avLst>
              <a:gd name="adj1" fmla="val -131931"/>
              <a:gd name="adj2" fmla="val 15630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90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1198225" y="3256332"/>
            <a:ext cx="400394" cy="215867"/>
          </a:xfrm>
          <a:prstGeom prst="wedgeRoundRectCallout">
            <a:avLst>
              <a:gd name="adj1" fmla="val 124294"/>
              <a:gd name="adj2" fmla="val -1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95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2161138" y="3019479"/>
            <a:ext cx="441432" cy="198227"/>
          </a:xfrm>
          <a:prstGeom prst="wedgeRoundRectCallout">
            <a:avLst>
              <a:gd name="adj1" fmla="val -2126"/>
              <a:gd name="adj2" fmla="val 129541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96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2797556" y="3018251"/>
            <a:ext cx="400394" cy="215867"/>
          </a:xfrm>
          <a:prstGeom prst="wedgeRoundRectCallout">
            <a:avLst>
              <a:gd name="adj1" fmla="val -96325"/>
              <a:gd name="adj2" fmla="val 11541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40046" y="211324"/>
            <a:ext cx="848376" cy="100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/>
          <p:cNvSpPr/>
          <p:nvPr/>
        </p:nvSpPr>
        <p:spPr>
          <a:xfrm>
            <a:off x="5619335" y="3364266"/>
            <a:ext cx="613824" cy="13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/>
          <p:cNvSpPr/>
          <p:nvPr/>
        </p:nvSpPr>
        <p:spPr>
          <a:xfrm>
            <a:off x="2926216" y="3643233"/>
            <a:ext cx="868238" cy="1558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ounded Rectangular Callout 23"/>
          <p:cNvSpPr/>
          <p:nvPr/>
        </p:nvSpPr>
        <p:spPr>
          <a:xfrm>
            <a:off x="6693680" y="98172"/>
            <a:ext cx="484462" cy="251242"/>
          </a:xfrm>
          <a:prstGeom prst="wedgeRoundRectCallout">
            <a:avLst>
              <a:gd name="adj1" fmla="val -127355"/>
              <a:gd name="adj2" fmla="val 17611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68a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3484" y="3328616"/>
            <a:ext cx="234962" cy="16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/>
          <p:cNvSpPr/>
          <p:nvPr/>
        </p:nvSpPr>
        <p:spPr>
          <a:xfrm>
            <a:off x="2266241" y="3345210"/>
            <a:ext cx="238303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ounded Rectangular Callout 26"/>
          <p:cNvSpPr/>
          <p:nvPr/>
        </p:nvSpPr>
        <p:spPr>
          <a:xfrm>
            <a:off x="1789636" y="4065699"/>
            <a:ext cx="476606" cy="171827"/>
          </a:xfrm>
          <a:prstGeom prst="wedgeRoundRectCallout">
            <a:avLst>
              <a:gd name="adj1" fmla="val 52841"/>
              <a:gd name="adj2" fmla="val -22118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100</a:t>
            </a:r>
          </a:p>
        </p:txBody>
      </p:sp>
      <p:sp>
        <p:nvSpPr>
          <p:cNvPr id="28" name="Rounded Rectangular Callout 27"/>
          <p:cNvSpPr/>
          <p:nvPr/>
        </p:nvSpPr>
        <p:spPr>
          <a:xfrm>
            <a:off x="3946095" y="2887436"/>
            <a:ext cx="476606" cy="171827"/>
          </a:xfrm>
          <a:prstGeom prst="wedgeRoundRectCallout">
            <a:avLst>
              <a:gd name="adj1" fmla="val -80904"/>
              <a:gd name="adj2" fmla="val 24316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97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1138" y="3651064"/>
            <a:ext cx="252632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Rectangle 29"/>
          <p:cNvSpPr/>
          <p:nvPr/>
        </p:nvSpPr>
        <p:spPr>
          <a:xfrm>
            <a:off x="3611704" y="3345210"/>
            <a:ext cx="256758" cy="158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/>
          <p:cNvSpPr/>
          <p:nvPr/>
        </p:nvSpPr>
        <p:spPr>
          <a:xfrm>
            <a:off x="2504545" y="3345085"/>
            <a:ext cx="141880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ounded Rectangular Callout 31"/>
          <p:cNvSpPr/>
          <p:nvPr/>
        </p:nvSpPr>
        <p:spPr>
          <a:xfrm>
            <a:off x="3012422" y="4036327"/>
            <a:ext cx="476606" cy="171827"/>
          </a:xfrm>
          <a:prstGeom prst="wedgeRoundRectCallout">
            <a:avLst>
              <a:gd name="adj1" fmla="val 52841"/>
              <a:gd name="adj2" fmla="val -22118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99</a:t>
            </a:r>
          </a:p>
        </p:txBody>
      </p:sp>
      <p:sp>
        <p:nvSpPr>
          <p:cNvPr id="33" name="Rounded Rectangular Callout 32"/>
          <p:cNvSpPr/>
          <p:nvPr/>
        </p:nvSpPr>
        <p:spPr>
          <a:xfrm>
            <a:off x="5186404" y="5602502"/>
            <a:ext cx="400394" cy="215867"/>
          </a:xfrm>
          <a:prstGeom prst="wedgeRoundRectCallout">
            <a:avLst>
              <a:gd name="adj1" fmla="val -131931"/>
              <a:gd name="adj2" fmla="val 15630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/>
              <a:t>61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8048" y="6078197"/>
            <a:ext cx="1208356" cy="13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Rectangle 34"/>
          <p:cNvSpPr/>
          <p:nvPr/>
        </p:nvSpPr>
        <p:spPr>
          <a:xfrm>
            <a:off x="1727018" y="397908"/>
            <a:ext cx="2630053" cy="524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1682726" y="1009423"/>
            <a:ext cx="2630053" cy="524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ounded Rectangular Callout 36"/>
          <p:cNvSpPr/>
          <p:nvPr/>
        </p:nvSpPr>
        <p:spPr>
          <a:xfrm>
            <a:off x="1114157" y="501814"/>
            <a:ext cx="484462" cy="251242"/>
          </a:xfrm>
          <a:prstGeom prst="wedgeRoundRectCallout">
            <a:avLst>
              <a:gd name="adj1" fmla="val 118014"/>
              <a:gd name="adj2" fmla="val -58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28</a:t>
            </a:r>
            <a:endParaRPr lang="en-PH" sz="12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1114157" y="1156698"/>
            <a:ext cx="484462" cy="251242"/>
          </a:xfrm>
          <a:prstGeom prst="wedgeRoundRectCallout">
            <a:avLst>
              <a:gd name="adj1" fmla="val 118014"/>
              <a:gd name="adj2" fmla="val -58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31</a:t>
            </a:r>
            <a:endParaRPr lang="en-PH" sz="1200" dirty="0"/>
          </a:p>
        </p:txBody>
      </p:sp>
      <p:sp>
        <p:nvSpPr>
          <p:cNvPr id="39" name="Rectangle 38"/>
          <p:cNvSpPr/>
          <p:nvPr/>
        </p:nvSpPr>
        <p:spPr>
          <a:xfrm>
            <a:off x="1950965" y="187352"/>
            <a:ext cx="315276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ectangle 39"/>
          <p:cNvSpPr/>
          <p:nvPr/>
        </p:nvSpPr>
        <p:spPr>
          <a:xfrm>
            <a:off x="1646541" y="2410690"/>
            <a:ext cx="315276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Rounded Rectangular Callout 40"/>
          <p:cNvSpPr/>
          <p:nvPr/>
        </p:nvSpPr>
        <p:spPr>
          <a:xfrm>
            <a:off x="840442" y="2298672"/>
            <a:ext cx="666558" cy="251242"/>
          </a:xfrm>
          <a:prstGeom prst="wedgeRoundRectCallout">
            <a:avLst>
              <a:gd name="adj1" fmla="val 90583"/>
              <a:gd name="adj2" fmla="val 27949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31.9(b)</a:t>
            </a:r>
            <a:endParaRPr lang="en-PH" sz="1200" dirty="0"/>
          </a:p>
        </p:txBody>
      </p:sp>
      <p:sp>
        <p:nvSpPr>
          <p:cNvPr id="42" name="Rounded Rectangular Callout 41"/>
          <p:cNvSpPr/>
          <p:nvPr/>
        </p:nvSpPr>
        <p:spPr>
          <a:xfrm>
            <a:off x="1211971" y="98172"/>
            <a:ext cx="592208" cy="251242"/>
          </a:xfrm>
          <a:prstGeom prst="wedgeRoundRectCallout">
            <a:avLst>
              <a:gd name="adj1" fmla="val 93264"/>
              <a:gd name="adj2" fmla="val 267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28.9</a:t>
            </a:r>
            <a:endParaRPr lang="en-PH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3927477" y="3766638"/>
            <a:ext cx="5216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Note: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Data Entry should be able to capture </a:t>
            </a:r>
            <a:r>
              <a:rPr lang="en-US" sz="1200" b="1" dirty="0" smtClean="0">
                <a:solidFill>
                  <a:srgbClr val="FF0000"/>
                </a:solidFill>
              </a:rPr>
              <a:t>from </a:t>
            </a:r>
            <a:r>
              <a:rPr lang="en-US" sz="1200" b="1" dirty="0">
                <a:solidFill>
                  <a:srgbClr val="FF0000"/>
                </a:solidFill>
              </a:rPr>
              <a:t>and to information (Address) from what was reflected in the commercial invoice whenever available. </a:t>
            </a:r>
            <a:r>
              <a:rPr lang="en-US" sz="1200" b="1" dirty="0" smtClean="0">
                <a:solidFill>
                  <a:srgbClr val="FF0000"/>
                </a:solidFill>
              </a:rPr>
              <a:t>If not provided then use  the BOL. 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646541" y="2641113"/>
            <a:ext cx="2029176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Rounded Rectangular Callout 44"/>
          <p:cNvSpPr/>
          <p:nvPr/>
        </p:nvSpPr>
        <p:spPr>
          <a:xfrm>
            <a:off x="894859" y="2636194"/>
            <a:ext cx="592208" cy="251242"/>
          </a:xfrm>
          <a:prstGeom prst="wedgeRoundRectCallout">
            <a:avLst>
              <a:gd name="adj1" fmla="val 104522"/>
              <a:gd name="adj2" fmla="val -11226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34</a:t>
            </a:r>
            <a:endParaRPr lang="en-PH" sz="1200" dirty="0"/>
          </a:p>
        </p:txBody>
      </p:sp>
      <p:sp>
        <p:nvSpPr>
          <p:cNvPr id="46" name="Rectangle 45"/>
          <p:cNvSpPr/>
          <p:nvPr/>
        </p:nvSpPr>
        <p:spPr>
          <a:xfrm>
            <a:off x="1738159" y="2202758"/>
            <a:ext cx="1251757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Rounded Rectangular Callout 46"/>
          <p:cNvSpPr/>
          <p:nvPr/>
        </p:nvSpPr>
        <p:spPr>
          <a:xfrm>
            <a:off x="1054333" y="1946564"/>
            <a:ext cx="592208" cy="251242"/>
          </a:xfrm>
          <a:prstGeom prst="wedgeRoundRectCallout">
            <a:avLst>
              <a:gd name="adj1" fmla="val 78788"/>
              <a:gd name="adj2" fmla="val 84817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33</a:t>
            </a:r>
            <a:endParaRPr lang="en-PH" sz="1200" dirty="0"/>
          </a:p>
        </p:txBody>
      </p:sp>
      <p:sp>
        <p:nvSpPr>
          <p:cNvPr id="48" name="Rectangle 47"/>
          <p:cNvSpPr/>
          <p:nvPr/>
        </p:nvSpPr>
        <p:spPr>
          <a:xfrm>
            <a:off x="3331390" y="2405475"/>
            <a:ext cx="315276" cy="147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Rounded Rectangular Callout 48"/>
          <p:cNvSpPr/>
          <p:nvPr/>
        </p:nvSpPr>
        <p:spPr>
          <a:xfrm>
            <a:off x="3441456" y="1983819"/>
            <a:ext cx="705996" cy="251242"/>
          </a:xfrm>
          <a:prstGeom prst="wedgeRoundRectCallout">
            <a:avLst>
              <a:gd name="adj1" fmla="val -46132"/>
              <a:gd name="adj2" fmla="val 140421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31.9(a)</a:t>
            </a:r>
            <a:endParaRPr lang="en-PH" sz="1200" dirty="0"/>
          </a:p>
        </p:txBody>
      </p:sp>
      <p:sp>
        <p:nvSpPr>
          <p:cNvPr id="50" name="Rounded Rectangle 49"/>
          <p:cNvSpPr/>
          <p:nvPr/>
        </p:nvSpPr>
        <p:spPr>
          <a:xfrm>
            <a:off x="-934466" y="4597635"/>
            <a:ext cx="2542024" cy="840201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200" b="1" dirty="0" smtClean="0">
                <a:solidFill>
                  <a:srgbClr val="FF0000"/>
                </a:solidFill>
              </a:rPr>
              <a:t>NOTE</a:t>
            </a:r>
            <a:r>
              <a:rPr lang="en-PH" sz="1200" dirty="0" smtClean="0">
                <a:solidFill>
                  <a:srgbClr val="FF0000"/>
                </a:solidFill>
              </a:rPr>
              <a:t>: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If there is no port code in </a:t>
            </a:r>
            <a:r>
              <a:rPr lang="en-PH" sz="1200" b="1" dirty="0" smtClean="0">
                <a:solidFill>
                  <a:srgbClr val="FF0000"/>
                </a:solidFill>
              </a:rPr>
              <a:t>31.9a</a:t>
            </a:r>
            <a:r>
              <a:rPr lang="en-PH" sz="1200" dirty="0" smtClean="0">
                <a:solidFill>
                  <a:srgbClr val="FF0000"/>
                </a:solidFill>
              </a:rPr>
              <a:t>, use the port code at </a:t>
            </a:r>
            <a:r>
              <a:rPr lang="en-PH" sz="1200" b="1" dirty="0" smtClean="0">
                <a:solidFill>
                  <a:srgbClr val="FF0000"/>
                </a:solidFill>
              </a:rPr>
              <a:t>31.9b. 31.9a </a:t>
            </a:r>
            <a:r>
              <a:rPr lang="en-PH" sz="1200" dirty="0" smtClean="0">
                <a:solidFill>
                  <a:srgbClr val="FF0000"/>
                </a:solidFill>
              </a:rPr>
              <a:t>should prevail if not empty</a:t>
            </a:r>
            <a:endParaRPr lang="en-PH" sz="1200" dirty="0">
              <a:solidFill>
                <a:srgbClr val="FF0000"/>
              </a:solidFill>
            </a:endParaRPr>
          </a:p>
        </p:txBody>
      </p:sp>
      <p:cxnSp>
        <p:nvCxnSpPr>
          <p:cNvPr id="51" name="Elbow Connector 50"/>
          <p:cNvCxnSpPr>
            <a:stCxn id="41" idx="1"/>
            <a:endCxn id="50" idx="0"/>
          </p:cNvCxnSpPr>
          <p:nvPr/>
        </p:nvCxnSpPr>
        <p:spPr>
          <a:xfrm rot="10800000" flipV="1">
            <a:off x="336546" y="2424293"/>
            <a:ext cx="503896" cy="217334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71437"/>
            <a:ext cx="7048500" cy="62579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4309" y="747367"/>
            <a:ext cx="4796516" cy="524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ounded Rectangular Callout 16">
            <a:extLst>
              <a:ext uri="{FF2B5EF4-FFF2-40B4-BE49-F238E27FC236}">
                <a16:creationId xmlns:a16="http://schemas.microsoft.com/office/drawing/2014/main" id="{1AA6ED3A-B9E8-4D2F-BCB9-EF73301D60AE}"/>
              </a:ext>
            </a:extLst>
          </p:cNvPr>
          <p:cNvSpPr/>
          <p:nvPr/>
        </p:nvSpPr>
        <p:spPr>
          <a:xfrm>
            <a:off x="1025525" y="839617"/>
            <a:ext cx="500758" cy="168391"/>
          </a:xfrm>
          <a:prstGeom prst="wedgeRoundRectCallout">
            <a:avLst>
              <a:gd name="adj1" fmla="val 132310"/>
              <a:gd name="adj2" fmla="val -29813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27</a:t>
            </a:r>
            <a:endParaRPr lang="en-PH" sz="1200" dirty="0"/>
          </a:p>
        </p:txBody>
      </p:sp>
      <p:sp>
        <p:nvSpPr>
          <p:cNvPr id="8" name="Rounded Rectangular Callout 16">
            <a:extLst>
              <a:ext uri="{FF2B5EF4-FFF2-40B4-BE49-F238E27FC236}">
                <a16:creationId xmlns:a16="http://schemas.microsoft.com/office/drawing/2014/main" id="{1AA6ED3A-B9E8-4D2F-BCB9-EF73301D60AE}"/>
              </a:ext>
            </a:extLst>
          </p:cNvPr>
          <p:cNvSpPr/>
          <p:nvPr/>
        </p:nvSpPr>
        <p:spPr>
          <a:xfrm>
            <a:off x="358775" y="2658892"/>
            <a:ext cx="500758" cy="168391"/>
          </a:xfrm>
          <a:prstGeom prst="wedgeRoundRectCallout">
            <a:avLst>
              <a:gd name="adj1" fmla="val 132310"/>
              <a:gd name="adj2" fmla="val -29813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200" dirty="0" smtClean="0"/>
              <a:t>30</a:t>
            </a:r>
            <a:endParaRPr lang="en-PH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A7B07E-DD27-46E3-8B76-813642F7B2C7}"/>
              </a:ext>
            </a:extLst>
          </p:cNvPr>
          <p:cNvSpPr txBox="1"/>
          <p:nvPr/>
        </p:nvSpPr>
        <p:spPr>
          <a:xfrm>
            <a:off x="6904355" y="608784"/>
            <a:ext cx="23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27 SHIPPER INVOICE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30 </a:t>
            </a:r>
            <a:r>
              <a:rPr lang="en-PH" sz="1200" dirty="0">
                <a:solidFill>
                  <a:srgbClr val="FF0000"/>
                </a:solidFill>
              </a:rPr>
              <a:t>CONSIGNEE 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5060" y="5280450"/>
            <a:ext cx="5742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Note: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Data Entry should be able to capture </a:t>
            </a:r>
            <a:r>
              <a:rPr lang="en-US" sz="1200" b="1" dirty="0" smtClean="0">
                <a:solidFill>
                  <a:srgbClr val="FF0000"/>
                </a:solidFill>
              </a:rPr>
              <a:t>from </a:t>
            </a:r>
            <a:r>
              <a:rPr lang="en-US" sz="1200" b="1" dirty="0">
                <a:solidFill>
                  <a:srgbClr val="FF0000"/>
                </a:solidFill>
              </a:rPr>
              <a:t>and to information (Address) from what was reflected in the commercial invoice whenever available. </a:t>
            </a:r>
            <a:r>
              <a:rPr lang="en-US" sz="1200" b="1" dirty="0" smtClean="0">
                <a:solidFill>
                  <a:srgbClr val="FF0000"/>
                </a:solidFill>
              </a:rPr>
              <a:t>If not provided then use  the BOL.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60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A833F0-DDAD-49F7-8D1D-C4E2F83EC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86" y="523150"/>
            <a:ext cx="3431374" cy="5903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57E0D2-210F-4125-B823-F5A35D19D503}"/>
              </a:ext>
            </a:extLst>
          </p:cNvPr>
          <p:cNvSpPr/>
          <p:nvPr/>
        </p:nvSpPr>
        <p:spPr>
          <a:xfrm>
            <a:off x="2137483" y="667820"/>
            <a:ext cx="2434518" cy="59125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ounded Rectangular Callout 22">
            <a:extLst>
              <a:ext uri="{FF2B5EF4-FFF2-40B4-BE49-F238E27FC236}">
                <a16:creationId xmlns:a16="http://schemas.microsoft.com/office/drawing/2014/main" id="{8CECC5F4-1E89-44B4-9372-B20DE4AE8714}"/>
              </a:ext>
            </a:extLst>
          </p:cNvPr>
          <p:cNvSpPr/>
          <p:nvPr/>
        </p:nvSpPr>
        <p:spPr>
          <a:xfrm>
            <a:off x="2893370" y="156482"/>
            <a:ext cx="443603" cy="283666"/>
          </a:xfrm>
          <a:prstGeom prst="wedgeRoundRectCallout">
            <a:avLst>
              <a:gd name="adj1" fmla="val 23843"/>
              <a:gd name="adj2" fmla="val 24077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A9054-6A4C-42CC-A383-2F07410394D9}"/>
              </a:ext>
            </a:extLst>
          </p:cNvPr>
          <p:cNvSpPr/>
          <p:nvPr/>
        </p:nvSpPr>
        <p:spPr>
          <a:xfrm>
            <a:off x="1632692" y="667819"/>
            <a:ext cx="383633" cy="591257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ounded Rectangular Callout 22">
            <a:extLst>
              <a:ext uri="{FF2B5EF4-FFF2-40B4-BE49-F238E27FC236}">
                <a16:creationId xmlns:a16="http://schemas.microsoft.com/office/drawing/2014/main" id="{9F430360-7310-4508-BAA7-0E47F7A1B220}"/>
              </a:ext>
            </a:extLst>
          </p:cNvPr>
          <p:cNvSpPr/>
          <p:nvPr/>
        </p:nvSpPr>
        <p:spPr>
          <a:xfrm>
            <a:off x="1572722" y="156482"/>
            <a:ext cx="443603" cy="283666"/>
          </a:xfrm>
          <a:prstGeom prst="wedgeRoundRectCallout">
            <a:avLst>
              <a:gd name="adj1" fmla="val 17401"/>
              <a:gd name="adj2" fmla="val 23070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C7EFCC-0E27-44A5-8591-0310174613DB}"/>
              </a:ext>
            </a:extLst>
          </p:cNvPr>
          <p:cNvSpPr/>
          <p:nvPr/>
        </p:nvSpPr>
        <p:spPr>
          <a:xfrm>
            <a:off x="4671931" y="667821"/>
            <a:ext cx="380729" cy="594320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ounded Rectangular Callout 22">
            <a:extLst>
              <a:ext uri="{FF2B5EF4-FFF2-40B4-BE49-F238E27FC236}">
                <a16:creationId xmlns:a16="http://schemas.microsoft.com/office/drawing/2014/main" id="{2669E964-701E-4F80-B3FD-A917669B405D}"/>
              </a:ext>
            </a:extLst>
          </p:cNvPr>
          <p:cNvSpPr/>
          <p:nvPr/>
        </p:nvSpPr>
        <p:spPr>
          <a:xfrm>
            <a:off x="4671931" y="156482"/>
            <a:ext cx="443603" cy="283666"/>
          </a:xfrm>
          <a:prstGeom prst="wedgeRoundRectCallout">
            <a:avLst>
              <a:gd name="adj1" fmla="val -1924"/>
              <a:gd name="adj2" fmla="val 227345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682D6-2F53-4956-AEC0-D4C746520815}"/>
              </a:ext>
            </a:extLst>
          </p:cNvPr>
          <p:cNvSpPr txBox="1"/>
          <p:nvPr/>
        </p:nvSpPr>
        <p:spPr>
          <a:xfrm>
            <a:off x="6022305" y="2981969"/>
            <a:ext cx="1214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71 CHARGE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72 DESCRIPTION</a:t>
            </a:r>
          </a:p>
          <a:p>
            <a:r>
              <a:rPr lang="en-US" sz="1200" dirty="0">
                <a:solidFill>
                  <a:srgbClr val="FF0000"/>
                </a:solidFill>
              </a:rPr>
              <a:t>68 REF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4859" y="6364951"/>
            <a:ext cx="21844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latin typeface="Javanese Text" panose="02000000000000000000" pitchFamily="2" charset="0"/>
              </a:rPr>
              <a:t>Management Fee </a:t>
            </a:r>
            <a:r>
              <a:rPr lang="en-US" sz="800" dirty="0" smtClean="0">
                <a:solidFill>
                  <a:srgbClr val="000000"/>
                </a:solidFill>
                <a:latin typeface="Javanese Text" panose="02000000000000000000" pitchFamily="2" charset="0"/>
              </a:rPr>
              <a:t>Program</a:t>
            </a:r>
            <a:r>
              <a:rPr lang="en-US" sz="800" dirty="0" smtClean="0">
                <a:latin typeface="Javanese Text" panose="02000000000000000000" pitchFamily="2" charset="0"/>
              </a:rPr>
              <a:t> </a:t>
            </a:r>
            <a:endParaRPr lang="en-US" sz="800" dirty="0">
              <a:latin typeface="Javanese Text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89913" y="6364952"/>
            <a:ext cx="44498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latin typeface="Javanese Text" panose="02000000000000000000" pitchFamily="2" charset="0"/>
              </a:rPr>
              <a:t>MGM</a:t>
            </a:r>
            <a:endParaRPr lang="en-US" sz="800" dirty="0">
              <a:latin typeface="Javanese Tex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71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68" y="0"/>
            <a:ext cx="529936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589337" y="485775"/>
            <a:ext cx="1581151" cy="4595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/>
          <p:cNvSpPr/>
          <p:nvPr/>
        </p:nvSpPr>
        <p:spPr>
          <a:xfrm>
            <a:off x="4703223" y="1247774"/>
            <a:ext cx="465426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/>
          <p:cNvSpPr/>
          <p:nvPr/>
        </p:nvSpPr>
        <p:spPr>
          <a:xfrm>
            <a:off x="4705061" y="1562097"/>
            <a:ext cx="586869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/>
          <p:cNvSpPr/>
          <p:nvPr/>
        </p:nvSpPr>
        <p:spPr>
          <a:xfrm>
            <a:off x="4866986" y="2090734"/>
            <a:ext cx="484478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/>
          <p:cNvSpPr/>
          <p:nvPr/>
        </p:nvSpPr>
        <p:spPr>
          <a:xfrm>
            <a:off x="3376971" y="2093908"/>
            <a:ext cx="594953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/>
        </p:nvSpPr>
        <p:spPr>
          <a:xfrm>
            <a:off x="1726764" y="2095491"/>
            <a:ext cx="710049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1431489" y="1454138"/>
            <a:ext cx="1695886" cy="3302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/>
          <p:cNvSpPr/>
          <p:nvPr/>
        </p:nvSpPr>
        <p:spPr>
          <a:xfrm flipV="1">
            <a:off x="2066925" y="1247773"/>
            <a:ext cx="479425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/>
          <p:cNvSpPr/>
          <p:nvPr/>
        </p:nvSpPr>
        <p:spPr>
          <a:xfrm flipV="1">
            <a:off x="1602364" y="2406629"/>
            <a:ext cx="103406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/>
          <p:cNvSpPr/>
          <p:nvPr/>
        </p:nvSpPr>
        <p:spPr>
          <a:xfrm flipV="1">
            <a:off x="1257082" y="2408194"/>
            <a:ext cx="210562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/>
          <p:cNvSpPr/>
          <p:nvPr/>
        </p:nvSpPr>
        <p:spPr>
          <a:xfrm flipV="1">
            <a:off x="2641600" y="2414521"/>
            <a:ext cx="297656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/>
          <p:cNvSpPr/>
          <p:nvPr/>
        </p:nvSpPr>
        <p:spPr>
          <a:xfrm flipV="1">
            <a:off x="3726258" y="2414521"/>
            <a:ext cx="297656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/>
          <p:cNvSpPr/>
          <p:nvPr/>
        </p:nvSpPr>
        <p:spPr>
          <a:xfrm flipV="1">
            <a:off x="4023914" y="2414520"/>
            <a:ext cx="117874" cy="10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/>
          <p:cNvSpPr/>
          <p:nvPr/>
        </p:nvSpPr>
        <p:spPr>
          <a:xfrm flipV="1">
            <a:off x="3589337" y="2545487"/>
            <a:ext cx="434576" cy="17979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/>
          <p:cNvSpPr/>
          <p:nvPr/>
        </p:nvSpPr>
        <p:spPr>
          <a:xfrm flipV="1">
            <a:off x="1266430" y="2618510"/>
            <a:ext cx="695719" cy="1151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/>
          <p:cNvSpPr/>
          <p:nvPr/>
        </p:nvSpPr>
        <p:spPr>
          <a:xfrm flipV="1">
            <a:off x="1254504" y="2839213"/>
            <a:ext cx="777496" cy="1151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/>
          <p:cNvSpPr/>
          <p:nvPr/>
        </p:nvSpPr>
        <p:spPr>
          <a:xfrm flipV="1">
            <a:off x="1257082" y="3034425"/>
            <a:ext cx="412968" cy="1151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/>
          <p:cNvSpPr/>
          <p:nvPr/>
        </p:nvSpPr>
        <p:spPr>
          <a:xfrm flipV="1">
            <a:off x="1257082" y="3249589"/>
            <a:ext cx="274856" cy="1151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/>
          <p:cNvSpPr/>
          <p:nvPr/>
        </p:nvSpPr>
        <p:spPr>
          <a:xfrm flipV="1">
            <a:off x="1257082" y="3465811"/>
            <a:ext cx="274856" cy="1151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Rectangle 27"/>
          <p:cNvSpPr/>
          <p:nvPr/>
        </p:nvSpPr>
        <p:spPr>
          <a:xfrm flipV="1">
            <a:off x="1253492" y="3682915"/>
            <a:ext cx="1078545" cy="1151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Rectangle 28"/>
          <p:cNvSpPr/>
          <p:nvPr/>
        </p:nvSpPr>
        <p:spPr>
          <a:xfrm flipV="1">
            <a:off x="1257082" y="3892894"/>
            <a:ext cx="1179731" cy="45050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Rectangle 29"/>
          <p:cNvSpPr/>
          <p:nvPr/>
        </p:nvSpPr>
        <p:spPr>
          <a:xfrm flipV="1">
            <a:off x="2123857" y="4833937"/>
            <a:ext cx="1341656" cy="1340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/>
          <p:cNvSpPr/>
          <p:nvPr/>
        </p:nvSpPr>
        <p:spPr>
          <a:xfrm flipV="1">
            <a:off x="3589337" y="4833937"/>
            <a:ext cx="1009651" cy="1340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/>
          <p:cNvSpPr/>
          <p:nvPr/>
        </p:nvSpPr>
        <p:spPr>
          <a:xfrm flipV="1">
            <a:off x="3467099" y="4623159"/>
            <a:ext cx="504826" cy="1340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Rectangle 32"/>
          <p:cNvSpPr/>
          <p:nvPr/>
        </p:nvSpPr>
        <p:spPr>
          <a:xfrm flipV="1">
            <a:off x="3971924" y="4622666"/>
            <a:ext cx="300832" cy="1340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ounded Rectangular Callout 33"/>
          <p:cNvSpPr/>
          <p:nvPr/>
        </p:nvSpPr>
        <p:spPr>
          <a:xfrm>
            <a:off x="4114029" y="3256200"/>
            <a:ext cx="554831" cy="217104"/>
          </a:xfrm>
          <a:prstGeom prst="wedgeRoundRectCallout">
            <a:avLst>
              <a:gd name="adj1" fmla="val -88551"/>
              <a:gd name="adj2" fmla="val 5439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85</a:t>
            </a:r>
            <a:endParaRPr lang="en-PH" sz="1100" b="1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4425807" y="4442854"/>
            <a:ext cx="554831" cy="217104"/>
          </a:xfrm>
          <a:prstGeom prst="wedgeRoundRectCallout">
            <a:avLst>
              <a:gd name="adj1" fmla="val -88551"/>
              <a:gd name="adj2" fmla="val 5439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09</a:t>
            </a:r>
            <a:endParaRPr lang="en-PH" sz="1100" b="1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4791546" y="5052454"/>
            <a:ext cx="554831" cy="217104"/>
          </a:xfrm>
          <a:prstGeom prst="wedgeRoundRectCallout">
            <a:avLst>
              <a:gd name="adj1" fmla="val -103429"/>
              <a:gd name="adj2" fmla="val -12110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68c</a:t>
            </a:r>
            <a:endParaRPr lang="en-PH" sz="1100" b="1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2798764" y="4371563"/>
            <a:ext cx="554831" cy="217104"/>
          </a:xfrm>
          <a:prstGeom prst="wedgeRoundRectCallout">
            <a:avLst>
              <a:gd name="adj1" fmla="val 94568"/>
              <a:gd name="adj2" fmla="val 92414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08/14</a:t>
            </a:r>
            <a:endParaRPr lang="en-PH" sz="1100" b="1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1751806" y="5141301"/>
            <a:ext cx="554831" cy="217104"/>
          </a:xfrm>
          <a:prstGeom prst="wedgeRoundRectCallout">
            <a:avLst>
              <a:gd name="adj1" fmla="val 67100"/>
              <a:gd name="adj2" fmla="val -170824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38</a:t>
            </a:r>
            <a:endParaRPr lang="en-PH" sz="1100" b="1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4358662" y="2500945"/>
            <a:ext cx="554831" cy="217104"/>
          </a:xfrm>
          <a:prstGeom prst="wedgeRoundRectCallout">
            <a:avLst>
              <a:gd name="adj1" fmla="val -95418"/>
              <a:gd name="adj2" fmla="val -56754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44/45</a:t>
            </a:r>
            <a:endParaRPr lang="en-PH" sz="1100" b="1" dirty="0"/>
          </a:p>
        </p:txBody>
      </p:sp>
      <p:sp>
        <p:nvSpPr>
          <p:cNvPr id="40" name="Rounded Rectangular Callout 39"/>
          <p:cNvSpPr/>
          <p:nvPr/>
        </p:nvSpPr>
        <p:spPr>
          <a:xfrm>
            <a:off x="5477416" y="2145431"/>
            <a:ext cx="554831" cy="217104"/>
          </a:xfrm>
          <a:prstGeom prst="wedgeRoundRectCallout">
            <a:avLst>
              <a:gd name="adj1" fmla="val -95418"/>
              <a:gd name="adj2" fmla="val -56754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62</a:t>
            </a:r>
            <a:endParaRPr lang="en-PH" sz="1100" b="1" dirty="0"/>
          </a:p>
        </p:txBody>
      </p:sp>
      <p:sp>
        <p:nvSpPr>
          <p:cNvPr id="41" name="Rounded Rectangular Callout 40"/>
          <p:cNvSpPr/>
          <p:nvPr/>
        </p:nvSpPr>
        <p:spPr>
          <a:xfrm>
            <a:off x="5431452" y="1614484"/>
            <a:ext cx="554831" cy="217104"/>
          </a:xfrm>
          <a:prstGeom prst="wedgeRoundRectCallout">
            <a:avLst>
              <a:gd name="adj1" fmla="val -95418"/>
              <a:gd name="adj2" fmla="val -56754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03</a:t>
            </a:r>
            <a:endParaRPr lang="en-PH" sz="1100" b="1" dirty="0"/>
          </a:p>
        </p:txBody>
      </p:sp>
      <p:sp>
        <p:nvSpPr>
          <p:cNvPr id="42" name="Rounded Rectangular Callout 41"/>
          <p:cNvSpPr/>
          <p:nvPr/>
        </p:nvSpPr>
        <p:spPr>
          <a:xfrm>
            <a:off x="5477415" y="1191608"/>
            <a:ext cx="554831" cy="217104"/>
          </a:xfrm>
          <a:prstGeom prst="wedgeRoundRectCallout">
            <a:avLst>
              <a:gd name="adj1" fmla="val -121741"/>
              <a:gd name="adj2" fmla="val 4668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10</a:t>
            </a:r>
            <a:endParaRPr lang="en-PH" sz="1100" b="1" dirty="0"/>
          </a:p>
        </p:txBody>
      </p:sp>
      <p:sp>
        <p:nvSpPr>
          <p:cNvPr id="43" name="Rounded Rectangular Callout 42"/>
          <p:cNvSpPr/>
          <p:nvPr/>
        </p:nvSpPr>
        <p:spPr>
          <a:xfrm>
            <a:off x="5431452" y="590138"/>
            <a:ext cx="554831" cy="217104"/>
          </a:xfrm>
          <a:prstGeom prst="wedgeRoundRectCallout">
            <a:avLst>
              <a:gd name="adj1" fmla="val -121741"/>
              <a:gd name="adj2" fmla="val 4668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01</a:t>
            </a:r>
            <a:endParaRPr lang="en-PH" sz="1100" b="1" dirty="0"/>
          </a:p>
        </p:txBody>
      </p:sp>
      <p:sp>
        <p:nvSpPr>
          <p:cNvPr id="44" name="Rounded Rectangular Callout 43"/>
          <p:cNvSpPr/>
          <p:nvPr/>
        </p:nvSpPr>
        <p:spPr>
          <a:xfrm>
            <a:off x="2572544" y="879790"/>
            <a:ext cx="554831" cy="217104"/>
          </a:xfrm>
          <a:prstGeom prst="wedgeRoundRectCallout">
            <a:avLst>
              <a:gd name="adj1" fmla="val -85117"/>
              <a:gd name="adj2" fmla="val 133362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05</a:t>
            </a:r>
            <a:endParaRPr lang="en-PH" sz="1100" b="1" dirty="0"/>
          </a:p>
        </p:txBody>
      </p:sp>
      <p:sp>
        <p:nvSpPr>
          <p:cNvPr id="45" name="Rounded Rectangular Callout 44"/>
          <p:cNvSpPr/>
          <p:nvPr/>
        </p:nvSpPr>
        <p:spPr>
          <a:xfrm>
            <a:off x="3189683" y="1183608"/>
            <a:ext cx="554831" cy="217104"/>
          </a:xfrm>
          <a:prstGeom prst="wedgeRoundRectCallout">
            <a:avLst>
              <a:gd name="adj1" fmla="val -85117"/>
              <a:gd name="adj2" fmla="val 133362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02</a:t>
            </a:r>
            <a:endParaRPr lang="en-PH" sz="1100" b="1" dirty="0"/>
          </a:p>
        </p:txBody>
      </p:sp>
      <p:sp>
        <p:nvSpPr>
          <p:cNvPr id="46" name="Rounded Rectangular Callout 45"/>
          <p:cNvSpPr/>
          <p:nvPr/>
        </p:nvSpPr>
        <p:spPr>
          <a:xfrm>
            <a:off x="3415864" y="1660333"/>
            <a:ext cx="554831" cy="217104"/>
          </a:xfrm>
          <a:prstGeom prst="wedgeRoundRectCallout">
            <a:avLst>
              <a:gd name="adj1" fmla="val -30181"/>
              <a:gd name="adj2" fmla="val 16261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68b</a:t>
            </a:r>
            <a:endParaRPr lang="en-PH" sz="1100" b="1" dirty="0"/>
          </a:p>
        </p:txBody>
      </p:sp>
      <p:sp>
        <p:nvSpPr>
          <p:cNvPr id="47" name="Rounded Rectangular Callout 46"/>
          <p:cNvSpPr/>
          <p:nvPr/>
        </p:nvSpPr>
        <p:spPr>
          <a:xfrm>
            <a:off x="989014" y="1870651"/>
            <a:ext cx="554831" cy="217104"/>
          </a:xfrm>
          <a:prstGeom prst="wedgeRoundRectCallout">
            <a:avLst>
              <a:gd name="adj1" fmla="val 96858"/>
              <a:gd name="adj2" fmla="val 74865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68a</a:t>
            </a:r>
            <a:endParaRPr lang="en-PH" sz="1100" b="1" dirty="0"/>
          </a:p>
        </p:txBody>
      </p:sp>
      <p:sp>
        <p:nvSpPr>
          <p:cNvPr id="48" name="Rounded Rectangular Callout 47"/>
          <p:cNvSpPr/>
          <p:nvPr/>
        </p:nvSpPr>
        <p:spPr>
          <a:xfrm>
            <a:off x="3034506" y="2239810"/>
            <a:ext cx="554831" cy="217104"/>
          </a:xfrm>
          <a:prstGeom prst="wedgeRoundRectCallout">
            <a:avLst>
              <a:gd name="adj1" fmla="val 95714"/>
              <a:gd name="adj2" fmla="val 4854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43</a:t>
            </a:r>
            <a:endParaRPr lang="en-PH" sz="1100" b="1" dirty="0"/>
          </a:p>
        </p:txBody>
      </p:sp>
      <p:sp>
        <p:nvSpPr>
          <p:cNvPr id="49" name="Rounded Rectangular Callout 48"/>
          <p:cNvSpPr/>
          <p:nvPr/>
        </p:nvSpPr>
        <p:spPr>
          <a:xfrm>
            <a:off x="2498077" y="1985356"/>
            <a:ext cx="554831" cy="217104"/>
          </a:xfrm>
          <a:prstGeom prst="wedgeRoundRectCallout">
            <a:avLst>
              <a:gd name="adj1" fmla="val -2712"/>
              <a:gd name="adj2" fmla="val 16261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42</a:t>
            </a:r>
            <a:endParaRPr lang="en-PH" sz="1100" b="1" dirty="0"/>
          </a:p>
        </p:txBody>
      </p:sp>
      <p:sp>
        <p:nvSpPr>
          <p:cNvPr id="50" name="Rounded Rectangular Callout 49"/>
          <p:cNvSpPr/>
          <p:nvPr/>
        </p:nvSpPr>
        <p:spPr>
          <a:xfrm>
            <a:off x="2003334" y="2395794"/>
            <a:ext cx="554831" cy="217104"/>
          </a:xfrm>
          <a:prstGeom prst="wedgeRoundRectCallout">
            <a:avLst>
              <a:gd name="adj1" fmla="val -111439"/>
              <a:gd name="adj2" fmla="val -15806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46</a:t>
            </a:r>
            <a:endParaRPr lang="en-PH" sz="1100" b="1" dirty="0"/>
          </a:p>
        </p:txBody>
      </p:sp>
      <p:sp>
        <p:nvSpPr>
          <p:cNvPr id="51" name="Rounded Rectangular Callout 50"/>
          <p:cNvSpPr/>
          <p:nvPr/>
        </p:nvSpPr>
        <p:spPr>
          <a:xfrm>
            <a:off x="565330" y="2392393"/>
            <a:ext cx="554831" cy="217104"/>
          </a:xfrm>
          <a:prstGeom prst="wedgeRoundRectCallout">
            <a:avLst>
              <a:gd name="adj1" fmla="val 91708"/>
              <a:gd name="adj2" fmla="val -12881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47</a:t>
            </a:r>
            <a:endParaRPr lang="en-PH" sz="1100" b="1" dirty="0"/>
          </a:p>
        </p:txBody>
      </p:sp>
      <p:cxnSp>
        <p:nvCxnSpPr>
          <p:cNvPr id="62" name="Elbow Connector 61"/>
          <p:cNvCxnSpPr>
            <a:stCxn id="28" idx="1"/>
            <a:endCxn id="20" idx="1"/>
          </p:cNvCxnSpPr>
          <p:nvPr/>
        </p:nvCxnSpPr>
        <p:spPr>
          <a:xfrm rot="10800000" flipH="1">
            <a:off x="1253492" y="2896794"/>
            <a:ext cx="1012" cy="843702"/>
          </a:xfrm>
          <a:prstGeom prst="bentConnector3">
            <a:avLst>
              <a:gd name="adj1" fmla="val -17882905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23" idx="1"/>
            <a:endCxn id="21" idx="1"/>
          </p:cNvCxnSpPr>
          <p:nvPr/>
        </p:nvCxnSpPr>
        <p:spPr>
          <a:xfrm rot="10800000">
            <a:off x="1257082" y="3092006"/>
            <a:ext cx="12700" cy="431386"/>
          </a:xfrm>
          <a:prstGeom prst="bentConnector3">
            <a:avLst>
              <a:gd name="adj1" fmla="val 1500008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29" idx="1"/>
            <a:endCxn id="19" idx="1"/>
          </p:cNvCxnSpPr>
          <p:nvPr/>
        </p:nvCxnSpPr>
        <p:spPr>
          <a:xfrm rot="10800000" flipH="1">
            <a:off x="1257082" y="2676091"/>
            <a:ext cx="9348" cy="1442054"/>
          </a:xfrm>
          <a:prstGeom prst="bentConnector3">
            <a:avLst>
              <a:gd name="adj1" fmla="val -1935976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23" idx="1"/>
            <a:endCxn id="22" idx="1"/>
          </p:cNvCxnSpPr>
          <p:nvPr/>
        </p:nvCxnSpPr>
        <p:spPr>
          <a:xfrm rot="10800000">
            <a:off x="1257082" y="3307170"/>
            <a:ext cx="12700" cy="216222"/>
          </a:xfrm>
          <a:prstGeom prst="bentConnector3">
            <a:avLst>
              <a:gd name="adj1" fmla="val 1537504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ular Callout 76"/>
          <p:cNvSpPr/>
          <p:nvPr/>
        </p:nvSpPr>
        <p:spPr>
          <a:xfrm>
            <a:off x="644917" y="4334302"/>
            <a:ext cx="554831" cy="217104"/>
          </a:xfrm>
          <a:prstGeom prst="wedgeRoundRectCallout">
            <a:avLst>
              <a:gd name="adj1" fmla="val 92279"/>
              <a:gd name="adj2" fmla="val -124026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72</a:t>
            </a:r>
            <a:endParaRPr lang="en-PH" sz="11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6498165" y="178710"/>
            <a:ext cx="194900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05 ACCT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PH" sz="1200" smtClean="0">
                <a:solidFill>
                  <a:srgbClr val="FF0000"/>
                </a:solidFill>
              </a:rPr>
              <a:t>38 </a:t>
            </a:r>
            <a:r>
              <a:rPr lang="en-PH" sz="1200" dirty="0" smtClean="0">
                <a:solidFill>
                  <a:srgbClr val="FF0000"/>
                </a:solidFill>
              </a:rPr>
              <a:t>SRVC LEVEL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42 ACTUAL 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43 FNCL 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44/45 UOM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46 PIECES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47 TYPE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62 DELIVERED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68a AWB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68b HAWB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68c MODE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85 LINE ITEM AMOUNT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08/14 INV AMT/FB AMT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3949" b="7584"/>
          <a:stretch/>
        </p:blipFill>
        <p:spPr>
          <a:xfrm>
            <a:off x="6259036" y="4218555"/>
            <a:ext cx="2245967" cy="2612855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5570682" y="3814523"/>
            <a:ext cx="2845736" cy="404032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200" b="1" dirty="0" smtClean="0">
                <a:solidFill>
                  <a:srgbClr val="FF0000"/>
                </a:solidFill>
              </a:rPr>
              <a:t>NOTE: 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Please see below </a:t>
            </a:r>
            <a:r>
              <a:rPr lang="en-PH" sz="1200" dirty="0">
                <a:solidFill>
                  <a:srgbClr val="FF0000"/>
                </a:solidFill>
              </a:rPr>
              <a:t>equivalent charge codes</a:t>
            </a:r>
          </a:p>
        </p:txBody>
      </p:sp>
    </p:spTree>
    <p:extLst>
      <p:ext uri="{BB962C8B-B14F-4D97-AF65-F5344CB8AC3E}">
        <p14:creationId xmlns:p14="http://schemas.microsoft.com/office/powerpoint/2010/main" val="3834215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00" y="2667"/>
            <a:ext cx="538664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26931" y="139065"/>
            <a:ext cx="1581151" cy="31813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/>
          <p:cNvSpPr/>
          <p:nvPr/>
        </p:nvSpPr>
        <p:spPr>
          <a:xfrm>
            <a:off x="5493640" y="245745"/>
            <a:ext cx="506730" cy="1250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/>
          <p:cNvSpPr/>
          <p:nvPr/>
        </p:nvSpPr>
        <p:spPr>
          <a:xfrm>
            <a:off x="5493640" y="370205"/>
            <a:ext cx="506730" cy="1250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/>
          <p:cNvSpPr/>
          <p:nvPr/>
        </p:nvSpPr>
        <p:spPr>
          <a:xfrm>
            <a:off x="5762244" y="732155"/>
            <a:ext cx="257956" cy="1250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/>
          <p:cNvSpPr/>
          <p:nvPr/>
        </p:nvSpPr>
        <p:spPr>
          <a:xfrm>
            <a:off x="1342961" y="950595"/>
            <a:ext cx="1154113" cy="12763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/>
          <p:cNvSpPr/>
          <p:nvPr/>
        </p:nvSpPr>
        <p:spPr>
          <a:xfrm>
            <a:off x="1377251" y="1331595"/>
            <a:ext cx="3074353" cy="12763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/>
          <p:cNvSpPr/>
          <p:nvPr/>
        </p:nvSpPr>
        <p:spPr>
          <a:xfrm>
            <a:off x="5579364" y="1098551"/>
            <a:ext cx="409416" cy="939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/>
        </p:nvSpPr>
        <p:spPr>
          <a:xfrm>
            <a:off x="1952244" y="1560195"/>
            <a:ext cx="674687" cy="1123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2292604" y="1941195"/>
            <a:ext cx="137477" cy="876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/>
          <p:cNvSpPr/>
          <p:nvPr/>
        </p:nvSpPr>
        <p:spPr>
          <a:xfrm>
            <a:off x="2430081" y="1941195"/>
            <a:ext cx="162243" cy="876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/>
          <p:cNvSpPr/>
          <p:nvPr/>
        </p:nvSpPr>
        <p:spPr>
          <a:xfrm>
            <a:off x="3651504" y="1560194"/>
            <a:ext cx="606106" cy="1123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3777234" y="1676400"/>
            <a:ext cx="480376" cy="1123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/>
          <p:cNvSpPr/>
          <p:nvPr/>
        </p:nvSpPr>
        <p:spPr>
          <a:xfrm>
            <a:off x="3868674" y="1819275"/>
            <a:ext cx="251460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/>
          <p:cNvSpPr/>
          <p:nvPr/>
        </p:nvSpPr>
        <p:spPr>
          <a:xfrm>
            <a:off x="4120133" y="1819275"/>
            <a:ext cx="85883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/>
          <p:cNvSpPr/>
          <p:nvPr/>
        </p:nvSpPr>
        <p:spPr>
          <a:xfrm>
            <a:off x="3870740" y="1941195"/>
            <a:ext cx="251460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/>
          <p:cNvSpPr/>
          <p:nvPr/>
        </p:nvSpPr>
        <p:spPr>
          <a:xfrm>
            <a:off x="4122199" y="1941195"/>
            <a:ext cx="85883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Rectangle 24"/>
          <p:cNvSpPr/>
          <p:nvPr/>
        </p:nvSpPr>
        <p:spPr>
          <a:xfrm>
            <a:off x="5532612" y="1686877"/>
            <a:ext cx="456168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/>
          <p:cNvSpPr/>
          <p:nvPr/>
        </p:nvSpPr>
        <p:spPr>
          <a:xfrm>
            <a:off x="5532612" y="1819275"/>
            <a:ext cx="456168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8" name="Elbow Connector 27"/>
          <p:cNvCxnSpPr>
            <a:stCxn id="7" idx="1"/>
            <a:endCxn id="8" idx="1"/>
          </p:cNvCxnSpPr>
          <p:nvPr/>
        </p:nvCxnSpPr>
        <p:spPr>
          <a:xfrm rot="10800000" flipH="1" flipV="1">
            <a:off x="1342961" y="1014413"/>
            <a:ext cx="34290" cy="381000"/>
          </a:xfrm>
          <a:prstGeom prst="bentConnector3">
            <a:avLst>
              <a:gd name="adj1" fmla="val -666667"/>
            </a:avLst>
          </a:prstGeom>
          <a:ln w="95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39907" y="2614614"/>
            <a:ext cx="848837" cy="70262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/>
          <p:cNvSpPr/>
          <p:nvPr/>
        </p:nvSpPr>
        <p:spPr>
          <a:xfrm>
            <a:off x="5719064" y="2612234"/>
            <a:ext cx="301136" cy="70262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/>
          <p:cNvSpPr/>
          <p:nvPr/>
        </p:nvSpPr>
        <p:spPr>
          <a:xfrm>
            <a:off x="5687644" y="5521960"/>
            <a:ext cx="301136" cy="1551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ounded Rectangular Callout 33"/>
          <p:cNvSpPr/>
          <p:nvPr/>
        </p:nvSpPr>
        <p:spPr>
          <a:xfrm>
            <a:off x="6276247" y="30513"/>
            <a:ext cx="518161" cy="217104"/>
          </a:xfrm>
          <a:prstGeom prst="wedgeRoundRectCallout">
            <a:avLst>
              <a:gd name="adj1" fmla="val -126007"/>
              <a:gd name="adj2" fmla="val 8364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03</a:t>
            </a:r>
            <a:endParaRPr lang="en-PH" sz="11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6276247" y="348648"/>
            <a:ext cx="518161" cy="217104"/>
          </a:xfrm>
          <a:prstGeom prst="wedgeRoundRectCallout">
            <a:avLst>
              <a:gd name="adj1" fmla="val -124831"/>
              <a:gd name="adj2" fmla="val -17443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10</a:t>
            </a:r>
            <a:endParaRPr lang="en-PH" sz="1100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6276247" y="686150"/>
            <a:ext cx="518161" cy="217104"/>
          </a:xfrm>
          <a:prstGeom prst="wedgeRoundRectCallout">
            <a:avLst>
              <a:gd name="adj1" fmla="val -117772"/>
              <a:gd name="adj2" fmla="val -9019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09</a:t>
            </a:r>
            <a:endParaRPr lang="en-PH" sz="1100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6276246" y="969678"/>
            <a:ext cx="518161" cy="217104"/>
          </a:xfrm>
          <a:prstGeom prst="wedgeRoundRectCallout">
            <a:avLst>
              <a:gd name="adj1" fmla="val -120125"/>
              <a:gd name="adj2" fmla="val 38715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05</a:t>
            </a:r>
            <a:endParaRPr lang="en-PH" sz="11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270372" y="1359441"/>
            <a:ext cx="518161" cy="217104"/>
          </a:xfrm>
          <a:prstGeom prst="wedgeRoundRectCallout">
            <a:avLst>
              <a:gd name="adj1" fmla="val -121301"/>
              <a:gd name="adj2" fmla="val 117335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27.5</a:t>
            </a:r>
            <a:endParaRPr lang="en-PH" sz="1100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6276247" y="1629092"/>
            <a:ext cx="518161" cy="217104"/>
          </a:xfrm>
          <a:prstGeom prst="wedgeRoundRectCallout">
            <a:avLst>
              <a:gd name="adj1" fmla="val -144830"/>
              <a:gd name="adj2" fmla="val 66793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30.5</a:t>
            </a:r>
            <a:endParaRPr lang="en-PH" sz="1100" dirty="0"/>
          </a:p>
        </p:txBody>
      </p:sp>
      <p:sp>
        <p:nvSpPr>
          <p:cNvPr id="40" name="Rounded Rectangular Callout 39"/>
          <p:cNvSpPr/>
          <p:nvPr/>
        </p:nvSpPr>
        <p:spPr>
          <a:xfrm>
            <a:off x="1965645" y="67659"/>
            <a:ext cx="518161" cy="217104"/>
          </a:xfrm>
          <a:prstGeom prst="wedgeRoundRectCallout">
            <a:avLst>
              <a:gd name="adj1" fmla="val 116345"/>
              <a:gd name="adj2" fmla="val 86448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01</a:t>
            </a:r>
            <a:endParaRPr lang="en-PH" sz="1100" dirty="0"/>
          </a:p>
        </p:txBody>
      </p:sp>
      <p:sp>
        <p:nvSpPr>
          <p:cNvPr id="41" name="Rounded Rectangular Callout 40"/>
          <p:cNvSpPr/>
          <p:nvPr/>
        </p:nvSpPr>
        <p:spPr>
          <a:xfrm>
            <a:off x="630519" y="719390"/>
            <a:ext cx="518161" cy="217104"/>
          </a:xfrm>
          <a:prstGeom prst="wedgeRoundRectCallout">
            <a:avLst>
              <a:gd name="adj1" fmla="val 116345"/>
              <a:gd name="adj2" fmla="val 86448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02</a:t>
            </a:r>
            <a:endParaRPr lang="en-PH" sz="1100" dirty="0"/>
          </a:p>
        </p:txBody>
      </p:sp>
      <p:sp>
        <p:nvSpPr>
          <p:cNvPr id="42" name="Rounded Rectangular Callout 41"/>
          <p:cNvSpPr/>
          <p:nvPr/>
        </p:nvSpPr>
        <p:spPr>
          <a:xfrm>
            <a:off x="1031269" y="1540227"/>
            <a:ext cx="518161" cy="217104"/>
          </a:xfrm>
          <a:prstGeom prst="wedgeRoundRectCallout">
            <a:avLst>
              <a:gd name="adj1" fmla="val 146934"/>
              <a:gd name="adj2" fmla="val -20252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68a</a:t>
            </a:r>
            <a:endParaRPr lang="en-PH" sz="1100" dirty="0"/>
          </a:p>
        </p:txBody>
      </p:sp>
      <p:sp>
        <p:nvSpPr>
          <p:cNvPr id="43" name="Rounded Rectangular Callout 42"/>
          <p:cNvSpPr/>
          <p:nvPr/>
        </p:nvSpPr>
        <p:spPr>
          <a:xfrm>
            <a:off x="1385822" y="2016510"/>
            <a:ext cx="518161" cy="217104"/>
          </a:xfrm>
          <a:prstGeom prst="wedgeRoundRectCallout">
            <a:avLst>
              <a:gd name="adj1" fmla="val 135169"/>
              <a:gd name="adj2" fmla="val -6237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46</a:t>
            </a:r>
            <a:endParaRPr lang="en-PH" sz="1100" dirty="0"/>
          </a:p>
        </p:txBody>
      </p:sp>
      <p:sp>
        <p:nvSpPr>
          <p:cNvPr id="44" name="Rounded Rectangular Callout 43"/>
          <p:cNvSpPr/>
          <p:nvPr/>
        </p:nvSpPr>
        <p:spPr>
          <a:xfrm>
            <a:off x="241898" y="2912622"/>
            <a:ext cx="518161" cy="217104"/>
          </a:xfrm>
          <a:prstGeom prst="wedgeRoundRectCallout">
            <a:avLst>
              <a:gd name="adj1" fmla="val 135169"/>
              <a:gd name="adj2" fmla="val -6237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72</a:t>
            </a:r>
            <a:endParaRPr lang="en-PH" sz="1100" dirty="0"/>
          </a:p>
        </p:txBody>
      </p:sp>
      <p:sp>
        <p:nvSpPr>
          <p:cNvPr id="45" name="Rounded Rectangular Callout 44"/>
          <p:cNvSpPr/>
          <p:nvPr/>
        </p:nvSpPr>
        <p:spPr>
          <a:xfrm>
            <a:off x="2592324" y="2233614"/>
            <a:ext cx="518161" cy="217104"/>
          </a:xfrm>
          <a:prstGeom prst="wedgeRoundRectCallout">
            <a:avLst>
              <a:gd name="adj1" fmla="val -67183"/>
              <a:gd name="adj2" fmla="val -166261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47</a:t>
            </a:r>
            <a:endParaRPr lang="en-PH" sz="1100" dirty="0"/>
          </a:p>
        </p:txBody>
      </p:sp>
      <p:sp>
        <p:nvSpPr>
          <p:cNvPr id="46" name="Rounded Rectangular Callout 45"/>
          <p:cNvSpPr/>
          <p:nvPr/>
        </p:nvSpPr>
        <p:spPr>
          <a:xfrm>
            <a:off x="2762359" y="1664019"/>
            <a:ext cx="518161" cy="217104"/>
          </a:xfrm>
          <a:prstGeom prst="wedgeRoundRectCallout">
            <a:avLst>
              <a:gd name="adj1" fmla="val 158698"/>
              <a:gd name="adj2" fmla="val -70793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68b</a:t>
            </a:r>
            <a:endParaRPr lang="en-PH" sz="1100" dirty="0"/>
          </a:p>
        </p:txBody>
      </p:sp>
      <p:sp>
        <p:nvSpPr>
          <p:cNvPr id="47" name="Rounded Rectangular Callout 46"/>
          <p:cNvSpPr/>
          <p:nvPr/>
        </p:nvSpPr>
        <p:spPr>
          <a:xfrm>
            <a:off x="3009135" y="1987677"/>
            <a:ext cx="518161" cy="217104"/>
          </a:xfrm>
          <a:prstGeom prst="wedgeRoundRectCallout">
            <a:avLst>
              <a:gd name="adj1" fmla="val 117522"/>
              <a:gd name="adj2" fmla="val -177492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68c</a:t>
            </a:r>
            <a:endParaRPr lang="en-PH" sz="1100" dirty="0"/>
          </a:p>
        </p:txBody>
      </p:sp>
      <p:sp>
        <p:nvSpPr>
          <p:cNvPr id="48" name="Rounded Rectangular Callout 47"/>
          <p:cNvSpPr/>
          <p:nvPr/>
        </p:nvSpPr>
        <p:spPr>
          <a:xfrm>
            <a:off x="3249868" y="2237268"/>
            <a:ext cx="518161" cy="217104"/>
          </a:xfrm>
          <a:prstGeom prst="wedgeRoundRectCallout">
            <a:avLst>
              <a:gd name="adj1" fmla="val 79875"/>
              <a:gd name="adj2" fmla="val -228034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42</a:t>
            </a:r>
            <a:endParaRPr lang="en-PH" sz="1100" dirty="0"/>
          </a:p>
        </p:txBody>
      </p:sp>
      <p:sp>
        <p:nvSpPr>
          <p:cNvPr id="49" name="Rounded Rectangular Callout 48"/>
          <p:cNvSpPr/>
          <p:nvPr/>
        </p:nvSpPr>
        <p:spPr>
          <a:xfrm>
            <a:off x="3521200" y="2505234"/>
            <a:ext cx="518161" cy="217104"/>
          </a:xfrm>
          <a:prstGeom prst="wedgeRoundRectCallout">
            <a:avLst>
              <a:gd name="adj1" fmla="val 56346"/>
              <a:gd name="adj2" fmla="val -286999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43</a:t>
            </a:r>
            <a:endParaRPr lang="en-PH" sz="1100" dirty="0"/>
          </a:p>
        </p:txBody>
      </p:sp>
      <p:sp>
        <p:nvSpPr>
          <p:cNvPr id="50" name="Rounded Rectangular Callout 49"/>
          <p:cNvSpPr/>
          <p:nvPr/>
        </p:nvSpPr>
        <p:spPr>
          <a:xfrm>
            <a:off x="4524737" y="1507839"/>
            <a:ext cx="518161" cy="217104"/>
          </a:xfrm>
          <a:prstGeom prst="wedgeRoundRectCallout">
            <a:avLst>
              <a:gd name="adj1" fmla="val -120124"/>
              <a:gd name="adj2" fmla="val 108911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44</a:t>
            </a:r>
            <a:endParaRPr lang="en-PH" sz="1100" dirty="0"/>
          </a:p>
        </p:txBody>
      </p:sp>
      <p:sp>
        <p:nvSpPr>
          <p:cNvPr id="51" name="Rounded Rectangular Callout 50"/>
          <p:cNvSpPr/>
          <p:nvPr/>
        </p:nvSpPr>
        <p:spPr>
          <a:xfrm>
            <a:off x="4526720" y="1783650"/>
            <a:ext cx="518161" cy="217104"/>
          </a:xfrm>
          <a:prstGeom prst="wedgeRoundRectCallout">
            <a:avLst>
              <a:gd name="adj1" fmla="val -115418"/>
              <a:gd name="adj2" fmla="val 35906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45</a:t>
            </a:r>
            <a:endParaRPr lang="en-PH" sz="1100" dirty="0"/>
          </a:p>
        </p:txBody>
      </p:sp>
      <p:sp>
        <p:nvSpPr>
          <p:cNvPr id="52" name="Rounded Rectangular Callout 51"/>
          <p:cNvSpPr/>
          <p:nvPr/>
        </p:nvSpPr>
        <p:spPr>
          <a:xfrm>
            <a:off x="4837296" y="2912622"/>
            <a:ext cx="518161" cy="217104"/>
          </a:xfrm>
          <a:prstGeom prst="wedgeRoundRectCallout">
            <a:avLst>
              <a:gd name="adj1" fmla="val 135169"/>
              <a:gd name="adj2" fmla="val -6237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85</a:t>
            </a:r>
            <a:endParaRPr lang="en-PH" sz="1100" dirty="0"/>
          </a:p>
        </p:txBody>
      </p:sp>
      <p:sp>
        <p:nvSpPr>
          <p:cNvPr id="53" name="Rounded Rectangular Callout 52"/>
          <p:cNvSpPr/>
          <p:nvPr/>
        </p:nvSpPr>
        <p:spPr>
          <a:xfrm>
            <a:off x="4837296" y="5695954"/>
            <a:ext cx="553195" cy="217104"/>
          </a:xfrm>
          <a:prstGeom prst="wedgeRoundRectCallout">
            <a:avLst>
              <a:gd name="adj1" fmla="val 136640"/>
              <a:gd name="adj2" fmla="val -107998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08/14</a:t>
            </a:r>
            <a:endParaRPr lang="en-PH" sz="1100" dirty="0"/>
          </a:p>
        </p:txBody>
      </p:sp>
      <p:sp>
        <p:nvSpPr>
          <p:cNvPr id="54" name="TextBox 53"/>
          <p:cNvSpPr txBox="1"/>
          <p:nvPr/>
        </p:nvSpPr>
        <p:spPr>
          <a:xfrm>
            <a:off x="7065264" y="857250"/>
            <a:ext cx="2184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05 ACCT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27.5 SHIPPER INV CITY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30.5 CONSIGNEE INV CITY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68a FILE NO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68b AWB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68c HAWB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46 PIECES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47 PIECES TYPE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42 ACTUAL WT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44 ACTUAL WT UOM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43 FNCL WT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45 FNCL WT U OM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72 LINE ITEM DESC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85 LINE ITEM AMT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08 INV AMT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14 FB AMT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41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28" y="0"/>
            <a:ext cx="538664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26931" y="139065"/>
            <a:ext cx="1581151" cy="31813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/>
          <p:cNvSpPr/>
          <p:nvPr/>
        </p:nvSpPr>
        <p:spPr>
          <a:xfrm>
            <a:off x="5493640" y="245745"/>
            <a:ext cx="506730" cy="1250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/>
          <p:cNvSpPr/>
          <p:nvPr/>
        </p:nvSpPr>
        <p:spPr>
          <a:xfrm>
            <a:off x="5493640" y="370205"/>
            <a:ext cx="506730" cy="1250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/>
          <p:cNvSpPr/>
          <p:nvPr/>
        </p:nvSpPr>
        <p:spPr>
          <a:xfrm>
            <a:off x="5762244" y="732155"/>
            <a:ext cx="257956" cy="1250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/>
          <p:cNvSpPr/>
          <p:nvPr/>
        </p:nvSpPr>
        <p:spPr>
          <a:xfrm>
            <a:off x="1342961" y="950595"/>
            <a:ext cx="1154113" cy="12763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/>
          <p:cNvSpPr/>
          <p:nvPr/>
        </p:nvSpPr>
        <p:spPr>
          <a:xfrm>
            <a:off x="1377251" y="1331595"/>
            <a:ext cx="3074353" cy="12763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/>
          <p:cNvSpPr/>
          <p:nvPr/>
        </p:nvSpPr>
        <p:spPr>
          <a:xfrm>
            <a:off x="5579364" y="1098551"/>
            <a:ext cx="409416" cy="939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/>
        </p:nvSpPr>
        <p:spPr>
          <a:xfrm>
            <a:off x="1952244" y="1560195"/>
            <a:ext cx="674687" cy="1123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2292604" y="1941195"/>
            <a:ext cx="137477" cy="876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/>
          <p:cNvSpPr/>
          <p:nvPr/>
        </p:nvSpPr>
        <p:spPr>
          <a:xfrm>
            <a:off x="2430081" y="1941195"/>
            <a:ext cx="162243" cy="8763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/>
          <p:cNvSpPr/>
          <p:nvPr/>
        </p:nvSpPr>
        <p:spPr>
          <a:xfrm>
            <a:off x="3651504" y="1560194"/>
            <a:ext cx="606106" cy="1123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3777234" y="1676400"/>
            <a:ext cx="480376" cy="1123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/>
          <p:cNvSpPr/>
          <p:nvPr/>
        </p:nvSpPr>
        <p:spPr>
          <a:xfrm>
            <a:off x="3868674" y="1819275"/>
            <a:ext cx="251460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/>
          <p:cNvSpPr/>
          <p:nvPr/>
        </p:nvSpPr>
        <p:spPr>
          <a:xfrm>
            <a:off x="4120133" y="1819275"/>
            <a:ext cx="85883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/>
          <p:cNvSpPr/>
          <p:nvPr/>
        </p:nvSpPr>
        <p:spPr>
          <a:xfrm>
            <a:off x="3870740" y="1941195"/>
            <a:ext cx="251460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/>
          <p:cNvSpPr/>
          <p:nvPr/>
        </p:nvSpPr>
        <p:spPr>
          <a:xfrm>
            <a:off x="4122199" y="1941195"/>
            <a:ext cx="85883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/>
          <p:cNvSpPr/>
          <p:nvPr/>
        </p:nvSpPr>
        <p:spPr>
          <a:xfrm>
            <a:off x="5532612" y="1686877"/>
            <a:ext cx="456168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/>
          <p:cNvSpPr/>
          <p:nvPr/>
        </p:nvSpPr>
        <p:spPr>
          <a:xfrm>
            <a:off x="5532612" y="1819275"/>
            <a:ext cx="456168" cy="914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1" name="Elbow Connector 20"/>
          <p:cNvCxnSpPr>
            <a:stCxn id="7" idx="1"/>
            <a:endCxn id="8" idx="1"/>
          </p:cNvCxnSpPr>
          <p:nvPr/>
        </p:nvCxnSpPr>
        <p:spPr>
          <a:xfrm rot="10800000" flipH="1" flipV="1">
            <a:off x="1342961" y="1014413"/>
            <a:ext cx="34290" cy="381000"/>
          </a:xfrm>
          <a:prstGeom prst="bentConnector3">
            <a:avLst>
              <a:gd name="adj1" fmla="val -666667"/>
            </a:avLst>
          </a:prstGeom>
          <a:ln w="95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39907" y="2614614"/>
            <a:ext cx="848837" cy="46996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Rectangle 22"/>
          <p:cNvSpPr/>
          <p:nvPr/>
        </p:nvSpPr>
        <p:spPr>
          <a:xfrm>
            <a:off x="5719064" y="2612234"/>
            <a:ext cx="301136" cy="51749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/>
          <p:cNvSpPr/>
          <p:nvPr/>
        </p:nvSpPr>
        <p:spPr>
          <a:xfrm>
            <a:off x="5687644" y="5521960"/>
            <a:ext cx="301136" cy="1551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Rounded Rectangular Callout 24"/>
          <p:cNvSpPr/>
          <p:nvPr/>
        </p:nvSpPr>
        <p:spPr>
          <a:xfrm>
            <a:off x="6276247" y="30513"/>
            <a:ext cx="518161" cy="217104"/>
          </a:xfrm>
          <a:prstGeom prst="wedgeRoundRectCallout">
            <a:avLst>
              <a:gd name="adj1" fmla="val -126007"/>
              <a:gd name="adj2" fmla="val 8364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03</a:t>
            </a:r>
            <a:endParaRPr lang="en-PH" sz="1100" dirty="0"/>
          </a:p>
        </p:txBody>
      </p:sp>
      <p:sp>
        <p:nvSpPr>
          <p:cNvPr id="26" name="Rounded Rectangular Callout 25"/>
          <p:cNvSpPr/>
          <p:nvPr/>
        </p:nvSpPr>
        <p:spPr>
          <a:xfrm>
            <a:off x="6276247" y="348648"/>
            <a:ext cx="518161" cy="217104"/>
          </a:xfrm>
          <a:prstGeom prst="wedgeRoundRectCallout">
            <a:avLst>
              <a:gd name="adj1" fmla="val -124831"/>
              <a:gd name="adj2" fmla="val -17443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10</a:t>
            </a:r>
            <a:endParaRPr lang="en-PH" sz="1100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6276247" y="686150"/>
            <a:ext cx="518161" cy="217104"/>
          </a:xfrm>
          <a:prstGeom prst="wedgeRoundRectCallout">
            <a:avLst>
              <a:gd name="adj1" fmla="val -117772"/>
              <a:gd name="adj2" fmla="val -9019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09</a:t>
            </a:r>
            <a:endParaRPr lang="en-PH" sz="11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6276246" y="969678"/>
            <a:ext cx="518161" cy="217104"/>
          </a:xfrm>
          <a:prstGeom prst="wedgeRoundRectCallout">
            <a:avLst>
              <a:gd name="adj1" fmla="val -120125"/>
              <a:gd name="adj2" fmla="val 38715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05</a:t>
            </a:r>
            <a:endParaRPr lang="en-PH" sz="11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6270372" y="1359441"/>
            <a:ext cx="518161" cy="217104"/>
          </a:xfrm>
          <a:prstGeom prst="wedgeRoundRectCallout">
            <a:avLst>
              <a:gd name="adj1" fmla="val -121301"/>
              <a:gd name="adj2" fmla="val 117335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27.5</a:t>
            </a:r>
            <a:endParaRPr lang="en-PH" sz="1100" dirty="0"/>
          </a:p>
        </p:txBody>
      </p:sp>
      <p:sp>
        <p:nvSpPr>
          <p:cNvPr id="30" name="Rounded Rectangular Callout 29"/>
          <p:cNvSpPr/>
          <p:nvPr/>
        </p:nvSpPr>
        <p:spPr>
          <a:xfrm>
            <a:off x="6276247" y="1629092"/>
            <a:ext cx="518161" cy="217104"/>
          </a:xfrm>
          <a:prstGeom prst="wedgeRoundRectCallout">
            <a:avLst>
              <a:gd name="adj1" fmla="val -144830"/>
              <a:gd name="adj2" fmla="val 66793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30.5</a:t>
            </a:r>
            <a:endParaRPr lang="en-PH" sz="1100" dirty="0"/>
          </a:p>
        </p:txBody>
      </p:sp>
      <p:sp>
        <p:nvSpPr>
          <p:cNvPr id="31" name="Rounded Rectangular Callout 30"/>
          <p:cNvSpPr/>
          <p:nvPr/>
        </p:nvSpPr>
        <p:spPr>
          <a:xfrm>
            <a:off x="1965645" y="67659"/>
            <a:ext cx="518161" cy="217104"/>
          </a:xfrm>
          <a:prstGeom prst="wedgeRoundRectCallout">
            <a:avLst>
              <a:gd name="adj1" fmla="val 116345"/>
              <a:gd name="adj2" fmla="val 86448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01</a:t>
            </a:r>
            <a:endParaRPr lang="en-PH" sz="1100" dirty="0"/>
          </a:p>
        </p:txBody>
      </p:sp>
      <p:sp>
        <p:nvSpPr>
          <p:cNvPr id="32" name="Rounded Rectangular Callout 31"/>
          <p:cNvSpPr/>
          <p:nvPr/>
        </p:nvSpPr>
        <p:spPr>
          <a:xfrm>
            <a:off x="630519" y="719390"/>
            <a:ext cx="518161" cy="217104"/>
          </a:xfrm>
          <a:prstGeom prst="wedgeRoundRectCallout">
            <a:avLst>
              <a:gd name="adj1" fmla="val 116345"/>
              <a:gd name="adj2" fmla="val 86448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02</a:t>
            </a:r>
            <a:endParaRPr lang="en-PH" sz="1100" dirty="0"/>
          </a:p>
        </p:txBody>
      </p:sp>
      <p:sp>
        <p:nvSpPr>
          <p:cNvPr id="33" name="Rounded Rectangular Callout 32"/>
          <p:cNvSpPr/>
          <p:nvPr/>
        </p:nvSpPr>
        <p:spPr>
          <a:xfrm>
            <a:off x="1031269" y="1540227"/>
            <a:ext cx="518161" cy="217104"/>
          </a:xfrm>
          <a:prstGeom prst="wedgeRoundRectCallout">
            <a:avLst>
              <a:gd name="adj1" fmla="val 146934"/>
              <a:gd name="adj2" fmla="val -20252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68a</a:t>
            </a:r>
            <a:endParaRPr lang="en-PH" sz="1100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1385822" y="2016510"/>
            <a:ext cx="518161" cy="217104"/>
          </a:xfrm>
          <a:prstGeom prst="wedgeRoundRectCallout">
            <a:avLst>
              <a:gd name="adj1" fmla="val 135169"/>
              <a:gd name="adj2" fmla="val -6237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46</a:t>
            </a:r>
            <a:endParaRPr lang="en-PH" sz="11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241898" y="2912622"/>
            <a:ext cx="518161" cy="217104"/>
          </a:xfrm>
          <a:prstGeom prst="wedgeRoundRectCallout">
            <a:avLst>
              <a:gd name="adj1" fmla="val 135169"/>
              <a:gd name="adj2" fmla="val -6237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72</a:t>
            </a:r>
            <a:endParaRPr lang="en-PH" sz="1100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2592324" y="2233614"/>
            <a:ext cx="518161" cy="217104"/>
          </a:xfrm>
          <a:prstGeom prst="wedgeRoundRectCallout">
            <a:avLst>
              <a:gd name="adj1" fmla="val -67183"/>
              <a:gd name="adj2" fmla="val -166261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47</a:t>
            </a:r>
            <a:endParaRPr lang="en-PH" sz="1100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2794321" y="1654176"/>
            <a:ext cx="518161" cy="217104"/>
          </a:xfrm>
          <a:prstGeom prst="wedgeRoundRectCallout">
            <a:avLst>
              <a:gd name="adj1" fmla="val 158698"/>
              <a:gd name="adj2" fmla="val -70793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68b</a:t>
            </a:r>
            <a:endParaRPr lang="en-PH" sz="11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3009135" y="1961865"/>
            <a:ext cx="518161" cy="217104"/>
          </a:xfrm>
          <a:prstGeom prst="wedgeRoundRectCallout">
            <a:avLst>
              <a:gd name="adj1" fmla="val 117522"/>
              <a:gd name="adj2" fmla="val -177492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68c</a:t>
            </a:r>
            <a:endParaRPr lang="en-PH" sz="1100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3249868" y="2237268"/>
            <a:ext cx="518161" cy="217104"/>
          </a:xfrm>
          <a:prstGeom prst="wedgeRoundRectCallout">
            <a:avLst>
              <a:gd name="adj1" fmla="val 79875"/>
              <a:gd name="adj2" fmla="val -228034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42</a:t>
            </a:r>
            <a:endParaRPr lang="en-PH" sz="1100" dirty="0"/>
          </a:p>
        </p:txBody>
      </p:sp>
      <p:sp>
        <p:nvSpPr>
          <p:cNvPr id="40" name="Rounded Rectangular Callout 39"/>
          <p:cNvSpPr/>
          <p:nvPr/>
        </p:nvSpPr>
        <p:spPr>
          <a:xfrm>
            <a:off x="3521200" y="2505234"/>
            <a:ext cx="518161" cy="217104"/>
          </a:xfrm>
          <a:prstGeom prst="wedgeRoundRectCallout">
            <a:avLst>
              <a:gd name="adj1" fmla="val 56346"/>
              <a:gd name="adj2" fmla="val -286999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43</a:t>
            </a:r>
            <a:endParaRPr lang="en-PH" sz="1100" dirty="0"/>
          </a:p>
        </p:txBody>
      </p:sp>
      <p:sp>
        <p:nvSpPr>
          <p:cNvPr id="41" name="Rounded Rectangular Callout 40"/>
          <p:cNvSpPr/>
          <p:nvPr/>
        </p:nvSpPr>
        <p:spPr>
          <a:xfrm>
            <a:off x="4524737" y="1507839"/>
            <a:ext cx="518161" cy="217104"/>
          </a:xfrm>
          <a:prstGeom prst="wedgeRoundRectCallout">
            <a:avLst>
              <a:gd name="adj1" fmla="val -120124"/>
              <a:gd name="adj2" fmla="val 108911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44</a:t>
            </a:r>
            <a:endParaRPr lang="en-PH" sz="1100" dirty="0"/>
          </a:p>
        </p:txBody>
      </p:sp>
      <p:sp>
        <p:nvSpPr>
          <p:cNvPr id="42" name="Rounded Rectangular Callout 41"/>
          <p:cNvSpPr/>
          <p:nvPr/>
        </p:nvSpPr>
        <p:spPr>
          <a:xfrm>
            <a:off x="4526720" y="1783650"/>
            <a:ext cx="518161" cy="217104"/>
          </a:xfrm>
          <a:prstGeom prst="wedgeRoundRectCallout">
            <a:avLst>
              <a:gd name="adj1" fmla="val -115418"/>
              <a:gd name="adj2" fmla="val 35906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45</a:t>
            </a:r>
            <a:endParaRPr lang="en-PH" sz="1100" dirty="0"/>
          </a:p>
        </p:txBody>
      </p:sp>
      <p:sp>
        <p:nvSpPr>
          <p:cNvPr id="43" name="Rounded Rectangular Callout 42"/>
          <p:cNvSpPr/>
          <p:nvPr/>
        </p:nvSpPr>
        <p:spPr>
          <a:xfrm>
            <a:off x="4837296" y="2912622"/>
            <a:ext cx="518161" cy="217104"/>
          </a:xfrm>
          <a:prstGeom prst="wedgeRoundRectCallout">
            <a:avLst>
              <a:gd name="adj1" fmla="val 135169"/>
              <a:gd name="adj2" fmla="val -62370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85</a:t>
            </a:r>
            <a:endParaRPr lang="en-PH" sz="1100" dirty="0"/>
          </a:p>
        </p:txBody>
      </p:sp>
      <p:sp>
        <p:nvSpPr>
          <p:cNvPr id="44" name="Rounded Rectangular Callout 43"/>
          <p:cNvSpPr/>
          <p:nvPr/>
        </p:nvSpPr>
        <p:spPr>
          <a:xfrm>
            <a:off x="4837296" y="5695954"/>
            <a:ext cx="553195" cy="217104"/>
          </a:xfrm>
          <a:prstGeom prst="wedgeRoundRectCallout">
            <a:avLst>
              <a:gd name="adj1" fmla="val 136640"/>
              <a:gd name="adj2" fmla="val -107998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08/14</a:t>
            </a:r>
            <a:endParaRPr lang="en-PH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7065264" y="857250"/>
            <a:ext cx="2184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05 ACCT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27.5 SHIPPER INV CITY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30.5 CONSIGNEE INV CITY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68a FILE NO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68b AWB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68c HAWB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46 PIECES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47 PIECES TYPE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42 ACTUAL WT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44 ACTUAL WT UOM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43 FNCL WT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45 FNCL WT U OM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72 LINE ITEM DESC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85 LINE ITEM AMT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08 INV AMT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14 FB AMT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12 INV INTENT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015267" y="671542"/>
            <a:ext cx="1234601" cy="1316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Rounded Rectangular Callout 48"/>
          <p:cNvSpPr/>
          <p:nvPr/>
        </p:nvSpPr>
        <p:spPr>
          <a:xfrm>
            <a:off x="1315181" y="457200"/>
            <a:ext cx="518161" cy="217104"/>
          </a:xfrm>
          <a:prstGeom prst="wedgeRoundRectCallout">
            <a:avLst>
              <a:gd name="adj1" fmla="val 116345"/>
              <a:gd name="adj2" fmla="val 86448"/>
              <a:gd name="adj3" fmla="val 16667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 smtClean="0"/>
              <a:t>12</a:t>
            </a:r>
            <a:endParaRPr lang="en-PH" sz="1100" dirty="0"/>
          </a:p>
        </p:txBody>
      </p:sp>
      <p:sp>
        <p:nvSpPr>
          <p:cNvPr id="50" name="Rounded Rectangle 49"/>
          <p:cNvSpPr/>
          <p:nvPr/>
        </p:nvSpPr>
        <p:spPr>
          <a:xfrm>
            <a:off x="6967728" y="5188326"/>
            <a:ext cx="1993392" cy="66726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rgbClr val="FF0000"/>
                </a:solidFill>
              </a:rPr>
              <a:t>Note:</a:t>
            </a:r>
            <a:br>
              <a:rPr lang="en-US" sz="1200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/>
            </a:r>
            <a:br>
              <a:rPr lang="en-US" sz="1200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This format is CREDIT NOTE.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13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318" y="0"/>
            <a:ext cx="5299364" cy="685800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3706350" y="4474370"/>
            <a:ext cx="711413" cy="16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3" name="Rounded Rectangular Callout 52"/>
          <p:cNvSpPr/>
          <p:nvPr/>
        </p:nvSpPr>
        <p:spPr>
          <a:xfrm>
            <a:off x="2892358" y="4334302"/>
            <a:ext cx="554831" cy="217104"/>
          </a:xfrm>
          <a:prstGeom prst="wedgeRoundRectCallout">
            <a:avLst>
              <a:gd name="adj1" fmla="val 110150"/>
              <a:gd name="adj2" fmla="val 38357"/>
              <a:gd name="adj3" fmla="val 16667"/>
            </a:avLst>
          </a:prstGeom>
          <a:solidFill>
            <a:srgbClr val="00B05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b="1" dirty="0" smtClean="0"/>
              <a:t>61</a:t>
            </a:r>
            <a:endParaRPr lang="en-PH" sz="11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7065264" y="3016556"/>
            <a:ext cx="218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61 PICKUP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444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1614489" y="1577183"/>
            <a:ext cx="249785" cy="231963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75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675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3540345" y="2014537"/>
            <a:ext cx="1948027" cy="294896"/>
          </a:xfrm>
          <a:prstGeom prst="rect">
            <a:avLst/>
          </a:prstGeom>
        </p:spPr>
        <p:txBody>
          <a:bodyPr vert="horz" lIns="51435" tIns="25718" rIns="51435" bIns="25718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18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4765197"/>
              </p:ext>
            </p:extLst>
          </p:nvPr>
        </p:nvGraphicFramePr>
        <p:xfrm>
          <a:off x="800825" y="2358841"/>
          <a:ext cx="7727010" cy="3499890"/>
        </p:xfrm>
        <a:graphic>
          <a:graphicData uri="http://schemas.openxmlformats.org/drawingml/2006/table">
            <a:tbl>
              <a:tblPr/>
              <a:tblGrid>
                <a:gridCol w="5371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621">
                <a:tc>
                  <a:txBody>
                    <a:bodyPr/>
                    <a:lstStyle/>
                    <a:p>
                      <a:endParaRPr lang="en-PH" sz="1400" dirty="0"/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179">
                <a:tc>
                  <a:txBody>
                    <a:bodyPr/>
                    <a:lstStyle/>
                    <a:p>
                      <a:r>
                        <a:rPr lang="en-P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DI-22580 </a:t>
                      </a: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Marivic Ebo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09/29/2020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DI-23511 – Updated per instruction</a:t>
                      </a: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Reneir Tampus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10/30/2020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DI-23773 – Replaced the charge codes </a:t>
                      </a: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Reneir Tampus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11/10/2020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9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DI-24943 – Updated per instruction</a:t>
                      </a: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Ronald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Gudito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01/05/2021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DI-24970 – Updated per instruction to removed/recalled the request from the DI-24943 (</a:t>
                      </a: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where charge code MPF should be assigned to accessorial charge with Description "MPF Management".)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Dexie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Mayls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Manubag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01/06/2021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99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DI-25039 – UPDATED PER INSTRUCTION</a:t>
                      </a: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Reneir Tampus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01/7/2021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DI-26266 – Updated per instruction</a:t>
                      </a: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Lyn Mark Llanto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02/25/2021</a:t>
                      </a: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99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DI-26692 – Update the charge code MDM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Dexie</a:t>
                      </a: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Mayls</a:t>
                      </a: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Manubag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3/12/2021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DI-27755 – Update the from &amp; to information (address) priority to capture from COMMERCIAL Inv. If not provided then use BOL.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Dexie</a:t>
                      </a: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Mayls</a:t>
                      </a: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Manubag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4/23/2021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DI-54649 – Added new invoice format and add note (slide 8)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PHILLIP L. RAMISCAL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11/23/2023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81575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DI-56200 – Update as per instruction (slide 5)</a:t>
                      </a:r>
                    </a:p>
                  </a:txBody>
                  <a:tcPr marL="38576" marR="38576" marT="19289" marB="19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PHILLIP L. RAMISCAL</a:t>
                      </a:r>
                    </a:p>
                  </a:txBody>
                  <a:tcPr marL="38576" marR="38576" marT="19289" marB="19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1/29/2024</a:t>
                      </a:r>
                    </a:p>
                  </a:txBody>
                  <a:tcPr marL="38576" marR="38576" marT="19289" marB="19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17824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DI-59326 – Added new format for VALID REMIT TO (slide 9)</a:t>
                      </a:r>
                    </a:p>
                  </a:txBody>
                  <a:tcPr marL="38576" marR="38576" marT="19289" marB="19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REGINE S. DERIADA</a:t>
                      </a:r>
                    </a:p>
                  </a:txBody>
                  <a:tcPr marL="38576" marR="38576" marT="19289" marB="19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5/14/2024</a:t>
                      </a:r>
                    </a:p>
                  </a:txBody>
                  <a:tcPr marL="38576" marR="38576" marT="19289" marB="19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777541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DI-59946 – added new slide for credit note format (slide 10)</a:t>
                      </a:r>
                    </a:p>
                  </a:txBody>
                  <a:tcPr marL="38576" marR="38576" marT="19289" marB="192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REGINE S. DERIADA</a:t>
                      </a:r>
                    </a:p>
                  </a:txBody>
                  <a:tcPr marL="38576" marR="38576" marT="19289" marB="19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5/30/2024</a:t>
                      </a:r>
                    </a:p>
                  </a:txBody>
                  <a:tcPr marL="38576" marR="38576" marT="19289" marB="192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263902"/>
                  </a:ext>
                </a:extLst>
              </a:tr>
              <a:tr h="183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DI-60908 </a:t>
                      </a:r>
                      <a:r>
                        <a:rPr kumimoji="0" lang="en-GB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– </a:t>
                      </a:r>
                      <a:r>
                        <a:rPr kumimoji="0" lang="en-GB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Updated </a:t>
                      </a:r>
                      <a:r>
                        <a:rPr kumimoji="0" 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as per instruction </a:t>
                      </a: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(slide 11)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JOYCE MAE CATUBIG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6/25/2024</a:t>
                      </a:r>
                      <a:endParaRPr kumimoji="0" lang="en-GB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51435" marR="51435" marT="25718" marB="2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39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08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12616</TotalTime>
  <Words>824</Words>
  <Application>Microsoft Office PowerPoint</Application>
  <PresentationFormat>On-screen Show (4:3)</PresentationFormat>
  <Paragraphs>282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Javanese Text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Trax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phillip.ramisca</dc:creator>
  <cp:lastModifiedBy>joyce.catubig</cp:lastModifiedBy>
  <cp:revision>210</cp:revision>
  <dcterms:created xsi:type="dcterms:W3CDTF">2018-12-18T01:54:33Z</dcterms:created>
  <dcterms:modified xsi:type="dcterms:W3CDTF">2024-06-25T15:10:52Z</dcterms:modified>
</cp:coreProperties>
</file>