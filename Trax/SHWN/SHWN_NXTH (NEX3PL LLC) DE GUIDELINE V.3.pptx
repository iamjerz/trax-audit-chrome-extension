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>
        <p:scale>
          <a:sx n="100" d="100"/>
          <a:sy n="100" d="100"/>
        </p:scale>
        <p:origin x="-324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2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5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8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2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7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7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4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48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3" y="2314623"/>
            <a:ext cx="9926052" cy="1795934"/>
          </a:xfrm>
        </p:spPr>
        <p:txBody>
          <a:bodyPr anchor="t"/>
          <a:lstStyle>
            <a:lvl1pPr algn="l">
              <a:defRPr sz="1424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5" y="4214962"/>
            <a:ext cx="4668839" cy="1345115"/>
          </a:xfrm>
        </p:spPr>
        <p:txBody>
          <a:bodyPr/>
          <a:lstStyle>
            <a:lvl1pPr marL="0" indent="0" algn="l">
              <a:buNone/>
              <a:defRPr sz="570"/>
            </a:lvl1pPr>
            <a:lvl2pPr marL="108496" indent="0" algn="ctr">
              <a:buNone/>
              <a:defRPr sz="475"/>
            </a:lvl2pPr>
            <a:lvl3pPr marL="216992" indent="0" algn="ctr">
              <a:buNone/>
              <a:defRPr sz="428"/>
            </a:lvl3pPr>
            <a:lvl4pPr marL="325487" indent="0" algn="ctr">
              <a:buNone/>
              <a:defRPr sz="380"/>
            </a:lvl4pPr>
            <a:lvl5pPr marL="433983" indent="0" algn="ctr">
              <a:buNone/>
              <a:defRPr sz="380"/>
            </a:lvl5pPr>
            <a:lvl6pPr marL="542479" indent="0" algn="ctr">
              <a:buNone/>
              <a:defRPr sz="380"/>
            </a:lvl6pPr>
            <a:lvl7pPr marL="650975" indent="0" algn="ctr">
              <a:buNone/>
              <a:defRPr sz="380"/>
            </a:lvl7pPr>
            <a:lvl8pPr marL="759470" indent="0" algn="ctr">
              <a:buNone/>
              <a:defRPr sz="380"/>
            </a:lvl8pPr>
            <a:lvl9pPr marL="867966" indent="0" algn="ctr">
              <a:buNone/>
              <a:defRPr sz="38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60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6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6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8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5" y="5664462"/>
            <a:ext cx="4668839" cy="336288"/>
          </a:xfrm>
        </p:spPr>
        <p:txBody>
          <a:bodyPr/>
          <a:lstStyle>
            <a:lvl1pPr marL="0" indent="0">
              <a:buNone/>
              <a:defRPr sz="380"/>
            </a:lvl1pPr>
            <a:lvl2pPr marL="108496" indent="0">
              <a:buNone/>
              <a:defRPr sz="332"/>
            </a:lvl2pPr>
            <a:lvl3pPr marL="216992" indent="0">
              <a:buNone/>
              <a:defRPr sz="285"/>
            </a:lvl3pPr>
            <a:lvl4pPr marL="325487" indent="0">
              <a:buNone/>
              <a:defRPr sz="237"/>
            </a:lvl4pPr>
            <a:lvl5pPr marL="433983" indent="0">
              <a:buNone/>
              <a:defRPr sz="237"/>
            </a:lvl5pPr>
            <a:lvl6pPr marL="542479" indent="0">
              <a:buNone/>
              <a:defRPr sz="237"/>
            </a:lvl6pPr>
            <a:lvl7pPr marL="650975" indent="0">
              <a:buNone/>
              <a:defRPr sz="237"/>
            </a:lvl7pPr>
            <a:lvl8pPr marL="759470" indent="0">
              <a:buNone/>
              <a:defRPr sz="237"/>
            </a:lvl8pPr>
            <a:lvl9pPr marL="867966" indent="0">
              <a:buNone/>
              <a:defRPr sz="237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53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0BEAB-D642-4AB2-80F8-26A21F49E8BB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19274" y="2392085"/>
            <a:ext cx="976866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SHWN_</a:t>
            </a:r>
            <a:r>
              <a:rPr lang="en-US" sz="2800" dirty="0">
                <a:solidFill>
                  <a:srgbClr val="00B050"/>
                </a:solidFill>
              </a:rPr>
              <a:t>NXTH </a:t>
            </a:r>
            <a:r>
              <a:rPr lang="en-US" sz="2800" dirty="0"/>
              <a:t>(NEX3PL LLC)</a:t>
            </a:r>
          </a:p>
          <a:p>
            <a:r>
              <a:rPr lang="en-US" sz="2400" dirty="0">
                <a:solidFill>
                  <a:srgbClr val="FF0000"/>
                </a:solidFill>
                <a:latin typeface="Segoe UI" panose="020B0502040204020203" pitchFamily="34" charset="0"/>
              </a:rPr>
              <a:t>Always key the following, visible in the invoice separator sheet:</a:t>
            </a:r>
            <a:endParaRPr lang="en-US" sz="2400" b="0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</a:rPr>
              <a:t>Batch ID (68a)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BAT ID </a:t>
            </a:r>
            <a:r>
              <a:rPr lang="en-US" sz="2400" dirty="0">
                <a:latin typeface="Segoe UI" panose="020B0502040204020203" pitchFamily="34" charset="0"/>
              </a:rPr>
              <a:t>(69) Value/No</a:t>
            </a:r>
            <a:endParaRPr lang="en-US" sz="2400" b="0" i="0" dirty="0">
              <a:effectLst/>
              <a:latin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</a:rPr>
              <a:t>Client Code (68b)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CL CODE </a:t>
            </a:r>
            <a:r>
              <a:rPr lang="en-US" sz="2400" dirty="0">
                <a:latin typeface="Segoe UI" panose="020B0502040204020203" pitchFamily="34" charset="0"/>
              </a:rPr>
              <a:t>(69) </a:t>
            </a:r>
            <a:r>
              <a:rPr lang="en-US" sz="2400" dirty="0">
                <a:solidFill>
                  <a:srgbClr val="FF0000"/>
                </a:solidFill>
              </a:rPr>
              <a:t>SHWN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 err="1">
                <a:latin typeface="Segoe UI" panose="020B0502040204020203" pitchFamily="34" charset="0"/>
              </a:rPr>
              <a:t>Scac</a:t>
            </a:r>
            <a:r>
              <a:rPr lang="en-US" sz="2400" dirty="0">
                <a:latin typeface="Segoe UI" panose="020B0502040204020203" pitchFamily="34" charset="0"/>
              </a:rPr>
              <a:t> Code (68c)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SCAC CODE </a:t>
            </a:r>
            <a:r>
              <a:rPr lang="en-US" sz="2400" dirty="0">
                <a:latin typeface="Segoe UI" panose="020B0502040204020203" pitchFamily="34" charset="0"/>
              </a:rPr>
              <a:t>(69) </a:t>
            </a:r>
            <a:r>
              <a:rPr lang="en-US" sz="2400" dirty="0">
                <a:solidFill>
                  <a:srgbClr val="00B050"/>
                </a:solidFill>
              </a:rPr>
              <a:t>NXTH</a:t>
            </a:r>
            <a:endParaRPr lang="en-US" sz="2400" b="0" i="0" dirty="0">
              <a:solidFill>
                <a:srgbClr val="00B05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16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29" y="0"/>
            <a:ext cx="5299364" cy="6858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45841" y="117693"/>
            <a:ext cx="24136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68a AWB</a:t>
            </a:r>
          </a:p>
          <a:p>
            <a:r>
              <a:rPr lang="en-US" dirty="0">
                <a:solidFill>
                  <a:srgbClr val="FF0000"/>
                </a:solidFill>
              </a:rPr>
              <a:t>68b HAWB</a:t>
            </a:r>
          </a:p>
          <a:p>
            <a:r>
              <a:rPr lang="en-US" dirty="0">
                <a:solidFill>
                  <a:srgbClr val="FF0000"/>
                </a:solidFill>
              </a:rPr>
              <a:t>01 REMIT TO</a:t>
            </a:r>
          </a:p>
          <a:p>
            <a:r>
              <a:rPr lang="en-US" dirty="0">
                <a:solidFill>
                  <a:srgbClr val="FF0000"/>
                </a:solidFill>
              </a:rPr>
              <a:t>02 BILL TO</a:t>
            </a:r>
          </a:p>
          <a:p>
            <a:r>
              <a:rPr lang="en-US" dirty="0">
                <a:solidFill>
                  <a:srgbClr val="FF0000"/>
                </a:solidFill>
              </a:rPr>
              <a:t>03 INV KEY</a:t>
            </a:r>
          </a:p>
          <a:p>
            <a:r>
              <a:rPr lang="en-US" dirty="0">
                <a:solidFill>
                  <a:srgbClr val="FF0000"/>
                </a:solidFill>
              </a:rPr>
              <a:t>10 DATE</a:t>
            </a:r>
          </a:p>
          <a:p>
            <a:r>
              <a:rPr lang="en-US" dirty="0">
                <a:solidFill>
                  <a:srgbClr val="FF0000"/>
                </a:solidFill>
              </a:rPr>
              <a:t>27 SHIPPER INV</a:t>
            </a:r>
          </a:p>
          <a:p>
            <a:r>
              <a:rPr lang="en-US" dirty="0">
                <a:solidFill>
                  <a:srgbClr val="FF0000"/>
                </a:solidFill>
              </a:rPr>
              <a:t>30 CONSIGNEE INV</a:t>
            </a:r>
          </a:p>
          <a:p>
            <a:r>
              <a:rPr lang="en-US" dirty="0">
                <a:solidFill>
                  <a:srgbClr val="FF0000"/>
                </a:solidFill>
              </a:rPr>
              <a:t>61 PICK UP</a:t>
            </a:r>
          </a:p>
          <a:p>
            <a:r>
              <a:rPr lang="en-US" dirty="0">
                <a:solidFill>
                  <a:srgbClr val="FF0000"/>
                </a:solidFill>
              </a:rPr>
              <a:t>90 PROD DESC</a:t>
            </a:r>
          </a:p>
          <a:p>
            <a:r>
              <a:rPr lang="en-US" dirty="0">
                <a:solidFill>
                  <a:srgbClr val="FF0000"/>
                </a:solidFill>
              </a:rPr>
              <a:t>46 PIECES</a:t>
            </a:r>
          </a:p>
          <a:p>
            <a:r>
              <a:rPr lang="en-US" dirty="0">
                <a:solidFill>
                  <a:srgbClr val="FF0000"/>
                </a:solidFill>
              </a:rPr>
              <a:t>47 PIECES TYPE</a:t>
            </a:r>
          </a:p>
          <a:p>
            <a:r>
              <a:rPr lang="en-US" dirty="0">
                <a:solidFill>
                  <a:srgbClr val="FF0000"/>
                </a:solidFill>
              </a:rPr>
              <a:t>42 ACTUAL WT</a:t>
            </a:r>
          </a:p>
          <a:p>
            <a:r>
              <a:rPr lang="en-US" dirty="0">
                <a:solidFill>
                  <a:srgbClr val="FF0000"/>
                </a:solidFill>
              </a:rPr>
              <a:t>43 FNCL WT</a:t>
            </a:r>
          </a:p>
          <a:p>
            <a:r>
              <a:rPr lang="en-US" dirty="0">
                <a:solidFill>
                  <a:srgbClr val="FF0000"/>
                </a:solidFill>
              </a:rPr>
              <a:t>44 ACTUAL WT UOM</a:t>
            </a:r>
          </a:p>
          <a:p>
            <a:r>
              <a:rPr lang="en-US" dirty="0">
                <a:solidFill>
                  <a:srgbClr val="FF0000"/>
                </a:solidFill>
              </a:rPr>
              <a:t>45 FNCL WT UOM</a:t>
            </a:r>
          </a:p>
          <a:p>
            <a:r>
              <a:rPr lang="en-US" dirty="0">
                <a:solidFill>
                  <a:srgbClr val="FF0000"/>
                </a:solidFill>
              </a:rPr>
              <a:t>11 DUE</a:t>
            </a:r>
          </a:p>
          <a:p>
            <a:r>
              <a:rPr lang="en-US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US" dirty="0">
                <a:solidFill>
                  <a:srgbClr val="FF0000"/>
                </a:solidFill>
              </a:rPr>
              <a:t>74 LINE ITEM QTY Q</a:t>
            </a:r>
          </a:p>
          <a:p>
            <a:r>
              <a:rPr lang="en-US" dirty="0">
                <a:solidFill>
                  <a:srgbClr val="FF0000"/>
                </a:solidFill>
              </a:rPr>
              <a:t>75 LINE ITEM RATE</a:t>
            </a:r>
          </a:p>
          <a:p>
            <a:r>
              <a:rPr lang="en-US" dirty="0">
                <a:solidFill>
                  <a:srgbClr val="FF0000"/>
                </a:solidFill>
              </a:rPr>
              <a:t>85 LINE ITEM AMT</a:t>
            </a:r>
          </a:p>
          <a:p>
            <a:r>
              <a:rPr lang="en-US" dirty="0">
                <a:solidFill>
                  <a:srgbClr val="FF0000"/>
                </a:solidFill>
              </a:rPr>
              <a:t>08 INV AMT</a:t>
            </a:r>
          </a:p>
          <a:p>
            <a:r>
              <a:rPr lang="en-US" dirty="0">
                <a:solidFill>
                  <a:srgbClr val="FF0000"/>
                </a:solidFill>
              </a:rPr>
              <a:t>14 FB AMT</a:t>
            </a:r>
          </a:p>
          <a:p>
            <a:r>
              <a:rPr lang="en-US" dirty="0">
                <a:solidFill>
                  <a:srgbClr val="FF0000"/>
                </a:solidFill>
              </a:rPr>
              <a:t>09 CURR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2331" y="455336"/>
            <a:ext cx="1288566" cy="239608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8" name="Rounded Rectangular Callout 117"/>
          <p:cNvSpPr/>
          <p:nvPr/>
        </p:nvSpPr>
        <p:spPr>
          <a:xfrm>
            <a:off x="6214318" y="1195160"/>
            <a:ext cx="406482" cy="192351"/>
          </a:xfrm>
          <a:prstGeom prst="wedgeRoundRectCallout">
            <a:avLst>
              <a:gd name="adj1" fmla="val -114134"/>
              <a:gd name="adj2" fmla="val -7734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82767" y="895094"/>
            <a:ext cx="560833" cy="147322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31156" y="1042416"/>
            <a:ext cx="544830" cy="140208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321436" y="1291336"/>
            <a:ext cx="1101724" cy="379984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048124" y="1394460"/>
            <a:ext cx="807975" cy="98044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048125" y="1492504"/>
            <a:ext cx="641986" cy="8293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048125" y="1575435"/>
            <a:ext cx="434340" cy="8293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048124" y="1658366"/>
            <a:ext cx="381001" cy="8293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048124" y="1742567"/>
            <a:ext cx="381001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021455" y="1828546"/>
            <a:ext cx="99442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06115" y="1828546"/>
            <a:ext cx="228484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47852" y="2662301"/>
            <a:ext cx="218123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364481" y="2662300"/>
            <a:ext cx="87630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041840" y="1922145"/>
            <a:ext cx="648271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21436" y="1924050"/>
            <a:ext cx="457834" cy="816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379220" y="3038475"/>
            <a:ext cx="474345" cy="9817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931920" y="3055620"/>
            <a:ext cx="188977" cy="9817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892040" y="3055620"/>
            <a:ext cx="188977" cy="9817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623106" y="3055619"/>
            <a:ext cx="188977" cy="9817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66410" y="5775959"/>
            <a:ext cx="245673" cy="990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482465" y="5494019"/>
            <a:ext cx="245673" cy="9906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6214318" y="553251"/>
            <a:ext cx="406482" cy="192351"/>
          </a:xfrm>
          <a:prstGeom prst="wedgeRoundRectCallout">
            <a:avLst>
              <a:gd name="adj1" fmla="val -130631"/>
              <a:gd name="adj2" fmla="val 15717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03</a:t>
            </a:r>
          </a:p>
        </p:txBody>
      </p:sp>
      <p:sp>
        <p:nvSpPr>
          <p:cNvPr id="62" name="Rounded Rectangular Callout 61"/>
          <p:cNvSpPr/>
          <p:nvPr/>
        </p:nvSpPr>
        <p:spPr>
          <a:xfrm>
            <a:off x="4321656" y="227584"/>
            <a:ext cx="406482" cy="192351"/>
          </a:xfrm>
          <a:prstGeom prst="wedgeRoundRectCallout">
            <a:avLst>
              <a:gd name="adj1" fmla="val -114134"/>
              <a:gd name="adj2" fmla="val 14449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01</a:t>
            </a:r>
          </a:p>
        </p:txBody>
      </p:sp>
      <p:sp>
        <p:nvSpPr>
          <p:cNvPr id="63" name="Rounded Rectangular Callout 62"/>
          <p:cNvSpPr/>
          <p:nvPr/>
        </p:nvSpPr>
        <p:spPr>
          <a:xfrm>
            <a:off x="4856099" y="1054227"/>
            <a:ext cx="406482" cy="192351"/>
          </a:xfrm>
          <a:prstGeom prst="wedgeRoundRectCallout">
            <a:avLst>
              <a:gd name="adj1" fmla="val -114134"/>
              <a:gd name="adj2" fmla="val 14449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27</a:t>
            </a:r>
          </a:p>
        </p:txBody>
      </p:sp>
      <p:sp>
        <p:nvSpPr>
          <p:cNvPr id="64" name="Rounded Rectangular Callout 63"/>
          <p:cNvSpPr/>
          <p:nvPr/>
        </p:nvSpPr>
        <p:spPr>
          <a:xfrm>
            <a:off x="5024674" y="1424549"/>
            <a:ext cx="406482" cy="192351"/>
          </a:xfrm>
          <a:prstGeom prst="wedgeRoundRectCallout">
            <a:avLst>
              <a:gd name="adj1" fmla="val -142628"/>
              <a:gd name="adj2" fmla="val 1455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30</a:t>
            </a:r>
          </a:p>
        </p:txBody>
      </p:sp>
      <p:sp>
        <p:nvSpPr>
          <p:cNvPr id="65" name="Rounded Rectangular Callout 64"/>
          <p:cNvSpPr/>
          <p:nvPr/>
        </p:nvSpPr>
        <p:spPr>
          <a:xfrm>
            <a:off x="4290109" y="2271158"/>
            <a:ext cx="541376" cy="192351"/>
          </a:xfrm>
          <a:prstGeom prst="wedgeRoundRectCallout">
            <a:avLst>
              <a:gd name="adj1" fmla="val -48474"/>
              <a:gd name="adj2" fmla="val 15796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42/43</a:t>
            </a:r>
          </a:p>
        </p:txBody>
      </p:sp>
      <p:sp>
        <p:nvSpPr>
          <p:cNvPr id="66" name="Rounded Rectangular Callout 65"/>
          <p:cNvSpPr/>
          <p:nvPr/>
        </p:nvSpPr>
        <p:spPr>
          <a:xfrm>
            <a:off x="3416583" y="1300153"/>
            <a:ext cx="406482" cy="192351"/>
          </a:xfrm>
          <a:prstGeom prst="wedgeRoundRectCallout">
            <a:avLst>
              <a:gd name="adj1" fmla="val 103322"/>
              <a:gd name="adj2" fmla="val 141327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68a</a:t>
            </a:r>
          </a:p>
        </p:txBody>
      </p:sp>
      <p:sp>
        <p:nvSpPr>
          <p:cNvPr id="67" name="Rounded Rectangular Callout 66"/>
          <p:cNvSpPr/>
          <p:nvPr/>
        </p:nvSpPr>
        <p:spPr>
          <a:xfrm>
            <a:off x="3367023" y="1542134"/>
            <a:ext cx="406482" cy="192351"/>
          </a:xfrm>
          <a:prstGeom prst="wedgeRoundRectCallout">
            <a:avLst>
              <a:gd name="adj1" fmla="val 127317"/>
              <a:gd name="adj2" fmla="val 71604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68b</a:t>
            </a:r>
          </a:p>
        </p:txBody>
      </p:sp>
      <p:sp>
        <p:nvSpPr>
          <p:cNvPr id="68" name="Rounded Rectangular Callout 67"/>
          <p:cNvSpPr/>
          <p:nvPr/>
        </p:nvSpPr>
        <p:spPr>
          <a:xfrm>
            <a:off x="2906579" y="2088605"/>
            <a:ext cx="406482" cy="192351"/>
          </a:xfrm>
          <a:prstGeom prst="wedgeRoundRectCallout">
            <a:avLst>
              <a:gd name="adj1" fmla="val 65829"/>
              <a:gd name="adj2" fmla="val -1660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47</a:t>
            </a:r>
          </a:p>
        </p:txBody>
      </p:sp>
      <p:sp>
        <p:nvSpPr>
          <p:cNvPr id="70" name="Rounded Rectangular Callout 69"/>
          <p:cNvSpPr/>
          <p:nvPr/>
        </p:nvSpPr>
        <p:spPr>
          <a:xfrm>
            <a:off x="3416202" y="2088604"/>
            <a:ext cx="406482" cy="192351"/>
          </a:xfrm>
          <a:prstGeom prst="wedgeRoundRectCallout">
            <a:avLst>
              <a:gd name="adj1" fmla="val 107821"/>
              <a:gd name="adj2" fmla="val -15974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46</a:t>
            </a:r>
          </a:p>
        </p:txBody>
      </p:sp>
      <p:sp>
        <p:nvSpPr>
          <p:cNvPr id="71" name="Rounded Rectangular Callout 70"/>
          <p:cNvSpPr/>
          <p:nvPr/>
        </p:nvSpPr>
        <p:spPr>
          <a:xfrm>
            <a:off x="4746969" y="2538510"/>
            <a:ext cx="515612" cy="205451"/>
          </a:xfrm>
          <a:prstGeom prst="wedgeRoundRectCallout">
            <a:avLst>
              <a:gd name="adj1" fmla="val -111589"/>
              <a:gd name="adj2" fmla="val 3170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44/45</a:t>
            </a:r>
          </a:p>
        </p:txBody>
      </p:sp>
      <p:sp>
        <p:nvSpPr>
          <p:cNvPr id="72" name="Rounded Rectangular Callout 71"/>
          <p:cNvSpPr/>
          <p:nvPr/>
        </p:nvSpPr>
        <p:spPr>
          <a:xfrm>
            <a:off x="1222318" y="3332824"/>
            <a:ext cx="406482" cy="192351"/>
          </a:xfrm>
          <a:prstGeom prst="wedgeRoundRectCallout">
            <a:avLst>
              <a:gd name="adj1" fmla="val 65829"/>
              <a:gd name="adj2" fmla="val -1660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72</a:t>
            </a:r>
          </a:p>
        </p:txBody>
      </p:sp>
      <p:sp>
        <p:nvSpPr>
          <p:cNvPr id="73" name="Rounded Rectangular Callout 72"/>
          <p:cNvSpPr/>
          <p:nvPr/>
        </p:nvSpPr>
        <p:spPr>
          <a:xfrm>
            <a:off x="3570264" y="3341912"/>
            <a:ext cx="406482" cy="192351"/>
          </a:xfrm>
          <a:prstGeom prst="wedgeRoundRectCallout">
            <a:avLst>
              <a:gd name="adj1" fmla="val 65829"/>
              <a:gd name="adj2" fmla="val -1660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74</a:t>
            </a:r>
          </a:p>
        </p:txBody>
      </p:sp>
      <p:sp>
        <p:nvSpPr>
          <p:cNvPr id="74" name="Rounded Rectangular Callout 73"/>
          <p:cNvSpPr/>
          <p:nvPr/>
        </p:nvSpPr>
        <p:spPr>
          <a:xfrm>
            <a:off x="4524897" y="3333240"/>
            <a:ext cx="406482" cy="192351"/>
          </a:xfrm>
          <a:prstGeom prst="wedgeRoundRectCallout">
            <a:avLst>
              <a:gd name="adj1" fmla="val 65829"/>
              <a:gd name="adj2" fmla="val -1660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75</a:t>
            </a:r>
          </a:p>
        </p:txBody>
      </p:sp>
      <p:sp>
        <p:nvSpPr>
          <p:cNvPr id="75" name="Rounded Rectangular Callout 74"/>
          <p:cNvSpPr/>
          <p:nvPr/>
        </p:nvSpPr>
        <p:spPr>
          <a:xfrm>
            <a:off x="5226403" y="3331559"/>
            <a:ext cx="406482" cy="192351"/>
          </a:xfrm>
          <a:prstGeom prst="wedgeRoundRectCallout">
            <a:avLst>
              <a:gd name="adj1" fmla="val 65829"/>
              <a:gd name="adj2" fmla="val -1660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85</a:t>
            </a:r>
          </a:p>
        </p:txBody>
      </p:sp>
      <p:sp>
        <p:nvSpPr>
          <p:cNvPr id="76" name="Rounded Rectangular Callout 75"/>
          <p:cNvSpPr/>
          <p:nvPr/>
        </p:nvSpPr>
        <p:spPr>
          <a:xfrm>
            <a:off x="4053672" y="5122761"/>
            <a:ext cx="406482" cy="192351"/>
          </a:xfrm>
          <a:prstGeom prst="wedgeRoundRectCallout">
            <a:avLst>
              <a:gd name="adj1" fmla="val 77827"/>
              <a:gd name="adj2" fmla="val 15717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09</a:t>
            </a:r>
          </a:p>
        </p:txBody>
      </p:sp>
      <p:sp>
        <p:nvSpPr>
          <p:cNvPr id="77" name="Rounded Rectangular Callout 76"/>
          <p:cNvSpPr/>
          <p:nvPr/>
        </p:nvSpPr>
        <p:spPr>
          <a:xfrm>
            <a:off x="5024674" y="5380679"/>
            <a:ext cx="561334" cy="212401"/>
          </a:xfrm>
          <a:prstGeom prst="wedgeRoundRectCallout">
            <a:avLst>
              <a:gd name="adj1" fmla="val 65416"/>
              <a:gd name="adj2" fmla="val 15717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08/14</a:t>
            </a:r>
          </a:p>
        </p:txBody>
      </p:sp>
      <p:sp>
        <p:nvSpPr>
          <p:cNvPr id="78" name="Rounded Rectangular Callout 77"/>
          <p:cNvSpPr/>
          <p:nvPr/>
        </p:nvSpPr>
        <p:spPr>
          <a:xfrm>
            <a:off x="5050175" y="1714571"/>
            <a:ext cx="406482" cy="192351"/>
          </a:xfrm>
          <a:prstGeom prst="wedgeRoundRectCallout">
            <a:avLst>
              <a:gd name="adj1" fmla="val -203865"/>
              <a:gd name="adj2" fmla="val -10428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61</a:t>
            </a:r>
          </a:p>
        </p:txBody>
      </p:sp>
      <p:sp>
        <p:nvSpPr>
          <p:cNvPr id="79" name="Rounded Rectangular Callout 78"/>
          <p:cNvSpPr/>
          <p:nvPr/>
        </p:nvSpPr>
        <p:spPr>
          <a:xfrm>
            <a:off x="5030063" y="1971720"/>
            <a:ext cx="406482" cy="192351"/>
          </a:xfrm>
          <a:prstGeom prst="wedgeRoundRectCallout">
            <a:avLst>
              <a:gd name="adj1" fmla="val -173871"/>
              <a:gd name="adj2" fmla="val -5938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90</a:t>
            </a:r>
          </a:p>
        </p:txBody>
      </p:sp>
      <p:sp>
        <p:nvSpPr>
          <p:cNvPr id="80" name="Rounded Rectangular Callout 79"/>
          <p:cNvSpPr/>
          <p:nvPr/>
        </p:nvSpPr>
        <p:spPr>
          <a:xfrm>
            <a:off x="811334" y="2271158"/>
            <a:ext cx="406482" cy="192351"/>
          </a:xfrm>
          <a:prstGeom prst="wedgeRoundRectCallout">
            <a:avLst>
              <a:gd name="adj1" fmla="val 118318"/>
              <a:gd name="adj2" fmla="val -19777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11</a:t>
            </a:r>
          </a:p>
        </p:txBody>
      </p:sp>
      <p:sp>
        <p:nvSpPr>
          <p:cNvPr id="81" name="Rounded Rectangular Callout 80"/>
          <p:cNvSpPr/>
          <p:nvPr/>
        </p:nvSpPr>
        <p:spPr>
          <a:xfrm>
            <a:off x="735006" y="1618395"/>
            <a:ext cx="406482" cy="192351"/>
          </a:xfrm>
          <a:prstGeom prst="wedgeRoundRectCallout">
            <a:avLst>
              <a:gd name="adj1" fmla="val 123942"/>
              <a:gd name="adj2" fmla="val -14627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439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89" y="0"/>
            <a:ext cx="5299364" cy="6858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97848" y="649427"/>
            <a:ext cx="24136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68a BOL</a:t>
            </a:r>
          </a:p>
          <a:p>
            <a:r>
              <a:rPr lang="en-US" dirty="0">
                <a:solidFill>
                  <a:srgbClr val="FF0000"/>
                </a:solidFill>
              </a:rPr>
              <a:t>28 SHIPPER BOL</a:t>
            </a:r>
          </a:p>
          <a:p>
            <a:r>
              <a:rPr lang="en-US" dirty="0">
                <a:solidFill>
                  <a:srgbClr val="FF0000"/>
                </a:solidFill>
              </a:rPr>
              <a:t>31 CONSIGNEE BOL</a:t>
            </a:r>
          </a:p>
          <a:p>
            <a:r>
              <a:rPr lang="en-US" dirty="0">
                <a:solidFill>
                  <a:srgbClr val="FF0000"/>
                </a:solidFill>
              </a:rPr>
              <a:t>36 FRGHT TERM</a:t>
            </a:r>
          </a:p>
          <a:p>
            <a:r>
              <a:rPr lang="en-US" dirty="0">
                <a:solidFill>
                  <a:srgbClr val="FF0000"/>
                </a:solidFill>
              </a:rPr>
              <a:t>68b ORD NO</a:t>
            </a:r>
          </a:p>
          <a:p>
            <a:r>
              <a:rPr lang="en-US" dirty="0">
                <a:solidFill>
                  <a:srgbClr val="FF0000"/>
                </a:solidFill>
              </a:rPr>
              <a:t>90 PROD DESC</a:t>
            </a:r>
          </a:p>
          <a:p>
            <a:r>
              <a:rPr lang="en-US" dirty="0">
                <a:solidFill>
                  <a:srgbClr val="FF0000"/>
                </a:solidFill>
              </a:rPr>
              <a:t>95 PCS CNT</a:t>
            </a:r>
          </a:p>
          <a:p>
            <a:r>
              <a:rPr lang="en-US" dirty="0">
                <a:solidFill>
                  <a:srgbClr val="FF0000"/>
                </a:solidFill>
              </a:rPr>
              <a:t>96 GROSS WT</a:t>
            </a:r>
          </a:p>
          <a:p>
            <a:r>
              <a:rPr lang="en-US" dirty="0">
                <a:solidFill>
                  <a:srgbClr val="FF0000"/>
                </a:solidFill>
              </a:rPr>
              <a:t>97 NET WT</a:t>
            </a:r>
          </a:p>
          <a:p>
            <a:r>
              <a:rPr lang="en-US" dirty="0">
                <a:solidFill>
                  <a:srgbClr val="FF0000"/>
                </a:solidFill>
              </a:rPr>
              <a:t>98 WT UOM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18281" y="683174"/>
            <a:ext cx="604290" cy="12454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8" name="Rounded Rectangular Callout 117"/>
          <p:cNvSpPr/>
          <p:nvPr/>
        </p:nvSpPr>
        <p:spPr>
          <a:xfrm>
            <a:off x="5267889" y="2023110"/>
            <a:ext cx="406482" cy="192351"/>
          </a:xfrm>
          <a:prstGeom prst="wedgeRoundRectCallout">
            <a:avLst>
              <a:gd name="adj1" fmla="val -147128"/>
              <a:gd name="adj2" fmla="val -8685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8790" y="866054"/>
            <a:ext cx="1743479" cy="35695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8790" y="1223010"/>
            <a:ext cx="1743479" cy="40767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8680" y="1905000"/>
            <a:ext cx="341746" cy="11811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31570" y="2510790"/>
            <a:ext cx="613410" cy="11811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37119" y="2911584"/>
            <a:ext cx="124981" cy="10212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88038" y="2911584"/>
            <a:ext cx="1056152" cy="10212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80660" y="2907774"/>
            <a:ext cx="171450" cy="10212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5425" y="2776329"/>
            <a:ext cx="171450" cy="10212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801319" y="2885730"/>
            <a:ext cx="406482" cy="192351"/>
          </a:xfrm>
          <a:prstGeom prst="wedgeRoundRectCallout">
            <a:avLst>
              <a:gd name="adj1" fmla="val -129631"/>
              <a:gd name="adj2" fmla="val -7365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98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674371" y="3165130"/>
            <a:ext cx="533430" cy="250299"/>
          </a:xfrm>
          <a:prstGeom prst="wedgeRoundRectCallout">
            <a:avLst>
              <a:gd name="adj1" fmla="val -104777"/>
              <a:gd name="adj2" fmla="val -120192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96/97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3275228" y="3078081"/>
            <a:ext cx="406482" cy="192351"/>
          </a:xfrm>
          <a:prstGeom prst="wedgeRoundRectCallout">
            <a:avLst>
              <a:gd name="adj1" fmla="val -144129"/>
              <a:gd name="adj2" fmla="val -10904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90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1644047" y="3223078"/>
            <a:ext cx="406482" cy="192351"/>
          </a:xfrm>
          <a:prstGeom prst="wedgeRoundRectCallout">
            <a:avLst>
              <a:gd name="adj1" fmla="val -79642"/>
              <a:gd name="adj2" fmla="val -169255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95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451300" y="2119285"/>
            <a:ext cx="406482" cy="192351"/>
          </a:xfrm>
          <a:prstGeom prst="wedgeRoundRectCallout">
            <a:avLst>
              <a:gd name="adj1" fmla="val 145313"/>
              <a:gd name="adj2" fmla="val 17935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68b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451300" y="1044532"/>
            <a:ext cx="406482" cy="192351"/>
          </a:xfrm>
          <a:prstGeom prst="wedgeRoundRectCallout">
            <a:avLst>
              <a:gd name="adj1" fmla="val 145313"/>
              <a:gd name="adj2" fmla="val 17935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31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463179" y="587386"/>
            <a:ext cx="406482" cy="192351"/>
          </a:xfrm>
          <a:prstGeom prst="wedgeRoundRectCallout">
            <a:avLst>
              <a:gd name="adj1" fmla="val 145313"/>
              <a:gd name="adj2" fmla="val 17935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28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4029339" y="306970"/>
            <a:ext cx="406482" cy="192351"/>
          </a:xfrm>
          <a:prstGeom prst="wedgeRoundRectCallout">
            <a:avLst>
              <a:gd name="adj1" fmla="val 145313"/>
              <a:gd name="adj2" fmla="val 17935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/>
              <a:t>68a</a:t>
            </a:r>
          </a:p>
        </p:txBody>
      </p:sp>
    </p:spTree>
    <p:extLst>
      <p:ext uri="{BB962C8B-B14F-4D97-AF65-F5344CB8AC3E}">
        <p14:creationId xmlns:p14="http://schemas.microsoft.com/office/powerpoint/2010/main" val="188172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663" y="0"/>
            <a:ext cx="529936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flipV="1">
            <a:off x="5648325" y="1287772"/>
            <a:ext cx="587375" cy="108018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5648325" y="1395790"/>
            <a:ext cx="485775" cy="12675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406408" y="1195435"/>
            <a:ext cx="449066" cy="171632"/>
          </a:xfrm>
          <a:prstGeom prst="wedgeRoundRectCallout">
            <a:avLst>
              <a:gd name="adj1" fmla="val -96060"/>
              <a:gd name="adj2" fmla="val 3398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52" y="897395"/>
            <a:ext cx="21863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74 LINE ITEM QTY Q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75 RATE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85 LINE ITEM AMOUNT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08/14 INV AMT/FB AMT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026" y="279126"/>
            <a:ext cx="1325441" cy="53245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 dirty="0">
                <a:solidFill>
                  <a:srgbClr val="FF0000"/>
                </a:solidFill>
              </a:rPr>
              <a:t>Credit Invoice</a:t>
            </a:r>
            <a:endParaRPr lang="en-PH" sz="1050" dirty="0">
              <a:solidFill>
                <a:srgbClr val="FF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6235700" y="1522547"/>
            <a:ext cx="449066" cy="171632"/>
          </a:xfrm>
          <a:prstGeom prst="wedgeRoundRectCallout">
            <a:avLst>
              <a:gd name="adj1" fmla="val -91111"/>
              <a:gd name="adj2" fmla="val -58507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10</a:t>
            </a:r>
          </a:p>
        </p:txBody>
      </p:sp>
      <p:sp>
        <p:nvSpPr>
          <p:cNvPr id="11" name="Rectangle 10"/>
          <p:cNvSpPr/>
          <p:nvPr/>
        </p:nvSpPr>
        <p:spPr>
          <a:xfrm flipV="1">
            <a:off x="1965325" y="1400686"/>
            <a:ext cx="1247775" cy="510663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V="1">
            <a:off x="1965325" y="301428"/>
            <a:ext cx="720726" cy="397072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2823180" y="373720"/>
            <a:ext cx="449066" cy="171632"/>
          </a:xfrm>
          <a:prstGeom prst="wedgeRoundRectCallout">
            <a:avLst>
              <a:gd name="adj1" fmla="val -96060"/>
              <a:gd name="adj2" fmla="val 3398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01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3272246" y="1436731"/>
            <a:ext cx="449066" cy="171632"/>
          </a:xfrm>
          <a:prstGeom prst="wedgeRoundRectCallout">
            <a:avLst>
              <a:gd name="adj1" fmla="val -96060"/>
              <a:gd name="adj2" fmla="val 3398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02</a:t>
            </a:r>
          </a:p>
        </p:txBody>
      </p:sp>
      <p:sp>
        <p:nvSpPr>
          <p:cNvPr id="19" name="Rectangle 18"/>
          <p:cNvSpPr/>
          <p:nvPr/>
        </p:nvSpPr>
        <p:spPr>
          <a:xfrm flipV="1">
            <a:off x="3562351" y="2565399"/>
            <a:ext cx="1223010" cy="15348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3628072" y="3153227"/>
            <a:ext cx="449066" cy="171632"/>
          </a:xfrm>
          <a:prstGeom prst="wedgeRoundRectCallout">
            <a:avLst>
              <a:gd name="adj1" fmla="val 24841"/>
              <a:gd name="adj2" fmla="val -33229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72</a:t>
            </a:r>
          </a:p>
        </p:txBody>
      </p:sp>
      <p:sp>
        <p:nvSpPr>
          <p:cNvPr id="21" name="Rectangle 20"/>
          <p:cNvSpPr/>
          <p:nvPr/>
        </p:nvSpPr>
        <p:spPr>
          <a:xfrm flipV="1">
            <a:off x="5118100" y="2556325"/>
            <a:ext cx="330962" cy="15348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4769811" y="3153227"/>
            <a:ext cx="449066" cy="171632"/>
          </a:xfrm>
          <a:prstGeom prst="wedgeRoundRectCallout">
            <a:avLst>
              <a:gd name="adj1" fmla="val 71504"/>
              <a:gd name="adj2" fmla="val -33229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74</a:t>
            </a:r>
          </a:p>
        </p:txBody>
      </p:sp>
      <p:sp>
        <p:nvSpPr>
          <p:cNvPr id="23" name="Rectangle 22"/>
          <p:cNvSpPr/>
          <p:nvPr/>
        </p:nvSpPr>
        <p:spPr>
          <a:xfrm flipV="1">
            <a:off x="5578342" y="2565399"/>
            <a:ext cx="330962" cy="15348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5387353" y="3153227"/>
            <a:ext cx="449066" cy="171632"/>
          </a:xfrm>
          <a:prstGeom prst="wedgeRoundRectCallout">
            <a:avLst>
              <a:gd name="adj1" fmla="val 24841"/>
              <a:gd name="adj2" fmla="val -33229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75</a:t>
            </a:r>
          </a:p>
        </p:txBody>
      </p:sp>
      <p:sp>
        <p:nvSpPr>
          <p:cNvPr id="25" name="Rectangle 24"/>
          <p:cNvSpPr/>
          <p:nvPr/>
        </p:nvSpPr>
        <p:spPr>
          <a:xfrm flipV="1">
            <a:off x="6108700" y="2557410"/>
            <a:ext cx="382688" cy="15348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6" name="Rounded Rectangular Callout 25"/>
          <p:cNvSpPr/>
          <p:nvPr/>
        </p:nvSpPr>
        <p:spPr>
          <a:xfrm>
            <a:off x="6926493" y="2479583"/>
            <a:ext cx="449066" cy="171632"/>
          </a:xfrm>
          <a:prstGeom prst="wedgeRoundRectCallout">
            <a:avLst>
              <a:gd name="adj1" fmla="val -169590"/>
              <a:gd name="adj2" fmla="val 45086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85</a:t>
            </a:r>
          </a:p>
        </p:txBody>
      </p:sp>
      <p:sp>
        <p:nvSpPr>
          <p:cNvPr id="27" name="Rectangle 26"/>
          <p:cNvSpPr/>
          <p:nvPr/>
        </p:nvSpPr>
        <p:spPr>
          <a:xfrm flipV="1">
            <a:off x="5937250" y="2933625"/>
            <a:ext cx="582868" cy="153487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6955223" y="2855799"/>
            <a:ext cx="449066" cy="171632"/>
          </a:xfrm>
          <a:prstGeom prst="wedgeRoundRectCallout">
            <a:avLst>
              <a:gd name="adj1" fmla="val -169590"/>
              <a:gd name="adj2" fmla="val 45086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08/14</a:t>
            </a:r>
          </a:p>
        </p:txBody>
      </p:sp>
    </p:spTree>
    <p:extLst>
      <p:ext uri="{BB962C8B-B14F-4D97-AF65-F5344CB8AC3E}">
        <p14:creationId xmlns:p14="http://schemas.microsoft.com/office/powerpoint/2010/main" val="301831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ACFAD-FBD9-4DBB-92D2-5A06E8F0B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619" y="0"/>
            <a:ext cx="528116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F99F99-F493-4AC6-BDBF-36097D101936}"/>
              </a:ext>
            </a:extLst>
          </p:cNvPr>
          <p:cNvSpPr/>
          <p:nvPr/>
        </p:nvSpPr>
        <p:spPr>
          <a:xfrm flipV="1">
            <a:off x="2209165" y="1187326"/>
            <a:ext cx="1097915" cy="417954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17">
            <a:extLst>
              <a:ext uri="{FF2B5EF4-FFF2-40B4-BE49-F238E27FC236}">
                <a16:creationId xmlns:a16="http://schemas.microsoft.com/office/drawing/2014/main" id="{8D265A46-86F1-4C08-8E21-1F2F52C6B259}"/>
              </a:ext>
            </a:extLst>
          </p:cNvPr>
          <p:cNvSpPr/>
          <p:nvPr/>
        </p:nvSpPr>
        <p:spPr>
          <a:xfrm>
            <a:off x="3389086" y="1310487"/>
            <a:ext cx="449066" cy="171632"/>
          </a:xfrm>
          <a:prstGeom prst="wedgeRoundRectCallout">
            <a:avLst>
              <a:gd name="adj1" fmla="val -96060"/>
              <a:gd name="adj2" fmla="val 3398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169A5B-2EEA-4EBF-A6BA-DD07C3C58E4D}"/>
              </a:ext>
            </a:extLst>
          </p:cNvPr>
          <p:cNvSpPr/>
          <p:nvPr/>
        </p:nvSpPr>
        <p:spPr>
          <a:xfrm>
            <a:off x="8176044" y="1605280"/>
            <a:ext cx="8490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</p:txBody>
      </p:sp>
    </p:spTree>
    <p:extLst>
      <p:ext uri="{BB962C8B-B14F-4D97-AF65-F5344CB8AC3E}">
        <p14:creationId xmlns:p14="http://schemas.microsoft.com/office/powerpoint/2010/main" val="359154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B235C1-31B0-408E-A07F-91854A91B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651" y="0"/>
            <a:ext cx="529689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AB6DED-EA59-4FCE-ADE7-B3F3DC3F4F29}"/>
              </a:ext>
            </a:extLst>
          </p:cNvPr>
          <p:cNvSpPr/>
          <p:nvPr/>
        </p:nvSpPr>
        <p:spPr>
          <a:xfrm flipV="1">
            <a:off x="2818765" y="1193676"/>
            <a:ext cx="997585" cy="412874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17">
            <a:extLst>
              <a:ext uri="{FF2B5EF4-FFF2-40B4-BE49-F238E27FC236}">
                <a16:creationId xmlns:a16="http://schemas.microsoft.com/office/drawing/2014/main" id="{CA5E28CA-88CB-4178-9A0F-E54F9BEBEE80}"/>
              </a:ext>
            </a:extLst>
          </p:cNvPr>
          <p:cNvSpPr/>
          <p:nvPr/>
        </p:nvSpPr>
        <p:spPr>
          <a:xfrm>
            <a:off x="3954236" y="1314297"/>
            <a:ext cx="449066" cy="171632"/>
          </a:xfrm>
          <a:prstGeom prst="wedgeRoundRectCallout">
            <a:avLst>
              <a:gd name="adj1" fmla="val -96060"/>
              <a:gd name="adj2" fmla="val 3398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4F4D61-F6D7-4CA3-AC8D-3D41F90E9A5A}"/>
              </a:ext>
            </a:extLst>
          </p:cNvPr>
          <p:cNvSpPr/>
          <p:nvPr/>
        </p:nvSpPr>
        <p:spPr>
          <a:xfrm>
            <a:off x="8614194" y="1237218"/>
            <a:ext cx="8490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</p:txBody>
      </p:sp>
    </p:spTree>
    <p:extLst>
      <p:ext uri="{BB962C8B-B14F-4D97-AF65-F5344CB8AC3E}">
        <p14:creationId xmlns:p14="http://schemas.microsoft.com/office/powerpoint/2010/main" val="10283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4848302" y="2647768"/>
            <a:ext cx="105378" cy="97859"/>
          </a:xfrm>
          <a:prstGeom prst="rect">
            <a:avLst/>
          </a:prstGeom>
        </p:spPr>
        <p:txBody>
          <a:bodyPr vert="horz" lIns="21699" tIns="10850" rIns="21699" bIns="1085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5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285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5451222" y="2745627"/>
            <a:ext cx="2025903" cy="45719"/>
          </a:xfrm>
          <a:prstGeom prst="rect">
            <a:avLst/>
          </a:prstGeom>
        </p:spPr>
        <p:txBody>
          <a:bodyPr vert="horz" lIns="21699" tIns="10850" rIns="21699" bIns="1085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12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014300"/>
              </p:ext>
            </p:extLst>
          </p:nvPr>
        </p:nvGraphicFramePr>
        <p:xfrm>
          <a:off x="2774950" y="3160482"/>
          <a:ext cx="6680200" cy="953934"/>
        </p:xfrm>
        <a:graphic>
          <a:graphicData uri="http://schemas.openxmlformats.org/drawingml/2006/table">
            <a:tbl>
              <a:tblPr/>
              <a:tblGrid>
                <a:gridCol w="276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374">
                <a:tc>
                  <a:txBody>
                    <a:bodyPr/>
                    <a:lstStyle/>
                    <a:p>
                      <a:endParaRPr lang="en-PH" sz="1100" dirty="0">
                        <a:latin typeface="+mj-lt"/>
                      </a:endParaRPr>
                    </a:p>
                  </a:txBody>
                  <a:tcPr marL="28932" marR="28932" marT="14467" marB="1446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NAME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DATE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DI-61494</a:t>
                      </a: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REGINE S. DERIADA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7/10/2024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DI-71706 – Added new credit format (slide 4).</a:t>
                      </a: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BABY G. VILLACARLOS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6/26/2025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DI-72353 – Updated as instruction(slide 5 and 6)</a:t>
                      </a: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KHEILA MARY A. INOC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07/21/2025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6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270</Words>
  <Application>Microsoft Office PowerPoint</Application>
  <PresentationFormat>Widescreen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Proxima Nova</vt:lpstr>
      <vt:lpstr>Proxima Nova Condensed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Jeric Piape Cantina</dc:creator>
  <cp:lastModifiedBy>Intrinsic CTS Inc</cp:lastModifiedBy>
  <cp:revision>41</cp:revision>
  <dcterms:created xsi:type="dcterms:W3CDTF">2022-04-28T09:38:27Z</dcterms:created>
  <dcterms:modified xsi:type="dcterms:W3CDTF">2025-07-21T07:47:08Z</dcterms:modified>
</cp:coreProperties>
</file>