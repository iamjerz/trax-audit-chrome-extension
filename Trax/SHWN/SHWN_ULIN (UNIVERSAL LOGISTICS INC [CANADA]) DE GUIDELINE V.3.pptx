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3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4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60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7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7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14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62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6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19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99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08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560B-FCF7-4C0E-A67C-66B1959A95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8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/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F987-6723-7840-B969-A6ED77AA1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2314623"/>
            <a:ext cx="9926052" cy="1795934"/>
          </a:xfrm>
        </p:spPr>
        <p:txBody>
          <a:bodyPr anchor="t"/>
          <a:lstStyle>
            <a:lvl1pPr algn="l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161A8-AC38-404D-A696-08DF6804C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850" y="4214954"/>
            <a:ext cx="4668839" cy="1345115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91767-F899-1145-B59F-ABC40DCA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1500" y="6356352"/>
            <a:ext cx="10972800" cy="365125"/>
          </a:xfrm>
        </p:spPr>
        <p:txBody>
          <a:bodyPr/>
          <a:lstStyle/>
          <a:p>
            <a:r>
              <a:rPr lang="en-US" dirty="0"/>
              <a:t>2018 Trax Group // Do not distribute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76CA97-337D-E440-B43A-405DB10AEF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1" y="661415"/>
            <a:ext cx="2493703" cy="57265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E7147FB-BA18-0B44-80EE-798107045878}"/>
              </a:ext>
            </a:extLst>
          </p:cNvPr>
          <p:cNvSpPr/>
          <p:nvPr userDrawn="1"/>
        </p:nvSpPr>
        <p:spPr>
          <a:xfrm>
            <a:off x="963481" y="2122089"/>
            <a:ext cx="569991" cy="88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114061A-1739-DE4D-B221-2B3A20DA7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1850" y="5664462"/>
            <a:ext cx="4668839" cy="3362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1958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3560B-FCF7-4C0E-A67C-66B1959A950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61B1F-CDA8-40F3-8FCF-82E403162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13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965961" y="2251166"/>
            <a:ext cx="8069989" cy="181588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sz="2800" dirty="0" smtClean="0">
                <a:solidFill>
                  <a:srgbClr val="FF0000"/>
                </a:solidFill>
              </a:rPr>
              <a:t>SHWN_</a:t>
            </a:r>
            <a:r>
              <a:rPr lang="en-PH" sz="2800" dirty="0" smtClean="0">
                <a:solidFill>
                  <a:srgbClr val="00B050"/>
                </a:solidFill>
              </a:rPr>
              <a:t>ULIN</a:t>
            </a:r>
            <a:r>
              <a:rPr lang="en-US" sz="2800" dirty="0" smtClean="0"/>
              <a:t>(UNIVERSAL LOGISTICS </a:t>
            </a:r>
            <a:r>
              <a:rPr lang="en-US" sz="2800" dirty="0" smtClean="0"/>
              <a:t>INC [CANADA]</a:t>
            </a:r>
            <a:r>
              <a:rPr lang="en-PH" sz="2800" dirty="0" smtClean="0"/>
              <a:t>)</a:t>
            </a:r>
            <a:endParaRPr lang="en-PH" sz="2800" dirty="0"/>
          </a:p>
          <a:p>
            <a:r>
              <a:rPr lang="en-US" sz="2400" dirty="0">
                <a:solidFill>
                  <a:srgbClr val="FF0000"/>
                </a:solidFill>
              </a:rPr>
              <a:t>Always key the following, visible in the invoice separator sheet: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2000" dirty="0"/>
              <a:t>Batch ID (68) </a:t>
            </a:r>
            <a:r>
              <a:rPr lang="en-US" sz="2000" dirty="0">
                <a:solidFill>
                  <a:srgbClr val="00B050"/>
                </a:solidFill>
              </a:rPr>
              <a:t>BAT ID </a:t>
            </a:r>
            <a:r>
              <a:rPr lang="en-US" sz="2000" dirty="0"/>
              <a:t>(69) Value/No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/>
              <a:t>Client Code (68) </a:t>
            </a:r>
            <a:r>
              <a:rPr lang="en-US" sz="2000" dirty="0">
                <a:solidFill>
                  <a:srgbClr val="00B050"/>
                </a:solidFill>
              </a:rPr>
              <a:t>CL CODE </a:t>
            </a:r>
            <a:r>
              <a:rPr lang="en-US" sz="2000" dirty="0"/>
              <a:t>(69)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SHWN</a:t>
            </a:r>
            <a:endParaRPr lang="en-US" sz="2000" dirty="0">
              <a:solidFill>
                <a:srgbClr val="FF0000"/>
              </a:solidFill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 err="1"/>
              <a:t>Scac</a:t>
            </a:r>
            <a:r>
              <a:rPr lang="en-US" sz="2000" dirty="0"/>
              <a:t> Code (68) </a:t>
            </a:r>
            <a:r>
              <a:rPr lang="en-US" sz="2000" dirty="0">
                <a:solidFill>
                  <a:srgbClr val="00B050"/>
                </a:solidFill>
              </a:rPr>
              <a:t>SCAC CODE </a:t>
            </a:r>
            <a:r>
              <a:rPr lang="en-US" sz="2000" dirty="0"/>
              <a:t>(69) </a:t>
            </a:r>
            <a:r>
              <a:rPr lang="en-PH" sz="2000" dirty="0" smtClean="0">
                <a:solidFill>
                  <a:srgbClr val="00B050"/>
                </a:solidFill>
              </a:rPr>
              <a:t>ULIN</a:t>
            </a:r>
          </a:p>
        </p:txBody>
      </p:sp>
    </p:spTree>
    <p:extLst>
      <p:ext uri="{BB962C8B-B14F-4D97-AF65-F5344CB8AC3E}">
        <p14:creationId xmlns:p14="http://schemas.microsoft.com/office/powerpoint/2010/main" val="14134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541" y="0"/>
            <a:ext cx="5299364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flipH="1">
            <a:off x="5667373" y="5905605"/>
            <a:ext cx="634718" cy="19080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6087168" y="203324"/>
            <a:ext cx="529139" cy="231474"/>
          </a:xfrm>
          <a:prstGeom prst="wedgeRoundRectCallout">
            <a:avLst>
              <a:gd name="adj1" fmla="val -82739"/>
              <a:gd name="adj2" fmla="val 9429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03</a:t>
            </a:r>
            <a:endParaRPr lang="en-US" sz="1000" b="1" kern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00D29C-4842-9507-B4F7-ECE747D0B49E}"/>
              </a:ext>
            </a:extLst>
          </p:cNvPr>
          <p:cNvSpPr txBox="1"/>
          <p:nvPr/>
        </p:nvSpPr>
        <p:spPr>
          <a:xfrm>
            <a:off x="8257566" y="2044005"/>
            <a:ext cx="23869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dirty="0" smtClean="0">
                <a:solidFill>
                  <a:srgbClr val="FF0000"/>
                </a:solidFill>
              </a:rPr>
              <a:t>01 REMIT TO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02 BILL TO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03 INV KEY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06 INV AMT BEFORE TAX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07 TAX AMT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09 CURR</a:t>
            </a:r>
          </a:p>
          <a:p>
            <a:r>
              <a:rPr lang="en-PH" sz="1200" dirty="0">
                <a:solidFill>
                  <a:srgbClr val="FF0000"/>
                </a:solidFill>
              </a:rPr>
              <a:t>10 DATE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46/47 PIECES/ PIECES TYPE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72 LINE ITEM DESC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75 </a:t>
            </a:r>
            <a:r>
              <a:rPr lang="en-PH" sz="1200" dirty="0" err="1" smtClean="0">
                <a:solidFill>
                  <a:srgbClr val="FF0000"/>
                </a:solidFill>
              </a:rPr>
              <a:t>RAtE</a:t>
            </a:r>
            <a:endParaRPr lang="en-PH" sz="1200" dirty="0" smtClean="0">
              <a:solidFill>
                <a:srgbClr val="FF0000"/>
              </a:solidFill>
            </a:endParaRPr>
          </a:p>
          <a:p>
            <a:r>
              <a:rPr lang="en-PH" sz="1200" dirty="0" smtClean="0">
                <a:solidFill>
                  <a:srgbClr val="FF0000"/>
                </a:solidFill>
              </a:rPr>
              <a:t>85 LINE ITEM AMT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68a REF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68b ORD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08/14 INV AMT/FB AMT</a:t>
            </a:r>
            <a:endParaRPr lang="en-PH" sz="12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flipH="1">
            <a:off x="4705076" y="5905605"/>
            <a:ext cx="634718" cy="19080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flipH="1">
            <a:off x="5882639" y="2587752"/>
            <a:ext cx="419451" cy="17983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 flipH="1">
            <a:off x="2493262" y="2587752"/>
            <a:ext cx="504291" cy="17983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 flipH="1">
            <a:off x="1304542" y="2587752"/>
            <a:ext cx="804673" cy="13716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 flipH="1">
            <a:off x="5095218" y="468683"/>
            <a:ext cx="804673" cy="13716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 flipH="1">
            <a:off x="1626593" y="468682"/>
            <a:ext cx="2585742" cy="31770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 flipH="1">
            <a:off x="1626592" y="1291640"/>
            <a:ext cx="1878607" cy="56764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 flipH="1">
            <a:off x="2229455" y="2029967"/>
            <a:ext cx="804673" cy="13716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 flipH="1">
            <a:off x="4540696" y="2359150"/>
            <a:ext cx="232471" cy="14020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9" name="Rounded Rectangular Callout 18"/>
          <p:cNvSpPr/>
          <p:nvPr/>
        </p:nvSpPr>
        <p:spPr>
          <a:xfrm>
            <a:off x="4175937" y="118604"/>
            <a:ext cx="529139" cy="231474"/>
          </a:xfrm>
          <a:prstGeom prst="wedgeRoundRectCallout">
            <a:avLst>
              <a:gd name="adj1" fmla="val -82739"/>
              <a:gd name="adj2" fmla="val 9429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01</a:t>
            </a:r>
            <a:endParaRPr lang="en-US" sz="1000" b="1" kern="1200" dirty="0"/>
          </a:p>
        </p:txBody>
      </p:sp>
      <p:sp>
        <p:nvSpPr>
          <p:cNvPr id="20" name="Rectangle 19"/>
          <p:cNvSpPr/>
          <p:nvPr/>
        </p:nvSpPr>
        <p:spPr>
          <a:xfrm flipH="1">
            <a:off x="4472604" y="468682"/>
            <a:ext cx="622613" cy="13716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21" name="Rounded Rectangular Callout 20"/>
          <p:cNvSpPr/>
          <p:nvPr/>
        </p:nvSpPr>
        <p:spPr>
          <a:xfrm>
            <a:off x="4848180" y="755162"/>
            <a:ext cx="529139" cy="231474"/>
          </a:xfrm>
          <a:prstGeom prst="wedgeRoundRectCallout">
            <a:avLst>
              <a:gd name="adj1" fmla="val -68914"/>
              <a:gd name="adj2" fmla="val -11375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10</a:t>
            </a:r>
            <a:endParaRPr lang="en-US" sz="1000" b="1" kern="1200" dirty="0"/>
          </a:p>
        </p:txBody>
      </p:sp>
      <p:sp>
        <p:nvSpPr>
          <p:cNvPr id="22" name="Rounded Rectangular Callout 21"/>
          <p:cNvSpPr/>
          <p:nvPr/>
        </p:nvSpPr>
        <p:spPr>
          <a:xfrm>
            <a:off x="6616307" y="2472015"/>
            <a:ext cx="529139" cy="231474"/>
          </a:xfrm>
          <a:prstGeom prst="wedgeRoundRectCallout">
            <a:avLst>
              <a:gd name="adj1" fmla="val -105780"/>
              <a:gd name="adj2" fmla="val 6269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85</a:t>
            </a:r>
            <a:endParaRPr lang="en-US" sz="1000" b="1" kern="1200" dirty="0"/>
          </a:p>
        </p:txBody>
      </p:sp>
      <p:sp>
        <p:nvSpPr>
          <p:cNvPr id="23" name="Rounded Rectangular Callout 22"/>
          <p:cNvSpPr/>
          <p:nvPr/>
        </p:nvSpPr>
        <p:spPr>
          <a:xfrm>
            <a:off x="4493296" y="1968117"/>
            <a:ext cx="529139" cy="231474"/>
          </a:xfrm>
          <a:prstGeom prst="wedgeRoundRectCallout">
            <a:avLst>
              <a:gd name="adj1" fmla="val -27440"/>
              <a:gd name="adj2" fmla="val 14433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46/47</a:t>
            </a:r>
            <a:endParaRPr lang="en-US" sz="1000" b="1" kern="1200" dirty="0"/>
          </a:p>
        </p:txBody>
      </p:sp>
      <p:sp>
        <p:nvSpPr>
          <p:cNvPr id="24" name="Rounded Rectangular Callout 23"/>
          <p:cNvSpPr/>
          <p:nvPr/>
        </p:nvSpPr>
        <p:spPr>
          <a:xfrm>
            <a:off x="3287188" y="2446194"/>
            <a:ext cx="529139" cy="231474"/>
          </a:xfrm>
          <a:prstGeom prst="wedgeRoundRectCallout">
            <a:avLst>
              <a:gd name="adj1" fmla="val -105780"/>
              <a:gd name="adj2" fmla="val 6269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72</a:t>
            </a:r>
            <a:endParaRPr lang="en-US" sz="1000" b="1" kern="1200" dirty="0"/>
          </a:p>
        </p:txBody>
      </p:sp>
      <p:sp>
        <p:nvSpPr>
          <p:cNvPr id="25" name="Rounded Rectangular Callout 24"/>
          <p:cNvSpPr/>
          <p:nvPr/>
        </p:nvSpPr>
        <p:spPr>
          <a:xfrm>
            <a:off x="691737" y="2267885"/>
            <a:ext cx="529139" cy="231474"/>
          </a:xfrm>
          <a:prstGeom prst="wedgeRoundRectCallout">
            <a:avLst>
              <a:gd name="adj1" fmla="val 99287"/>
              <a:gd name="adj2" fmla="val 9429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68a</a:t>
            </a:r>
            <a:endParaRPr lang="en-US" sz="1000" b="1" kern="1200" dirty="0"/>
          </a:p>
        </p:txBody>
      </p:sp>
      <p:sp>
        <p:nvSpPr>
          <p:cNvPr id="26" name="Rounded Rectangular Callout 25"/>
          <p:cNvSpPr/>
          <p:nvPr/>
        </p:nvSpPr>
        <p:spPr>
          <a:xfrm>
            <a:off x="1467498" y="1962286"/>
            <a:ext cx="529139" cy="231474"/>
          </a:xfrm>
          <a:prstGeom prst="wedgeRoundRectCallout">
            <a:avLst>
              <a:gd name="adj1" fmla="val 92375"/>
              <a:gd name="adj2" fmla="val -3145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68a</a:t>
            </a:r>
            <a:endParaRPr lang="en-US" sz="1000" b="1" kern="1200" dirty="0"/>
          </a:p>
        </p:txBody>
      </p:sp>
      <p:sp>
        <p:nvSpPr>
          <p:cNvPr id="27" name="Rounded Rectangular Callout 26"/>
          <p:cNvSpPr/>
          <p:nvPr/>
        </p:nvSpPr>
        <p:spPr>
          <a:xfrm>
            <a:off x="862843" y="1343986"/>
            <a:ext cx="529139" cy="231474"/>
          </a:xfrm>
          <a:prstGeom prst="wedgeRoundRectCallout">
            <a:avLst>
              <a:gd name="adj1" fmla="val 92375"/>
              <a:gd name="adj2" fmla="val -3145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02</a:t>
            </a:r>
            <a:endParaRPr lang="en-US" sz="1000" b="1" kern="1200" dirty="0"/>
          </a:p>
        </p:txBody>
      </p:sp>
      <p:sp>
        <p:nvSpPr>
          <p:cNvPr id="28" name="Rounded Rectangular Callout 27"/>
          <p:cNvSpPr/>
          <p:nvPr/>
        </p:nvSpPr>
        <p:spPr>
          <a:xfrm>
            <a:off x="6595484" y="5674131"/>
            <a:ext cx="529139" cy="231474"/>
          </a:xfrm>
          <a:prstGeom prst="wedgeRoundRectCallout">
            <a:avLst>
              <a:gd name="adj1" fmla="val -105780"/>
              <a:gd name="adj2" fmla="val 6269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08/14</a:t>
            </a:r>
            <a:endParaRPr lang="en-US" sz="1000" b="1" kern="1200" dirty="0"/>
          </a:p>
        </p:txBody>
      </p:sp>
      <p:sp>
        <p:nvSpPr>
          <p:cNvPr id="29" name="Rounded Rectangular Callout 28"/>
          <p:cNvSpPr/>
          <p:nvPr/>
        </p:nvSpPr>
        <p:spPr>
          <a:xfrm>
            <a:off x="3911367" y="5558394"/>
            <a:ext cx="529139" cy="231474"/>
          </a:xfrm>
          <a:prstGeom prst="wedgeRoundRectCallout">
            <a:avLst>
              <a:gd name="adj1" fmla="val 117720"/>
              <a:gd name="adj2" fmla="val 13906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09</a:t>
            </a:r>
            <a:endParaRPr lang="en-US" sz="1000" b="1" kern="1200" dirty="0"/>
          </a:p>
        </p:txBody>
      </p:sp>
      <p:sp>
        <p:nvSpPr>
          <p:cNvPr id="30" name="Rectangle 29"/>
          <p:cNvSpPr/>
          <p:nvPr/>
        </p:nvSpPr>
        <p:spPr>
          <a:xfrm flipH="1">
            <a:off x="4876041" y="2499359"/>
            <a:ext cx="621494" cy="8456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 flipH="1">
            <a:off x="5230367" y="2583927"/>
            <a:ext cx="273819" cy="39092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 flipH="1">
            <a:off x="5584454" y="2376384"/>
            <a:ext cx="621494" cy="8456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3" name="Rounded Rectangular Callout 32"/>
          <p:cNvSpPr/>
          <p:nvPr/>
        </p:nvSpPr>
        <p:spPr>
          <a:xfrm>
            <a:off x="6252125" y="2124804"/>
            <a:ext cx="529139" cy="231474"/>
          </a:xfrm>
          <a:prstGeom prst="wedgeRoundRectCallout">
            <a:avLst>
              <a:gd name="adj1" fmla="val -105780"/>
              <a:gd name="adj2" fmla="val 6269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68b</a:t>
            </a:r>
            <a:endParaRPr lang="en-US" sz="1000" b="1" kern="1200" dirty="0"/>
          </a:p>
        </p:txBody>
      </p:sp>
      <p:sp>
        <p:nvSpPr>
          <p:cNvPr id="34" name="Rounded Rectangular Callout 33"/>
          <p:cNvSpPr/>
          <p:nvPr/>
        </p:nvSpPr>
        <p:spPr>
          <a:xfrm>
            <a:off x="4248033" y="2656332"/>
            <a:ext cx="529139" cy="231474"/>
          </a:xfrm>
          <a:prstGeom prst="wedgeRoundRectCallout">
            <a:avLst>
              <a:gd name="adj1" fmla="val 85462"/>
              <a:gd name="adj2" fmla="val -84785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72</a:t>
            </a:r>
            <a:endParaRPr lang="en-US" sz="1000" b="1" kern="1200" dirty="0"/>
          </a:p>
        </p:txBody>
      </p:sp>
      <p:sp>
        <p:nvSpPr>
          <p:cNvPr id="35" name="Rounded Rectangular Callout 34"/>
          <p:cNvSpPr/>
          <p:nvPr/>
        </p:nvSpPr>
        <p:spPr>
          <a:xfrm>
            <a:off x="4583610" y="2974849"/>
            <a:ext cx="529139" cy="231474"/>
          </a:xfrm>
          <a:prstGeom prst="wedgeRoundRectCallout">
            <a:avLst>
              <a:gd name="adj1" fmla="val 85462"/>
              <a:gd name="adj2" fmla="val -84785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75</a:t>
            </a:r>
            <a:endParaRPr lang="en-US" sz="1000" b="1" kern="1200" dirty="0"/>
          </a:p>
        </p:txBody>
      </p:sp>
      <p:sp>
        <p:nvSpPr>
          <p:cNvPr id="36" name="Rectangle 35"/>
          <p:cNvSpPr/>
          <p:nvPr/>
        </p:nvSpPr>
        <p:spPr>
          <a:xfrm flipH="1">
            <a:off x="5078084" y="5699952"/>
            <a:ext cx="419451" cy="17983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 flipH="1">
            <a:off x="5866838" y="5699952"/>
            <a:ext cx="419451" cy="17983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38" name="Rounded Rectangular Callout 37"/>
          <p:cNvSpPr/>
          <p:nvPr/>
        </p:nvSpPr>
        <p:spPr>
          <a:xfrm>
            <a:off x="4705076" y="5284966"/>
            <a:ext cx="529139" cy="231474"/>
          </a:xfrm>
          <a:prstGeom prst="wedgeRoundRectCallout">
            <a:avLst>
              <a:gd name="adj1" fmla="val 68181"/>
              <a:gd name="adj2" fmla="val 17067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07</a:t>
            </a:r>
            <a:endParaRPr lang="en-US" sz="1000" b="1" kern="1200" dirty="0"/>
          </a:p>
        </p:txBody>
      </p:sp>
      <p:sp>
        <p:nvSpPr>
          <p:cNvPr id="39" name="Rounded Rectangular Callout 38"/>
          <p:cNvSpPr/>
          <p:nvPr/>
        </p:nvSpPr>
        <p:spPr>
          <a:xfrm>
            <a:off x="5455593" y="5284966"/>
            <a:ext cx="529139" cy="231474"/>
          </a:xfrm>
          <a:prstGeom prst="wedgeRoundRectCallout">
            <a:avLst>
              <a:gd name="adj1" fmla="val 68181"/>
              <a:gd name="adj2" fmla="val 170670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06</a:t>
            </a:r>
            <a:endParaRPr lang="en-US" sz="1000" b="1" kern="1200" dirty="0"/>
          </a:p>
        </p:txBody>
      </p:sp>
    </p:spTree>
    <p:extLst>
      <p:ext uri="{BB962C8B-B14F-4D97-AF65-F5344CB8AC3E}">
        <p14:creationId xmlns:p14="http://schemas.microsoft.com/office/powerpoint/2010/main" val="341586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174" y="0"/>
            <a:ext cx="529936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flipH="1">
            <a:off x="4133002" y="1559162"/>
            <a:ext cx="591398" cy="8676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 flipH="1">
            <a:off x="3770255" y="446955"/>
            <a:ext cx="387972" cy="11657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" name="Rounded Rectangular Callout 4"/>
          <p:cNvSpPr/>
          <p:nvPr/>
        </p:nvSpPr>
        <p:spPr>
          <a:xfrm>
            <a:off x="4786635" y="410907"/>
            <a:ext cx="529139" cy="231474"/>
          </a:xfrm>
          <a:prstGeom prst="wedgeRoundRectCallout">
            <a:avLst>
              <a:gd name="adj1" fmla="val -105780"/>
              <a:gd name="adj2" fmla="val 6269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68a</a:t>
            </a:r>
            <a:endParaRPr lang="en-US" sz="1000" b="1" kern="1200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688288" y="1186672"/>
            <a:ext cx="529139" cy="231474"/>
          </a:xfrm>
          <a:prstGeom prst="wedgeRoundRectCallout">
            <a:avLst>
              <a:gd name="adj1" fmla="val 100439"/>
              <a:gd name="adj2" fmla="val 83762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28</a:t>
            </a:r>
            <a:endParaRPr lang="en-US" sz="1000" b="1" kern="1200" dirty="0"/>
          </a:p>
        </p:txBody>
      </p:sp>
      <p:sp>
        <p:nvSpPr>
          <p:cNvPr id="7" name="Rectangle 6"/>
          <p:cNvSpPr/>
          <p:nvPr/>
        </p:nvSpPr>
        <p:spPr>
          <a:xfrm flipH="1">
            <a:off x="1723397" y="1559161"/>
            <a:ext cx="574794" cy="8676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6134930" y="1249767"/>
            <a:ext cx="529139" cy="231474"/>
          </a:xfrm>
          <a:prstGeom prst="wedgeRoundRectCallout">
            <a:avLst>
              <a:gd name="adj1" fmla="val -72371"/>
              <a:gd name="adj2" fmla="val 7849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 smtClean="0"/>
              <a:t>31</a:t>
            </a:r>
            <a:endParaRPr lang="en-US" sz="1000" b="1" kern="1200" dirty="0"/>
          </a:p>
        </p:txBody>
      </p:sp>
      <p:sp>
        <p:nvSpPr>
          <p:cNvPr id="9" name="Rectangle 8"/>
          <p:cNvSpPr/>
          <p:nvPr/>
        </p:nvSpPr>
        <p:spPr>
          <a:xfrm flipH="1">
            <a:off x="4572000" y="1230374"/>
            <a:ext cx="1170432" cy="13513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flipH="1">
            <a:off x="4230538" y="1906634"/>
            <a:ext cx="591398" cy="8676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flipH="1">
            <a:off x="1853098" y="1906634"/>
            <a:ext cx="225638" cy="8676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 flipH="1">
            <a:off x="2974762" y="2074384"/>
            <a:ext cx="298790" cy="9895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 flipH="1">
            <a:off x="2078736" y="2024908"/>
            <a:ext cx="146304" cy="10259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 flipH="1">
            <a:off x="4471350" y="2024908"/>
            <a:ext cx="173802" cy="102596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 flipH="1">
            <a:off x="5407151" y="2068288"/>
            <a:ext cx="268223" cy="10504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 flipH="1">
            <a:off x="3779369" y="2028552"/>
            <a:ext cx="164743" cy="9895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 flipH="1">
            <a:off x="6190422" y="2028552"/>
            <a:ext cx="164743" cy="9895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 flipH="1">
            <a:off x="1723396" y="1281816"/>
            <a:ext cx="715003" cy="126359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cxnSp>
        <p:nvCxnSpPr>
          <p:cNvPr id="25" name="Elbow Connector 24"/>
          <p:cNvCxnSpPr>
            <a:stCxn id="18" idx="3"/>
            <a:endCxn id="7" idx="3"/>
          </p:cNvCxnSpPr>
          <p:nvPr/>
        </p:nvCxnSpPr>
        <p:spPr>
          <a:xfrm rot="10800000" flipH="1" flipV="1">
            <a:off x="1723395" y="1344995"/>
            <a:ext cx="1" cy="257545"/>
          </a:xfrm>
          <a:prstGeom prst="bentConnector3">
            <a:avLst>
              <a:gd name="adj1" fmla="val -228600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11" idx="3"/>
            <a:endCxn id="13" idx="3"/>
          </p:cNvCxnSpPr>
          <p:nvPr/>
        </p:nvCxnSpPr>
        <p:spPr>
          <a:xfrm rot="10800000" flipH="1" flipV="1">
            <a:off x="1853098" y="1950014"/>
            <a:ext cx="225638" cy="126192"/>
          </a:xfrm>
          <a:prstGeom prst="bentConnector3">
            <a:avLst>
              <a:gd name="adj1" fmla="val -101313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stCxn id="7" idx="3"/>
            <a:endCxn id="11" idx="3"/>
          </p:cNvCxnSpPr>
          <p:nvPr/>
        </p:nvCxnSpPr>
        <p:spPr>
          <a:xfrm rot="10800000" flipH="1" flipV="1">
            <a:off x="1723396" y="1602540"/>
            <a:ext cx="129701" cy="347473"/>
          </a:xfrm>
          <a:prstGeom prst="bentConnector3">
            <a:avLst>
              <a:gd name="adj1" fmla="val -17625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13" idx="1"/>
          </p:cNvCxnSpPr>
          <p:nvPr/>
        </p:nvCxnSpPr>
        <p:spPr>
          <a:xfrm>
            <a:off x="2225040" y="2076206"/>
            <a:ext cx="749722" cy="51298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12" idx="1"/>
            <a:endCxn id="16" idx="3"/>
          </p:cNvCxnSpPr>
          <p:nvPr/>
        </p:nvCxnSpPr>
        <p:spPr>
          <a:xfrm flipV="1">
            <a:off x="3273552" y="2078028"/>
            <a:ext cx="505817" cy="45832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/>
          <p:cNvCxnSpPr>
            <a:stCxn id="9" idx="1"/>
            <a:endCxn id="3" idx="1"/>
          </p:cNvCxnSpPr>
          <p:nvPr/>
        </p:nvCxnSpPr>
        <p:spPr>
          <a:xfrm flipH="1">
            <a:off x="4724400" y="1297939"/>
            <a:ext cx="1018032" cy="304603"/>
          </a:xfrm>
          <a:prstGeom prst="bentConnector3">
            <a:avLst>
              <a:gd name="adj1" fmla="val -2245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3" idx="3"/>
            <a:endCxn id="10" idx="3"/>
          </p:cNvCxnSpPr>
          <p:nvPr/>
        </p:nvCxnSpPr>
        <p:spPr>
          <a:xfrm rot="10800000" flipH="1" flipV="1">
            <a:off x="4133002" y="1602542"/>
            <a:ext cx="97536" cy="347472"/>
          </a:xfrm>
          <a:prstGeom prst="bentConnector3">
            <a:avLst>
              <a:gd name="adj1" fmla="val -23437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10" idx="3"/>
          </p:cNvCxnSpPr>
          <p:nvPr/>
        </p:nvCxnSpPr>
        <p:spPr>
          <a:xfrm rot="10800000" flipH="1" flipV="1">
            <a:off x="4230537" y="1950014"/>
            <a:ext cx="260747" cy="150930"/>
          </a:xfrm>
          <a:prstGeom prst="bentConnector3">
            <a:avLst>
              <a:gd name="adj1" fmla="val -87671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/>
          <p:cNvCxnSpPr>
            <a:stCxn id="14" idx="1"/>
            <a:endCxn id="15" idx="3"/>
          </p:cNvCxnSpPr>
          <p:nvPr/>
        </p:nvCxnSpPr>
        <p:spPr>
          <a:xfrm>
            <a:off x="4645152" y="2076206"/>
            <a:ext cx="761999" cy="44606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/>
          <p:cNvCxnSpPr>
            <a:stCxn id="15" idx="1"/>
            <a:endCxn id="17" idx="3"/>
          </p:cNvCxnSpPr>
          <p:nvPr/>
        </p:nvCxnSpPr>
        <p:spPr>
          <a:xfrm flipV="1">
            <a:off x="5675374" y="2078028"/>
            <a:ext cx="515048" cy="42784"/>
          </a:xfrm>
          <a:prstGeom prst="bentConnector3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 flipH="1">
            <a:off x="4158226" y="563528"/>
            <a:ext cx="486924" cy="193615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69" name="Rounded Rectangular Callout 68"/>
          <p:cNvSpPr/>
          <p:nvPr/>
        </p:nvSpPr>
        <p:spPr>
          <a:xfrm>
            <a:off x="4261319" y="212358"/>
            <a:ext cx="529139" cy="231474"/>
          </a:xfrm>
          <a:prstGeom prst="wedgeRoundRectCallout">
            <a:avLst>
              <a:gd name="adj1" fmla="val -105780"/>
              <a:gd name="adj2" fmla="val 6269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61</a:t>
            </a:r>
            <a:endParaRPr lang="en-US" sz="1000" b="1" kern="12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500D29C-4842-9507-B4F7-ECE747D0B49E}"/>
              </a:ext>
            </a:extLst>
          </p:cNvPr>
          <p:cNvSpPr txBox="1"/>
          <p:nvPr/>
        </p:nvSpPr>
        <p:spPr>
          <a:xfrm>
            <a:off x="7900435" y="1905109"/>
            <a:ext cx="291234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dirty="0" smtClean="0">
                <a:solidFill>
                  <a:srgbClr val="FF0000"/>
                </a:solidFill>
              </a:rPr>
              <a:t>28 SHIPPER BOL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31 CONSIGNEE BOL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36 FRGHT TERM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42/43 ACTUAL WT/ FNCL WT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44/45 ACTUAL WT UOM/ FNCL WT UOM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46/47 PIECES/ PIECES TYPE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50 DIM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61 PICK UP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73 CMDTY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90 PROD DESC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68a JOB NO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68b BOL</a:t>
            </a:r>
          </a:p>
          <a:p>
            <a:r>
              <a:rPr lang="en-PH" sz="1200" dirty="0" smtClean="0">
                <a:solidFill>
                  <a:srgbClr val="FF0000"/>
                </a:solidFill>
              </a:rPr>
              <a:t>68c PO</a:t>
            </a:r>
            <a:endParaRPr lang="en-PH" sz="1200" dirty="0">
              <a:solidFill>
                <a:srgbClr val="FF0000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 flipH="1">
            <a:off x="3194863" y="2870851"/>
            <a:ext cx="353009" cy="15886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 flipH="1">
            <a:off x="4980710" y="4251113"/>
            <a:ext cx="280137" cy="131911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 flipH="1">
            <a:off x="5260847" y="4251112"/>
            <a:ext cx="146304" cy="131912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4" name="Rectangle 73"/>
          <p:cNvSpPr/>
          <p:nvPr/>
        </p:nvSpPr>
        <p:spPr>
          <a:xfrm flipH="1">
            <a:off x="2810320" y="4159686"/>
            <a:ext cx="419122" cy="8804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 flipH="1">
            <a:off x="2599899" y="4053840"/>
            <a:ext cx="856532" cy="10583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 flipH="1">
            <a:off x="2599899" y="3859960"/>
            <a:ext cx="856532" cy="10583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 flipH="1">
            <a:off x="2298190" y="3859960"/>
            <a:ext cx="182882" cy="29971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78" name="Rounded Rectangular Callout 77"/>
          <p:cNvSpPr/>
          <p:nvPr/>
        </p:nvSpPr>
        <p:spPr>
          <a:xfrm>
            <a:off x="5521594" y="4349285"/>
            <a:ext cx="529139" cy="231474"/>
          </a:xfrm>
          <a:prstGeom prst="wedgeRoundRectCallout">
            <a:avLst>
              <a:gd name="adj1" fmla="val -66611"/>
              <a:gd name="adj2" fmla="val -71617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44/45</a:t>
            </a:r>
            <a:endParaRPr lang="en-US" sz="1000" b="1" kern="1200" dirty="0"/>
          </a:p>
        </p:txBody>
      </p:sp>
      <p:sp>
        <p:nvSpPr>
          <p:cNvPr id="85" name="Rectangle 84"/>
          <p:cNvSpPr/>
          <p:nvPr/>
        </p:nvSpPr>
        <p:spPr>
          <a:xfrm flipH="1">
            <a:off x="6089911" y="3859959"/>
            <a:ext cx="182882" cy="299713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86" name="Rounded Rectangular Callout 85"/>
          <p:cNvSpPr/>
          <p:nvPr/>
        </p:nvSpPr>
        <p:spPr>
          <a:xfrm>
            <a:off x="1549597" y="3965793"/>
            <a:ext cx="529139" cy="231474"/>
          </a:xfrm>
          <a:prstGeom prst="wedgeRoundRectCallout">
            <a:avLst>
              <a:gd name="adj1" fmla="val 84309"/>
              <a:gd name="adj2" fmla="val -4001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46/47</a:t>
            </a:r>
            <a:endParaRPr lang="en-US" sz="1000" b="1" kern="1200" dirty="0"/>
          </a:p>
        </p:txBody>
      </p:sp>
      <p:sp>
        <p:nvSpPr>
          <p:cNvPr id="87" name="Rounded Rectangular Callout 86"/>
          <p:cNvSpPr/>
          <p:nvPr/>
        </p:nvSpPr>
        <p:spPr>
          <a:xfrm>
            <a:off x="4232442" y="4317068"/>
            <a:ext cx="529139" cy="231474"/>
          </a:xfrm>
          <a:prstGeom prst="wedgeRoundRectCallout">
            <a:avLst>
              <a:gd name="adj1" fmla="val 84309"/>
              <a:gd name="adj2" fmla="val -4001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42/43</a:t>
            </a:r>
            <a:endParaRPr lang="en-US" sz="1000" b="1" kern="1200" dirty="0"/>
          </a:p>
        </p:txBody>
      </p:sp>
      <p:sp>
        <p:nvSpPr>
          <p:cNvPr id="88" name="Rounded Rectangular Callout 87"/>
          <p:cNvSpPr/>
          <p:nvPr/>
        </p:nvSpPr>
        <p:spPr>
          <a:xfrm>
            <a:off x="6399499" y="3734319"/>
            <a:ext cx="529139" cy="231474"/>
          </a:xfrm>
          <a:prstGeom prst="wedgeRoundRectCallout">
            <a:avLst>
              <a:gd name="adj1" fmla="val -66611"/>
              <a:gd name="adj2" fmla="val 10219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73</a:t>
            </a:r>
            <a:endParaRPr lang="en-US" sz="1000" b="1" kern="1200" dirty="0"/>
          </a:p>
        </p:txBody>
      </p:sp>
      <p:sp>
        <p:nvSpPr>
          <p:cNvPr id="89" name="Rectangle 88"/>
          <p:cNvSpPr/>
          <p:nvPr/>
        </p:nvSpPr>
        <p:spPr>
          <a:xfrm flipH="1">
            <a:off x="2810320" y="3972505"/>
            <a:ext cx="419122" cy="88047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92" name="Rounded Rectangular Callout 91"/>
          <p:cNvSpPr/>
          <p:nvPr/>
        </p:nvSpPr>
        <p:spPr>
          <a:xfrm>
            <a:off x="3447293" y="3496844"/>
            <a:ext cx="529139" cy="231474"/>
          </a:xfrm>
          <a:prstGeom prst="wedgeRoundRectCallout">
            <a:avLst>
              <a:gd name="adj1" fmla="val -66611"/>
              <a:gd name="adj2" fmla="val 10219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90</a:t>
            </a:r>
            <a:endParaRPr lang="en-US" sz="1000" b="1" kern="1200" dirty="0"/>
          </a:p>
        </p:txBody>
      </p:sp>
      <p:cxnSp>
        <p:nvCxnSpPr>
          <p:cNvPr id="94" name="Elbow Connector 93"/>
          <p:cNvCxnSpPr>
            <a:stCxn id="89" idx="3"/>
          </p:cNvCxnSpPr>
          <p:nvPr/>
        </p:nvCxnSpPr>
        <p:spPr>
          <a:xfrm rot="10800000" flipH="1" flipV="1">
            <a:off x="2810319" y="4016529"/>
            <a:ext cx="28429" cy="208138"/>
          </a:xfrm>
          <a:prstGeom prst="bentConnector4">
            <a:avLst>
              <a:gd name="adj1" fmla="val -997095"/>
              <a:gd name="adj2" fmla="val 9279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ular Callout 99"/>
          <p:cNvSpPr/>
          <p:nvPr/>
        </p:nvSpPr>
        <p:spPr>
          <a:xfrm>
            <a:off x="3345753" y="4327091"/>
            <a:ext cx="529139" cy="231474"/>
          </a:xfrm>
          <a:prstGeom prst="wedgeRoundRectCallout">
            <a:avLst>
              <a:gd name="adj1" fmla="val -70067"/>
              <a:gd name="adj2" fmla="val -63716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50</a:t>
            </a:r>
            <a:endParaRPr lang="en-US" sz="1000" b="1" kern="1200" dirty="0"/>
          </a:p>
        </p:txBody>
      </p:sp>
      <p:cxnSp>
        <p:nvCxnSpPr>
          <p:cNvPr id="102" name="Elbow Connector 101"/>
          <p:cNvCxnSpPr>
            <a:stCxn id="76" idx="1"/>
            <a:endCxn id="75" idx="1"/>
          </p:cNvCxnSpPr>
          <p:nvPr/>
        </p:nvCxnSpPr>
        <p:spPr>
          <a:xfrm>
            <a:off x="3456431" y="3912877"/>
            <a:ext cx="12700" cy="193880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ular Callout 107"/>
          <p:cNvSpPr/>
          <p:nvPr/>
        </p:nvSpPr>
        <p:spPr>
          <a:xfrm>
            <a:off x="3711862" y="2584999"/>
            <a:ext cx="529139" cy="231474"/>
          </a:xfrm>
          <a:prstGeom prst="wedgeRoundRectCallout">
            <a:avLst>
              <a:gd name="adj1" fmla="val -66611"/>
              <a:gd name="adj2" fmla="val 102198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36</a:t>
            </a:r>
            <a:endParaRPr lang="en-US" sz="1000" b="1" kern="1200" dirty="0"/>
          </a:p>
        </p:txBody>
      </p:sp>
      <p:sp>
        <p:nvSpPr>
          <p:cNvPr id="50" name="Rectangle 49"/>
          <p:cNvSpPr/>
          <p:nvPr/>
        </p:nvSpPr>
        <p:spPr>
          <a:xfrm flipH="1">
            <a:off x="2243326" y="2231414"/>
            <a:ext cx="237745" cy="82538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 flipH="1">
            <a:off x="2633381" y="2248052"/>
            <a:ext cx="341380" cy="11110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kern="1200" dirty="0">
              <a:solidFill>
                <a:srgbClr val="FF0000"/>
              </a:solidFill>
            </a:endParaRPr>
          </a:p>
        </p:txBody>
      </p:sp>
      <p:sp>
        <p:nvSpPr>
          <p:cNvPr id="53" name="Rounded Rectangular Callout 52"/>
          <p:cNvSpPr/>
          <p:nvPr/>
        </p:nvSpPr>
        <p:spPr>
          <a:xfrm>
            <a:off x="1355237" y="2198215"/>
            <a:ext cx="529139" cy="231474"/>
          </a:xfrm>
          <a:prstGeom prst="wedgeRoundRectCallout">
            <a:avLst>
              <a:gd name="adj1" fmla="val 132696"/>
              <a:gd name="adj2" fmla="val -24214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68b</a:t>
            </a:r>
            <a:endParaRPr lang="en-US" sz="1000" b="1" kern="1200" dirty="0"/>
          </a:p>
        </p:txBody>
      </p:sp>
      <p:sp>
        <p:nvSpPr>
          <p:cNvPr id="55" name="Rounded Rectangular Callout 54"/>
          <p:cNvSpPr/>
          <p:nvPr/>
        </p:nvSpPr>
        <p:spPr>
          <a:xfrm>
            <a:off x="2539501" y="2390368"/>
            <a:ext cx="529139" cy="231474"/>
          </a:xfrm>
          <a:prstGeom prst="wedgeRoundRectCallout">
            <a:avLst>
              <a:gd name="adj1" fmla="val 4817"/>
              <a:gd name="adj2" fmla="val -87419"/>
              <a:gd name="adj3" fmla="val 16667"/>
            </a:avLst>
          </a:prstGeom>
          <a:solidFill>
            <a:srgbClr val="00B05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kern="1200" dirty="0" smtClean="0"/>
              <a:t>68c</a:t>
            </a:r>
            <a:endParaRPr lang="en-US" sz="1000" b="1" kern="1200" dirty="0"/>
          </a:p>
        </p:txBody>
      </p:sp>
    </p:spTree>
    <p:extLst>
      <p:ext uri="{BB962C8B-B14F-4D97-AF65-F5344CB8AC3E}">
        <p14:creationId xmlns:p14="http://schemas.microsoft.com/office/powerpoint/2010/main" val="1239829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7059A8-3C37-FE4F-A166-461ADD3C9888}"/>
              </a:ext>
            </a:extLst>
          </p:cNvPr>
          <p:cNvSpPr txBox="1">
            <a:spLocks/>
          </p:cNvSpPr>
          <p:nvPr/>
        </p:nvSpPr>
        <p:spPr>
          <a:xfrm>
            <a:off x="2152651" y="959911"/>
            <a:ext cx="333047" cy="30928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0" i="1" kern="1200">
                <a:solidFill>
                  <a:schemeClr val="tx1">
                    <a:tint val="75000"/>
                  </a:schemeClr>
                </a:solidFill>
                <a:latin typeface="Proxima Nova Condensed Light" panose="0200050603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accent6">
                    <a:lumMod val="75000"/>
                  </a:schemeClr>
                </a:solidFill>
              </a:rPr>
              <a:t>6</a:t>
            </a:r>
            <a:r>
              <a:rPr lang="en-US" sz="900" dirty="0"/>
              <a:t>   </a:t>
            </a: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4720460" y="1543050"/>
            <a:ext cx="2597369" cy="393194"/>
          </a:xfrm>
          <a:prstGeom prst="rect">
            <a:avLst/>
          </a:prstGeom>
        </p:spPr>
        <p:txBody>
          <a:bodyPr vert="horz" lIns="68580" tIns="34290" rIns="68580" bIns="3429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Proxima Nova" panose="02000506030000020004" pitchFamily="2" charset="0"/>
                <a:ea typeface="+mj-ea"/>
                <a:cs typeface="+mj-cs"/>
              </a:defRPr>
            </a:lvl1pPr>
          </a:lstStyle>
          <a:p>
            <a:r>
              <a:rPr lang="en-US" altLang="en-US" sz="2400" dirty="0"/>
              <a:t>For Verification Table</a:t>
            </a:r>
          </a:p>
        </p:txBody>
      </p:sp>
      <p:graphicFrame>
        <p:nvGraphicFramePr>
          <p:cNvPr id="11" name="Group 4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3913107"/>
              </p:ext>
            </p:extLst>
          </p:nvPr>
        </p:nvGraphicFramePr>
        <p:xfrm>
          <a:off x="879894" y="2057401"/>
          <a:ext cx="10351698" cy="2569284"/>
        </p:xfrm>
        <a:graphic>
          <a:graphicData uri="http://schemas.openxmlformats.org/drawingml/2006/table">
            <a:tbl>
              <a:tblPr/>
              <a:tblGrid>
                <a:gridCol w="460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3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4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endParaRPr lang="en-PH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  <a:cs typeface="Arial" charset="0"/>
                        </a:rPr>
                        <a:t>DATE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DI-64836</a:t>
                      </a: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Cidjane</a:t>
                      </a: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J. </a:t>
                      </a:r>
                      <a:r>
                        <a:rPr kumimoji="0" 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Locaylocay</a:t>
                      </a: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10/19/2024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DI-66491 – update according to instruction</a:t>
                      </a: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Cidjane</a:t>
                      </a: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J. </a:t>
                      </a:r>
                      <a:r>
                        <a:rPr kumimoji="0" 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Locaylocay</a:t>
                      </a: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12/06/2024</a:t>
                      </a: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DI-75681 – UNIVERSAL LOGISTICS REMIT TO CANADA = ULIN</a:t>
                      </a: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Marivic Ebo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11/10/2025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3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581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10884</TotalTime>
  <Words>206</Words>
  <Application>Microsoft Office PowerPoint</Application>
  <PresentationFormat>Widescreen</PresentationFormat>
  <Paragraphs>74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Proxima Nova</vt:lpstr>
      <vt:lpstr>Proxima Nova Condensed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joyce.catubig</dc:creator>
  <cp:lastModifiedBy>Marivic Ebo</cp:lastModifiedBy>
  <cp:revision>53</cp:revision>
  <dcterms:created xsi:type="dcterms:W3CDTF">2024-06-25T01:46:07Z</dcterms:created>
  <dcterms:modified xsi:type="dcterms:W3CDTF">2025-11-10T17:41:55Z</dcterms:modified>
</cp:coreProperties>
</file>