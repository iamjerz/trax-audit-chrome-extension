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2" r:id="rId3"/>
    <p:sldId id="274" r:id="rId4"/>
    <p:sldId id="273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649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12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27988-2C2B-4CBB-B97D-4872D09DB535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C3351-EC53-4B67-AFC7-E2FA577C7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547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27988-2C2B-4CBB-B97D-4872D09DB535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C3351-EC53-4B67-AFC7-E2FA577C7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942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27988-2C2B-4CBB-B97D-4872D09DB535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C3351-EC53-4B67-AFC7-E2FA577C7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419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27988-2C2B-4CBB-B97D-4872D09DB535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C3351-EC53-4B67-AFC7-E2FA577C7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852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27988-2C2B-4CBB-B97D-4872D09DB535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C3351-EC53-4B67-AFC7-E2FA577C7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936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27988-2C2B-4CBB-B97D-4872D09DB535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C3351-EC53-4B67-AFC7-E2FA577C7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822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27988-2C2B-4CBB-B97D-4872D09DB535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C3351-EC53-4B67-AFC7-E2FA577C7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996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27988-2C2B-4CBB-B97D-4872D09DB535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C3351-EC53-4B67-AFC7-E2FA577C7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420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27988-2C2B-4CBB-B97D-4872D09DB535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C3351-EC53-4B67-AFC7-E2FA577C7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527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27988-2C2B-4CBB-B97D-4872D09DB535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C3351-EC53-4B67-AFC7-E2FA577C7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825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27988-2C2B-4CBB-B97D-4872D09DB535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C3351-EC53-4B67-AFC7-E2FA577C7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87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//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6F987-6723-7840-B969-A6ED77AA12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6" y="2314623"/>
            <a:ext cx="9926052" cy="1795934"/>
          </a:xfrm>
        </p:spPr>
        <p:txBody>
          <a:bodyPr anchor="t"/>
          <a:lstStyle>
            <a:lvl1pPr algn="l">
              <a:defRPr sz="1424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B161A8-AC38-404D-A696-08DF6804C8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1858" y="4214967"/>
            <a:ext cx="4668838" cy="1345115"/>
          </a:xfrm>
        </p:spPr>
        <p:txBody>
          <a:bodyPr/>
          <a:lstStyle>
            <a:lvl1pPr marL="0" indent="0" algn="l">
              <a:buNone/>
              <a:defRPr sz="570"/>
            </a:lvl1pPr>
            <a:lvl2pPr marL="108496" indent="0" algn="ctr">
              <a:buNone/>
              <a:defRPr sz="475"/>
            </a:lvl2pPr>
            <a:lvl3pPr marL="216992" indent="0" algn="ctr">
              <a:buNone/>
              <a:defRPr sz="428"/>
            </a:lvl3pPr>
            <a:lvl4pPr marL="325487" indent="0" algn="ctr">
              <a:buNone/>
              <a:defRPr sz="380"/>
            </a:lvl4pPr>
            <a:lvl5pPr marL="433983" indent="0" algn="ctr">
              <a:buNone/>
              <a:defRPr sz="380"/>
            </a:lvl5pPr>
            <a:lvl6pPr marL="542479" indent="0" algn="ctr">
              <a:buNone/>
              <a:defRPr sz="380"/>
            </a:lvl6pPr>
            <a:lvl7pPr marL="650975" indent="0" algn="ctr">
              <a:buNone/>
              <a:defRPr sz="380"/>
            </a:lvl7pPr>
            <a:lvl8pPr marL="759470" indent="0" algn="ctr">
              <a:buNone/>
              <a:defRPr sz="380"/>
            </a:lvl8pPr>
            <a:lvl9pPr marL="867966" indent="0" algn="ctr">
              <a:buNone/>
              <a:defRPr sz="38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191767-F899-1145-B59F-ABC40DCA5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1501" y="6356365"/>
            <a:ext cx="10972801" cy="365125"/>
          </a:xfrm>
        </p:spPr>
        <p:txBody>
          <a:bodyPr/>
          <a:lstStyle/>
          <a:p>
            <a:r>
              <a:rPr lang="en-US" dirty="0"/>
              <a:t>2018 Trax Group // Do not distribute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76CA97-337D-E440-B43A-405DB10AEFC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6" y="661415"/>
            <a:ext cx="2493704" cy="57265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E7147FB-BA18-0B44-80EE-798107045878}"/>
              </a:ext>
            </a:extLst>
          </p:cNvPr>
          <p:cNvSpPr/>
          <p:nvPr userDrawn="1"/>
        </p:nvSpPr>
        <p:spPr>
          <a:xfrm>
            <a:off x="963489" y="2122089"/>
            <a:ext cx="569990" cy="881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28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114061A-1739-DE4D-B221-2B3A20DA75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1858" y="5664462"/>
            <a:ext cx="4668838" cy="336288"/>
          </a:xfrm>
        </p:spPr>
        <p:txBody>
          <a:bodyPr/>
          <a:lstStyle>
            <a:lvl1pPr marL="0" indent="0">
              <a:buNone/>
              <a:defRPr sz="380"/>
            </a:lvl1pPr>
            <a:lvl2pPr marL="108496" indent="0">
              <a:buNone/>
              <a:defRPr sz="332"/>
            </a:lvl2pPr>
            <a:lvl3pPr marL="216992" indent="0">
              <a:buNone/>
              <a:defRPr sz="285"/>
            </a:lvl3pPr>
            <a:lvl4pPr marL="325487" indent="0">
              <a:buNone/>
              <a:defRPr sz="237"/>
            </a:lvl4pPr>
            <a:lvl5pPr marL="433983" indent="0">
              <a:buNone/>
              <a:defRPr sz="237"/>
            </a:lvl5pPr>
            <a:lvl6pPr marL="542479" indent="0">
              <a:buNone/>
              <a:defRPr sz="237"/>
            </a:lvl6pPr>
            <a:lvl7pPr marL="650975" indent="0">
              <a:buNone/>
              <a:defRPr sz="237"/>
            </a:lvl7pPr>
            <a:lvl8pPr marL="759470" indent="0">
              <a:buNone/>
              <a:defRPr sz="237"/>
            </a:lvl8pPr>
            <a:lvl9pPr marL="867966" indent="0">
              <a:buNone/>
              <a:defRPr sz="237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91819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227988-2C2B-4CBB-B97D-4872D09DB535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5C3351-EC53-4B67-AFC7-E2FA577C7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663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924050" y="1902059"/>
            <a:ext cx="8496706" cy="1815882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PH" sz="2800" b="1" dirty="0" smtClean="0">
                <a:solidFill>
                  <a:srgbClr val="FF0000"/>
                </a:solidFill>
              </a:rPr>
              <a:t>SHWN_</a:t>
            </a:r>
            <a:r>
              <a:rPr lang="en-PH" sz="2800" b="1" dirty="0">
                <a:solidFill>
                  <a:srgbClr val="00B050"/>
                </a:solidFill>
              </a:rPr>
              <a:t>ULUC</a:t>
            </a:r>
            <a:r>
              <a:rPr lang="en-PH" sz="2800" b="1" dirty="0" smtClean="0">
                <a:solidFill>
                  <a:srgbClr val="FF0000"/>
                </a:solidFill>
              </a:rPr>
              <a:t> </a:t>
            </a:r>
            <a:r>
              <a:rPr lang="en-PH" sz="2800" b="1" dirty="0" smtClean="0"/>
              <a:t>(UNIVERSAL LOGISTICS USA INC)</a:t>
            </a:r>
          </a:p>
          <a:p>
            <a:r>
              <a:rPr lang="en-US" sz="2400" b="1" dirty="0" smtClean="0">
                <a:solidFill>
                  <a:srgbClr val="FF0000"/>
                </a:solidFill>
              </a:rPr>
              <a:t>Always key the following, visible in the invoice separator sheet: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Batch </a:t>
            </a:r>
            <a:r>
              <a:rPr lang="en-US" sz="2000" b="1" dirty="0"/>
              <a:t>ID (68) </a:t>
            </a:r>
            <a:r>
              <a:rPr lang="en-US" sz="2000" b="1" dirty="0">
                <a:solidFill>
                  <a:srgbClr val="00B050"/>
                </a:solidFill>
              </a:rPr>
              <a:t>BAT ID </a:t>
            </a:r>
            <a:r>
              <a:rPr lang="en-US" sz="2000" b="1" dirty="0"/>
              <a:t>(69) Value/No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smtClean="0"/>
              <a:t>Client Code (68) </a:t>
            </a:r>
            <a:r>
              <a:rPr lang="en-US" sz="2000" b="1" dirty="0" smtClean="0">
                <a:solidFill>
                  <a:srgbClr val="00B050"/>
                </a:solidFill>
              </a:rPr>
              <a:t>CL CODE </a:t>
            </a:r>
            <a:r>
              <a:rPr lang="en-US" sz="2000" b="1" dirty="0" smtClean="0"/>
              <a:t>(69)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PH" sz="2000" b="1" dirty="0">
                <a:solidFill>
                  <a:srgbClr val="FF0000"/>
                </a:solidFill>
              </a:rPr>
              <a:t>SHWN</a:t>
            </a:r>
            <a:endParaRPr lang="en-US" sz="2000" b="1" dirty="0" smtClean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Scac</a:t>
            </a:r>
            <a:r>
              <a:rPr lang="en-US" sz="2000" b="1" dirty="0"/>
              <a:t> Code (68) </a:t>
            </a:r>
            <a:r>
              <a:rPr lang="en-US" sz="2000" b="1" dirty="0">
                <a:solidFill>
                  <a:srgbClr val="00B050"/>
                </a:solidFill>
              </a:rPr>
              <a:t>SCAC CODE </a:t>
            </a:r>
            <a:r>
              <a:rPr lang="en-US" sz="2000" b="1" dirty="0"/>
              <a:t>(69) </a:t>
            </a:r>
            <a:r>
              <a:rPr lang="en-PH" sz="2000" b="1" dirty="0">
                <a:solidFill>
                  <a:srgbClr val="00B050"/>
                </a:solidFill>
              </a:rPr>
              <a:t>ULUC</a:t>
            </a:r>
            <a:endParaRPr lang="en-US" sz="20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9717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6318" y="0"/>
            <a:ext cx="5299364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 flipH="1">
            <a:off x="4808864" y="5425757"/>
            <a:ext cx="1671184" cy="444691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 flipH="1">
            <a:off x="4055500" y="1373441"/>
            <a:ext cx="1499480" cy="399479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 flipH="1">
            <a:off x="4307840" y="1246442"/>
            <a:ext cx="501024" cy="127000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 flipH="1">
            <a:off x="8092440" y="528320"/>
            <a:ext cx="399424" cy="139002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 flipH="1">
            <a:off x="7665720" y="1097280"/>
            <a:ext cx="497840" cy="149162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 flipH="1">
            <a:off x="8056880" y="1698338"/>
            <a:ext cx="391160" cy="206661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 flipH="1">
            <a:off x="5039360" y="2348579"/>
            <a:ext cx="1757680" cy="145702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 flipH="1">
            <a:off x="8163560" y="2494281"/>
            <a:ext cx="292744" cy="145702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 flipH="1">
            <a:off x="5039360" y="2915206"/>
            <a:ext cx="889000" cy="154734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 flipH="1">
            <a:off x="5039360" y="3068994"/>
            <a:ext cx="1440688" cy="126326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 flipH="1">
            <a:off x="5039360" y="3302674"/>
            <a:ext cx="515620" cy="126326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 flipH="1">
            <a:off x="5057775" y="3562770"/>
            <a:ext cx="148590" cy="115785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 flipH="1">
            <a:off x="5206365" y="3562769"/>
            <a:ext cx="148590" cy="115785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 flipH="1">
            <a:off x="5057774" y="3686808"/>
            <a:ext cx="537845" cy="125515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 flipH="1">
            <a:off x="5595618" y="3686808"/>
            <a:ext cx="99061" cy="120649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 flipH="1">
            <a:off x="5046978" y="3806990"/>
            <a:ext cx="810261" cy="129372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28" name="Rounded Rectangular Callout 27"/>
          <p:cNvSpPr/>
          <p:nvPr/>
        </p:nvSpPr>
        <p:spPr>
          <a:xfrm>
            <a:off x="8608022" y="412583"/>
            <a:ext cx="529139" cy="231474"/>
          </a:xfrm>
          <a:prstGeom prst="wedgeRoundRectCallout">
            <a:avLst>
              <a:gd name="adj1" fmla="val -103374"/>
              <a:gd name="adj2" fmla="val 28528"/>
              <a:gd name="adj3" fmla="val 16667"/>
            </a:avLst>
          </a:prstGeom>
          <a:solidFill>
            <a:srgbClr val="00B050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03</a:t>
            </a:r>
            <a:endParaRPr lang="en-US" sz="1000" b="1" kern="1200" dirty="0"/>
          </a:p>
        </p:txBody>
      </p:sp>
      <p:sp>
        <p:nvSpPr>
          <p:cNvPr id="29" name="Rounded Rectangular Callout 28"/>
          <p:cNvSpPr/>
          <p:nvPr/>
        </p:nvSpPr>
        <p:spPr>
          <a:xfrm>
            <a:off x="4922969" y="1002990"/>
            <a:ext cx="529139" cy="231474"/>
          </a:xfrm>
          <a:prstGeom prst="wedgeRoundRectCallout">
            <a:avLst>
              <a:gd name="adj1" fmla="val -97614"/>
              <a:gd name="adj2" fmla="val 65837"/>
              <a:gd name="adj3" fmla="val 16667"/>
            </a:avLst>
          </a:prstGeom>
          <a:solidFill>
            <a:srgbClr val="00B050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05</a:t>
            </a:r>
            <a:endParaRPr lang="en-US" sz="1000" b="1" kern="1200" dirty="0"/>
          </a:p>
        </p:txBody>
      </p:sp>
      <p:sp>
        <p:nvSpPr>
          <p:cNvPr id="30" name="Rounded Rectangular Callout 29"/>
          <p:cNvSpPr/>
          <p:nvPr/>
        </p:nvSpPr>
        <p:spPr>
          <a:xfrm>
            <a:off x="5759704" y="1425811"/>
            <a:ext cx="529139" cy="231474"/>
          </a:xfrm>
          <a:prstGeom prst="wedgeRoundRectCallout">
            <a:avLst>
              <a:gd name="adj1" fmla="val -103374"/>
              <a:gd name="adj2" fmla="val 28528"/>
              <a:gd name="adj3" fmla="val 16667"/>
            </a:avLst>
          </a:prstGeom>
          <a:solidFill>
            <a:srgbClr val="00B050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02</a:t>
            </a:r>
            <a:endParaRPr lang="en-US" sz="1000" b="1" kern="1200" dirty="0"/>
          </a:p>
        </p:txBody>
      </p:sp>
      <p:sp>
        <p:nvSpPr>
          <p:cNvPr id="31" name="Rounded Rectangular Callout 30"/>
          <p:cNvSpPr/>
          <p:nvPr/>
        </p:nvSpPr>
        <p:spPr>
          <a:xfrm>
            <a:off x="8341566" y="980216"/>
            <a:ext cx="529139" cy="231474"/>
          </a:xfrm>
          <a:prstGeom prst="wedgeRoundRectCallout">
            <a:avLst>
              <a:gd name="adj1" fmla="val -103374"/>
              <a:gd name="adj2" fmla="val 28528"/>
              <a:gd name="adj3" fmla="val 16667"/>
            </a:avLst>
          </a:prstGeom>
          <a:solidFill>
            <a:srgbClr val="00B050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 smtClean="0"/>
              <a:t>10</a:t>
            </a:r>
            <a:endParaRPr lang="en-US" sz="1000" b="1" kern="1200" dirty="0"/>
          </a:p>
        </p:txBody>
      </p:sp>
      <p:sp>
        <p:nvSpPr>
          <p:cNvPr id="32" name="Rounded Rectangular Callout 31"/>
          <p:cNvSpPr/>
          <p:nvPr/>
        </p:nvSpPr>
        <p:spPr>
          <a:xfrm>
            <a:off x="8629934" y="1624273"/>
            <a:ext cx="529139" cy="231474"/>
          </a:xfrm>
          <a:prstGeom prst="wedgeRoundRectCallout">
            <a:avLst>
              <a:gd name="adj1" fmla="val -103374"/>
              <a:gd name="adj2" fmla="val 28528"/>
              <a:gd name="adj3" fmla="val 16667"/>
            </a:avLst>
          </a:prstGeom>
          <a:solidFill>
            <a:srgbClr val="00B050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 smtClean="0"/>
              <a:t>08/14</a:t>
            </a:r>
            <a:endParaRPr lang="en-US" sz="1000" b="1" kern="1200" dirty="0"/>
          </a:p>
        </p:txBody>
      </p:sp>
      <p:sp>
        <p:nvSpPr>
          <p:cNvPr id="33" name="Rounded Rectangular Callout 32"/>
          <p:cNvSpPr/>
          <p:nvPr/>
        </p:nvSpPr>
        <p:spPr>
          <a:xfrm>
            <a:off x="8668374" y="2408509"/>
            <a:ext cx="529139" cy="231474"/>
          </a:xfrm>
          <a:prstGeom prst="wedgeRoundRectCallout">
            <a:avLst>
              <a:gd name="adj1" fmla="val -103374"/>
              <a:gd name="adj2" fmla="val 28528"/>
              <a:gd name="adj3" fmla="val 16667"/>
            </a:avLst>
          </a:prstGeom>
          <a:solidFill>
            <a:srgbClr val="00B050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 smtClean="0"/>
              <a:t>85</a:t>
            </a:r>
            <a:endParaRPr lang="en-US" sz="1000" b="1" kern="1200" dirty="0"/>
          </a:p>
        </p:txBody>
      </p:sp>
      <p:sp>
        <p:nvSpPr>
          <p:cNvPr id="34" name="Rounded Rectangular Callout 33"/>
          <p:cNvSpPr/>
          <p:nvPr/>
        </p:nvSpPr>
        <p:spPr>
          <a:xfrm>
            <a:off x="6996767" y="2241382"/>
            <a:ext cx="529139" cy="231474"/>
          </a:xfrm>
          <a:prstGeom prst="wedgeRoundRectCallout">
            <a:avLst>
              <a:gd name="adj1" fmla="val -103374"/>
              <a:gd name="adj2" fmla="val 28528"/>
              <a:gd name="adj3" fmla="val 16667"/>
            </a:avLst>
          </a:prstGeom>
          <a:solidFill>
            <a:srgbClr val="00B050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 smtClean="0"/>
              <a:t>72</a:t>
            </a:r>
            <a:endParaRPr lang="en-US" sz="1000" b="1" kern="1200" dirty="0"/>
          </a:p>
        </p:txBody>
      </p:sp>
      <p:sp>
        <p:nvSpPr>
          <p:cNvPr id="35" name="Rounded Rectangular Callout 34"/>
          <p:cNvSpPr/>
          <p:nvPr/>
        </p:nvSpPr>
        <p:spPr>
          <a:xfrm>
            <a:off x="5952835" y="2632604"/>
            <a:ext cx="529139" cy="231474"/>
          </a:xfrm>
          <a:prstGeom prst="wedgeRoundRectCallout">
            <a:avLst>
              <a:gd name="adj1" fmla="val -99534"/>
              <a:gd name="adj2" fmla="val 89978"/>
              <a:gd name="adj3" fmla="val 16667"/>
            </a:avLst>
          </a:prstGeom>
          <a:solidFill>
            <a:srgbClr val="00B050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 smtClean="0"/>
              <a:t>68a</a:t>
            </a:r>
            <a:endParaRPr lang="en-US" sz="1000" b="1" kern="1200" dirty="0"/>
          </a:p>
        </p:txBody>
      </p:sp>
      <p:sp>
        <p:nvSpPr>
          <p:cNvPr id="36" name="Rounded Rectangular Callout 35"/>
          <p:cNvSpPr/>
          <p:nvPr/>
        </p:nvSpPr>
        <p:spPr>
          <a:xfrm>
            <a:off x="6600527" y="2932778"/>
            <a:ext cx="529139" cy="231474"/>
          </a:xfrm>
          <a:prstGeom prst="wedgeRoundRectCallout">
            <a:avLst>
              <a:gd name="adj1" fmla="val -103374"/>
              <a:gd name="adj2" fmla="val 28528"/>
              <a:gd name="adj3" fmla="val 16667"/>
            </a:avLst>
          </a:prstGeom>
          <a:solidFill>
            <a:srgbClr val="00B050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 smtClean="0"/>
              <a:t>30</a:t>
            </a:r>
            <a:endParaRPr lang="en-US" sz="1000" b="1" kern="1200" dirty="0"/>
          </a:p>
        </p:txBody>
      </p:sp>
      <p:sp>
        <p:nvSpPr>
          <p:cNvPr id="37" name="Rounded Rectangular Callout 36"/>
          <p:cNvSpPr/>
          <p:nvPr/>
        </p:nvSpPr>
        <p:spPr>
          <a:xfrm>
            <a:off x="5759704" y="3223728"/>
            <a:ext cx="529139" cy="231474"/>
          </a:xfrm>
          <a:prstGeom prst="wedgeRoundRectCallout">
            <a:avLst>
              <a:gd name="adj1" fmla="val -103374"/>
              <a:gd name="adj2" fmla="val 10971"/>
              <a:gd name="adj3" fmla="val 16667"/>
            </a:avLst>
          </a:prstGeom>
          <a:solidFill>
            <a:srgbClr val="00B050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 smtClean="0"/>
              <a:t>61</a:t>
            </a:r>
            <a:endParaRPr lang="en-US" sz="1000" b="1" kern="1200" dirty="0"/>
          </a:p>
        </p:txBody>
      </p:sp>
      <p:sp>
        <p:nvSpPr>
          <p:cNvPr id="38" name="Rounded Rectangular Callout 37"/>
          <p:cNvSpPr/>
          <p:nvPr/>
        </p:nvSpPr>
        <p:spPr>
          <a:xfrm>
            <a:off x="4363205" y="3358604"/>
            <a:ext cx="529139" cy="231474"/>
          </a:xfrm>
          <a:prstGeom prst="wedgeRoundRectCallout">
            <a:avLst>
              <a:gd name="adj1" fmla="val 76156"/>
              <a:gd name="adj2" fmla="val 59252"/>
              <a:gd name="adj3" fmla="val 16667"/>
            </a:avLst>
          </a:prstGeom>
          <a:solidFill>
            <a:srgbClr val="00B050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 smtClean="0"/>
              <a:t>42/43</a:t>
            </a:r>
            <a:endParaRPr lang="en-US" sz="1000" b="1" kern="1200" dirty="0"/>
          </a:p>
        </p:txBody>
      </p:sp>
      <p:sp>
        <p:nvSpPr>
          <p:cNvPr id="39" name="Rounded Rectangular Callout 38"/>
          <p:cNvSpPr/>
          <p:nvPr/>
        </p:nvSpPr>
        <p:spPr>
          <a:xfrm>
            <a:off x="6363546" y="3400236"/>
            <a:ext cx="529139" cy="231474"/>
          </a:xfrm>
          <a:prstGeom prst="wedgeRoundRectCallout">
            <a:avLst>
              <a:gd name="adj1" fmla="val -242581"/>
              <a:gd name="adj2" fmla="val 43890"/>
              <a:gd name="adj3" fmla="val 16667"/>
            </a:avLst>
          </a:prstGeom>
          <a:solidFill>
            <a:srgbClr val="00B050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 smtClean="0"/>
              <a:t>44/45</a:t>
            </a:r>
            <a:endParaRPr lang="en-US" sz="1000" b="1" kern="1200" dirty="0"/>
          </a:p>
        </p:txBody>
      </p:sp>
      <p:sp>
        <p:nvSpPr>
          <p:cNvPr id="40" name="Rectangle 39"/>
          <p:cNvSpPr/>
          <p:nvPr/>
        </p:nvSpPr>
        <p:spPr>
          <a:xfrm flipH="1">
            <a:off x="5692296" y="3684669"/>
            <a:ext cx="218918" cy="120649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41" name="Rounded Rectangular Callout 40"/>
          <p:cNvSpPr/>
          <p:nvPr/>
        </p:nvSpPr>
        <p:spPr>
          <a:xfrm>
            <a:off x="4343997" y="3612445"/>
            <a:ext cx="529139" cy="231474"/>
          </a:xfrm>
          <a:prstGeom prst="wedgeRoundRectCallout">
            <a:avLst>
              <a:gd name="adj1" fmla="val 106758"/>
              <a:gd name="adj2" fmla="val 18103"/>
              <a:gd name="adj3" fmla="val 16667"/>
            </a:avLst>
          </a:prstGeom>
          <a:solidFill>
            <a:srgbClr val="00B050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 smtClean="0"/>
              <a:t>68b</a:t>
            </a:r>
            <a:endParaRPr lang="en-US" sz="1000" b="1" kern="1200" dirty="0"/>
          </a:p>
        </p:txBody>
      </p:sp>
      <p:sp>
        <p:nvSpPr>
          <p:cNvPr id="42" name="Rounded Rectangular Callout 41"/>
          <p:cNvSpPr/>
          <p:nvPr/>
        </p:nvSpPr>
        <p:spPr>
          <a:xfrm>
            <a:off x="4502666" y="3963328"/>
            <a:ext cx="529139" cy="231474"/>
          </a:xfrm>
          <a:prstGeom prst="wedgeRoundRectCallout">
            <a:avLst>
              <a:gd name="adj1" fmla="val 84197"/>
              <a:gd name="adj2" fmla="val -70779"/>
              <a:gd name="adj3" fmla="val 16667"/>
            </a:avLst>
          </a:prstGeom>
          <a:solidFill>
            <a:srgbClr val="00B050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 smtClean="0"/>
              <a:t>90</a:t>
            </a:r>
            <a:endParaRPr lang="en-US" sz="1000" b="1" kern="1200" dirty="0"/>
          </a:p>
        </p:txBody>
      </p:sp>
      <p:sp>
        <p:nvSpPr>
          <p:cNvPr id="43" name="Rounded Rectangular Callout 42"/>
          <p:cNvSpPr/>
          <p:nvPr/>
        </p:nvSpPr>
        <p:spPr>
          <a:xfrm>
            <a:off x="5354955" y="3998983"/>
            <a:ext cx="529139" cy="231474"/>
          </a:xfrm>
          <a:prstGeom prst="wedgeRoundRectCallout">
            <a:avLst>
              <a:gd name="adj1" fmla="val 5953"/>
              <a:gd name="adj2" fmla="val -139910"/>
              <a:gd name="adj3" fmla="val 16667"/>
            </a:avLst>
          </a:prstGeom>
          <a:solidFill>
            <a:srgbClr val="00B050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 smtClean="0"/>
              <a:t>46</a:t>
            </a:r>
            <a:endParaRPr lang="en-US" sz="1000" b="1" kern="1200" dirty="0"/>
          </a:p>
        </p:txBody>
      </p:sp>
      <p:sp>
        <p:nvSpPr>
          <p:cNvPr id="44" name="Rounded Rectangular Callout 43"/>
          <p:cNvSpPr/>
          <p:nvPr/>
        </p:nvSpPr>
        <p:spPr>
          <a:xfrm>
            <a:off x="6045835" y="3891715"/>
            <a:ext cx="529139" cy="231474"/>
          </a:xfrm>
          <a:prstGeom prst="wedgeRoundRectCallout">
            <a:avLst>
              <a:gd name="adj1" fmla="val -75171"/>
              <a:gd name="adj2" fmla="val -92725"/>
              <a:gd name="adj3" fmla="val 16667"/>
            </a:avLst>
          </a:prstGeom>
          <a:solidFill>
            <a:srgbClr val="00B050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 smtClean="0"/>
              <a:t>47</a:t>
            </a:r>
            <a:endParaRPr lang="en-US" sz="1000" b="1" kern="1200" dirty="0"/>
          </a:p>
        </p:txBody>
      </p:sp>
      <p:sp>
        <p:nvSpPr>
          <p:cNvPr id="45" name="Rounded Rectangular Callout 44"/>
          <p:cNvSpPr/>
          <p:nvPr/>
        </p:nvSpPr>
        <p:spPr>
          <a:xfrm>
            <a:off x="6732197" y="5532365"/>
            <a:ext cx="529139" cy="231474"/>
          </a:xfrm>
          <a:prstGeom prst="wedgeRoundRectCallout">
            <a:avLst>
              <a:gd name="adj1" fmla="val -103374"/>
              <a:gd name="adj2" fmla="val 28528"/>
              <a:gd name="adj3" fmla="val 16667"/>
            </a:avLst>
          </a:prstGeom>
          <a:solidFill>
            <a:srgbClr val="00B050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 smtClean="0"/>
              <a:t>01</a:t>
            </a:r>
            <a:endParaRPr lang="en-US" sz="1000" b="1" kern="1200" dirty="0"/>
          </a:p>
        </p:txBody>
      </p:sp>
      <p:sp>
        <p:nvSpPr>
          <p:cNvPr id="46" name="Rectangle 45"/>
          <p:cNvSpPr/>
          <p:nvPr/>
        </p:nvSpPr>
        <p:spPr>
          <a:xfrm flipH="1">
            <a:off x="9330040" y="1855747"/>
            <a:ext cx="2615618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PH" sz="1100" dirty="0">
                <a:solidFill>
                  <a:srgbClr val="FF0000"/>
                </a:solidFill>
              </a:rPr>
              <a:t>01 REMIT TO</a:t>
            </a:r>
          </a:p>
          <a:p>
            <a:r>
              <a:rPr lang="en-PH" sz="1100" dirty="0">
                <a:solidFill>
                  <a:srgbClr val="FF0000"/>
                </a:solidFill>
              </a:rPr>
              <a:t>02 BILL TO</a:t>
            </a:r>
          </a:p>
          <a:p>
            <a:r>
              <a:rPr lang="en-PH" sz="1100" dirty="0">
                <a:solidFill>
                  <a:srgbClr val="FF0000"/>
                </a:solidFill>
              </a:rPr>
              <a:t>03 INV KEY</a:t>
            </a:r>
            <a:br>
              <a:rPr lang="en-PH" sz="1100" dirty="0">
                <a:solidFill>
                  <a:srgbClr val="FF0000"/>
                </a:solidFill>
              </a:rPr>
            </a:br>
            <a:r>
              <a:rPr lang="en-PH" sz="1100" dirty="0">
                <a:solidFill>
                  <a:srgbClr val="FF0000"/>
                </a:solidFill>
              </a:rPr>
              <a:t>05 ACCT</a:t>
            </a:r>
            <a:br>
              <a:rPr lang="en-PH" sz="1100" dirty="0">
                <a:solidFill>
                  <a:srgbClr val="FF0000"/>
                </a:solidFill>
              </a:rPr>
            </a:br>
            <a:r>
              <a:rPr lang="en-PH" sz="1100" dirty="0">
                <a:solidFill>
                  <a:srgbClr val="FF0000"/>
                </a:solidFill>
              </a:rPr>
              <a:t>10 DATE</a:t>
            </a:r>
            <a:br>
              <a:rPr lang="en-PH" sz="1100" dirty="0">
                <a:solidFill>
                  <a:srgbClr val="FF0000"/>
                </a:solidFill>
              </a:rPr>
            </a:br>
            <a:r>
              <a:rPr lang="en-PH" sz="1100" dirty="0" smtClean="0">
                <a:solidFill>
                  <a:srgbClr val="FF0000"/>
                </a:solidFill>
              </a:rPr>
              <a:t>30 </a:t>
            </a:r>
            <a:r>
              <a:rPr lang="en-PH" sz="1100" dirty="0">
                <a:solidFill>
                  <a:srgbClr val="FF0000"/>
                </a:solidFill>
              </a:rPr>
              <a:t>CONSIGNEE INV</a:t>
            </a:r>
          </a:p>
          <a:p>
            <a:r>
              <a:rPr lang="en-PH" sz="1100" dirty="0">
                <a:solidFill>
                  <a:srgbClr val="FF0000"/>
                </a:solidFill>
              </a:rPr>
              <a:t>42/43 ACTUAL WT/ FNCL WT</a:t>
            </a:r>
          </a:p>
          <a:p>
            <a:r>
              <a:rPr lang="en-PH" sz="1100" dirty="0">
                <a:solidFill>
                  <a:srgbClr val="FF0000"/>
                </a:solidFill>
              </a:rPr>
              <a:t>44/45 WT UOM</a:t>
            </a:r>
          </a:p>
          <a:p>
            <a:r>
              <a:rPr lang="en-PH" sz="1100" dirty="0">
                <a:solidFill>
                  <a:srgbClr val="FF0000"/>
                </a:solidFill>
              </a:rPr>
              <a:t>46 PIECES</a:t>
            </a:r>
          </a:p>
          <a:p>
            <a:r>
              <a:rPr lang="en-PH" sz="1100" dirty="0">
                <a:solidFill>
                  <a:srgbClr val="FF0000"/>
                </a:solidFill>
              </a:rPr>
              <a:t>47 PIECES TYPE</a:t>
            </a:r>
            <a:br>
              <a:rPr lang="en-PH" sz="1100" dirty="0">
                <a:solidFill>
                  <a:srgbClr val="FF0000"/>
                </a:solidFill>
              </a:rPr>
            </a:br>
            <a:r>
              <a:rPr lang="en-PH" sz="1100" dirty="0">
                <a:solidFill>
                  <a:srgbClr val="FF0000"/>
                </a:solidFill>
              </a:rPr>
              <a:t>61 PICK UP</a:t>
            </a:r>
          </a:p>
          <a:p>
            <a:r>
              <a:rPr lang="en-PH" sz="1100" dirty="0">
                <a:solidFill>
                  <a:srgbClr val="FF0000"/>
                </a:solidFill>
              </a:rPr>
              <a:t>68a </a:t>
            </a:r>
            <a:r>
              <a:rPr lang="en-PH" sz="1100" dirty="0" smtClean="0">
                <a:solidFill>
                  <a:srgbClr val="FF0000"/>
                </a:solidFill>
              </a:rPr>
              <a:t>REF</a:t>
            </a:r>
            <a:endParaRPr lang="en-PH" sz="1100" dirty="0">
              <a:solidFill>
                <a:srgbClr val="FF0000"/>
              </a:solidFill>
            </a:endParaRPr>
          </a:p>
          <a:p>
            <a:r>
              <a:rPr lang="en-PH" sz="1100" dirty="0">
                <a:solidFill>
                  <a:srgbClr val="FF0000"/>
                </a:solidFill>
              </a:rPr>
              <a:t>68b </a:t>
            </a:r>
            <a:r>
              <a:rPr lang="en-PH" sz="1100" dirty="0" smtClean="0">
                <a:solidFill>
                  <a:srgbClr val="FF0000"/>
                </a:solidFill>
              </a:rPr>
              <a:t>MAWB</a:t>
            </a:r>
            <a:endParaRPr lang="en-PH" sz="1100" dirty="0">
              <a:solidFill>
                <a:srgbClr val="FF0000"/>
              </a:solidFill>
            </a:endParaRPr>
          </a:p>
          <a:p>
            <a:r>
              <a:rPr lang="en-PH" sz="1100" dirty="0">
                <a:solidFill>
                  <a:srgbClr val="FF0000"/>
                </a:solidFill>
              </a:rPr>
              <a:t>72 LINE ITEM DESC</a:t>
            </a:r>
          </a:p>
          <a:p>
            <a:r>
              <a:rPr lang="en-PH" sz="1100" dirty="0">
                <a:solidFill>
                  <a:srgbClr val="FF0000"/>
                </a:solidFill>
              </a:rPr>
              <a:t>85 LINE ITEM AMT</a:t>
            </a:r>
          </a:p>
          <a:p>
            <a:r>
              <a:rPr lang="en-PH" sz="1100" dirty="0">
                <a:solidFill>
                  <a:srgbClr val="FF0000"/>
                </a:solidFill>
              </a:rPr>
              <a:t>90 PROD DESC</a:t>
            </a:r>
            <a:br>
              <a:rPr lang="en-PH" sz="1100" dirty="0">
                <a:solidFill>
                  <a:srgbClr val="FF0000"/>
                </a:solidFill>
              </a:rPr>
            </a:br>
            <a:r>
              <a:rPr lang="en-PH" sz="1100" dirty="0">
                <a:solidFill>
                  <a:srgbClr val="FF0000"/>
                </a:solidFill>
              </a:rPr>
              <a:t>08/14 INV AMT/FB AMT</a:t>
            </a:r>
          </a:p>
          <a:p>
            <a:r>
              <a:rPr lang="en-PH" sz="1100" dirty="0" smtClean="0">
                <a:solidFill>
                  <a:srgbClr val="FF0000"/>
                </a:solidFill>
              </a:rPr>
              <a:t>09 CURR</a:t>
            </a:r>
            <a:endParaRPr lang="en-PH" sz="1100" dirty="0">
              <a:solidFill>
                <a:srgbClr val="FF0000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 flipH="1">
            <a:off x="7981949" y="1547848"/>
            <a:ext cx="442913" cy="115589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48" name="Rounded Rectangular Callout 47"/>
          <p:cNvSpPr/>
          <p:nvPr/>
        </p:nvSpPr>
        <p:spPr>
          <a:xfrm>
            <a:off x="7194819" y="1425811"/>
            <a:ext cx="529139" cy="231474"/>
          </a:xfrm>
          <a:prstGeom prst="wedgeRoundRectCallout">
            <a:avLst>
              <a:gd name="adj1" fmla="val 108983"/>
              <a:gd name="adj2" fmla="val 27129"/>
              <a:gd name="adj3" fmla="val 16667"/>
            </a:avLst>
          </a:prstGeom>
          <a:solidFill>
            <a:srgbClr val="00B050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 smtClean="0"/>
              <a:t>09</a:t>
            </a:r>
            <a:endParaRPr lang="en-US" sz="1000" b="1" kern="1200" dirty="0"/>
          </a:p>
        </p:txBody>
      </p:sp>
      <p:sp>
        <p:nvSpPr>
          <p:cNvPr id="2" name="TextBox 1"/>
          <p:cNvSpPr txBox="1"/>
          <p:nvPr/>
        </p:nvSpPr>
        <p:spPr>
          <a:xfrm>
            <a:off x="1049132" y="842470"/>
            <a:ext cx="19453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400" dirty="0" smtClean="0">
                <a:solidFill>
                  <a:srgbClr val="FF0000"/>
                </a:solidFill>
              </a:rPr>
              <a:t>FORMAT A - 1/3</a:t>
            </a:r>
            <a:endParaRPr lang="en-PH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2202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6318" y="0"/>
            <a:ext cx="5299364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 flipH="1">
            <a:off x="3609730" y="676211"/>
            <a:ext cx="1320410" cy="314389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 flipH="1">
            <a:off x="3609730" y="990600"/>
            <a:ext cx="1750940" cy="563880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 flipH="1">
            <a:off x="5945260" y="1240091"/>
            <a:ext cx="638420" cy="112459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 flipH="1">
            <a:off x="7583560" y="405701"/>
            <a:ext cx="947030" cy="108649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 flipH="1">
            <a:off x="4173610" y="2143061"/>
            <a:ext cx="703190" cy="101029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 flipH="1">
            <a:off x="4981330" y="2718371"/>
            <a:ext cx="684140" cy="85789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 flipH="1">
            <a:off x="4459360" y="3260375"/>
            <a:ext cx="1206110" cy="88615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 flipH="1">
            <a:off x="3840480" y="5047265"/>
            <a:ext cx="95250" cy="88616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 flipH="1">
            <a:off x="8305800" y="2327910"/>
            <a:ext cx="160020" cy="87630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5" name="Rounded Rectangular Callout 14"/>
          <p:cNvSpPr/>
          <p:nvPr/>
        </p:nvSpPr>
        <p:spPr>
          <a:xfrm>
            <a:off x="5136331" y="646756"/>
            <a:ext cx="529139" cy="231474"/>
          </a:xfrm>
          <a:prstGeom prst="wedgeRoundRectCallout">
            <a:avLst>
              <a:gd name="adj1" fmla="val -103374"/>
              <a:gd name="adj2" fmla="val 28528"/>
              <a:gd name="adj3" fmla="val 16667"/>
            </a:avLst>
          </a:prstGeom>
          <a:solidFill>
            <a:srgbClr val="00B050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 smtClean="0"/>
              <a:t>27</a:t>
            </a:r>
            <a:endParaRPr lang="en-US" sz="1000" b="1" kern="1200" dirty="0"/>
          </a:p>
        </p:txBody>
      </p:sp>
      <p:sp>
        <p:nvSpPr>
          <p:cNvPr id="16" name="Rounded Rectangular Callout 15"/>
          <p:cNvSpPr/>
          <p:nvPr/>
        </p:nvSpPr>
        <p:spPr>
          <a:xfrm>
            <a:off x="2998885" y="1121076"/>
            <a:ext cx="529139" cy="231474"/>
          </a:xfrm>
          <a:prstGeom prst="wedgeRoundRectCallout">
            <a:avLst>
              <a:gd name="adj1" fmla="val 85756"/>
              <a:gd name="adj2" fmla="val 32917"/>
              <a:gd name="adj3" fmla="val 16667"/>
            </a:avLst>
          </a:prstGeom>
          <a:solidFill>
            <a:srgbClr val="00B050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 smtClean="0"/>
              <a:t>30</a:t>
            </a:r>
            <a:endParaRPr lang="en-US" sz="1000" b="1" kern="1200" dirty="0"/>
          </a:p>
        </p:txBody>
      </p:sp>
      <p:sp>
        <p:nvSpPr>
          <p:cNvPr id="17" name="Rounded Rectangular Callout 16"/>
          <p:cNvSpPr/>
          <p:nvPr/>
        </p:nvSpPr>
        <p:spPr>
          <a:xfrm>
            <a:off x="6788606" y="1121076"/>
            <a:ext cx="529139" cy="231474"/>
          </a:xfrm>
          <a:prstGeom prst="wedgeRoundRectCallout">
            <a:avLst>
              <a:gd name="adj1" fmla="val -103374"/>
              <a:gd name="adj2" fmla="val 28528"/>
              <a:gd name="adj3" fmla="val 16667"/>
            </a:avLst>
          </a:prstGeom>
          <a:solidFill>
            <a:srgbClr val="00B050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 smtClean="0"/>
              <a:t>61</a:t>
            </a:r>
            <a:endParaRPr lang="en-US" sz="1000" b="1" kern="1200" dirty="0"/>
          </a:p>
        </p:txBody>
      </p:sp>
      <p:sp>
        <p:nvSpPr>
          <p:cNvPr id="18" name="Rounded Rectangular Callout 17"/>
          <p:cNvSpPr/>
          <p:nvPr/>
        </p:nvSpPr>
        <p:spPr>
          <a:xfrm>
            <a:off x="8663976" y="282876"/>
            <a:ext cx="529139" cy="231474"/>
          </a:xfrm>
          <a:prstGeom prst="wedgeRoundRectCallout">
            <a:avLst>
              <a:gd name="adj1" fmla="val -103374"/>
              <a:gd name="adj2" fmla="val 28528"/>
              <a:gd name="adj3" fmla="val 16667"/>
            </a:avLst>
          </a:prstGeom>
          <a:solidFill>
            <a:srgbClr val="00B050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 smtClean="0"/>
              <a:t>68a</a:t>
            </a:r>
            <a:endParaRPr lang="en-US" sz="1000" b="1" kern="1200" dirty="0"/>
          </a:p>
        </p:txBody>
      </p:sp>
      <p:sp>
        <p:nvSpPr>
          <p:cNvPr id="19" name="Rounded Rectangular Callout 18"/>
          <p:cNvSpPr/>
          <p:nvPr/>
        </p:nvSpPr>
        <p:spPr>
          <a:xfrm>
            <a:off x="5058830" y="2030682"/>
            <a:ext cx="529139" cy="231474"/>
          </a:xfrm>
          <a:prstGeom prst="wedgeRoundRectCallout">
            <a:avLst>
              <a:gd name="adj1" fmla="val -103374"/>
              <a:gd name="adj2" fmla="val 28528"/>
              <a:gd name="adj3" fmla="val 16667"/>
            </a:avLst>
          </a:prstGeom>
          <a:solidFill>
            <a:srgbClr val="00B050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 smtClean="0"/>
              <a:t>68b</a:t>
            </a:r>
            <a:endParaRPr lang="en-US" sz="1000" b="1" kern="1200" dirty="0"/>
          </a:p>
        </p:txBody>
      </p:sp>
      <p:sp>
        <p:nvSpPr>
          <p:cNvPr id="20" name="Rounded Rectangular Callout 19"/>
          <p:cNvSpPr/>
          <p:nvPr/>
        </p:nvSpPr>
        <p:spPr>
          <a:xfrm>
            <a:off x="5848333" y="2577067"/>
            <a:ext cx="529139" cy="231474"/>
          </a:xfrm>
          <a:prstGeom prst="wedgeRoundRectCallout">
            <a:avLst>
              <a:gd name="adj1" fmla="val -103374"/>
              <a:gd name="adj2" fmla="val 28528"/>
              <a:gd name="adj3" fmla="val 16667"/>
            </a:avLst>
          </a:prstGeom>
          <a:solidFill>
            <a:srgbClr val="00B050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 smtClean="0"/>
              <a:t>68c</a:t>
            </a:r>
            <a:endParaRPr lang="en-US" sz="1000" b="1" kern="1200" dirty="0"/>
          </a:p>
        </p:txBody>
      </p:sp>
      <p:sp>
        <p:nvSpPr>
          <p:cNvPr id="21" name="Rounded Rectangular Callout 20"/>
          <p:cNvSpPr/>
          <p:nvPr/>
        </p:nvSpPr>
        <p:spPr>
          <a:xfrm>
            <a:off x="5792453" y="3117516"/>
            <a:ext cx="529139" cy="231474"/>
          </a:xfrm>
          <a:prstGeom prst="wedgeRoundRectCallout">
            <a:avLst>
              <a:gd name="adj1" fmla="val -103374"/>
              <a:gd name="adj2" fmla="val 28528"/>
              <a:gd name="adj3" fmla="val 16667"/>
            </a:avLst>
          </a:prstGeom>
          <a:solidFill>
            <a:srgbClr val="00B050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 smtClean="0"/>
              <a:t>90</a:t>
            </a:r>
            <a:endParaRPr lang="en-US" sz="1000" b="1" kern="1200" dirty="0"/>
          </a:p>
        </p:txBody>
      </p:sp>
      <p:sp>
        <p:nvSpPr>
          <p:cNvPr id="22" name="Rounded Rectangular Callout 21"/>
          <p:cNvSpPr/>
          <p:nvPr/>
        </p:nvSpPr>
        <p:spPr>
          <a:xfrm>
            <a:off x="8745682" y="2184066"/>
            <a:ext cx="529139" cy="231474"/>
          </a:xfrm>
          <a:prstGeom prst="wedgeRoundRectCallout">
            <a:avLst>
              <a:gd name="adj1" fmla="val -103374"/>
              <a:gd name="adj2" fmla="val 28528"/>
              <a:gd name="adj3" fmla="val 16667"/>
            </a:avLst>
          </a:prstGeom>
          <a:solidFill>
            <a:srgbClr val="00B050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 smtClean="0"/>
              <a:t>98</a:t>
            </a:r>
            <a:endParaRPr lang="en-US" sz="1000" b="1" kern="1200" dirty="0"/>
          </a:p>
        </p:txBody>
      </p:sp>
      <p:sp>
        <p:nvSpPr>
          <p:cNvPr id="23" name="Rounded Rectangular Callout 22"/>
          <p:cNvSpPr/>
          <p:nvPr/>
        </p:nvSpPr>
        <p:spPr>
          <a:xfrm>
            <a:off x="4260635" y="4903422"/>
            <a:ext cx="529139" cy="231474"/>
          </a:xfrm>
          <a:prstGeom prst="wedgeRoundRectCallout">
            <a:avLst>
              <a:gd name="adj1" fmla="val -103374"/>
              <a:gd name="adj2" fmla="val 28528"/>
              <a:gd name="adj3" fmla="val 16667"/>
            </a:avLst>
          </a:prstGeom>
          <a:solidFill>
            <a:srgbClr val="00B050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 smtClean="0"/>
              <a:t>95</a:t>
            </a:r>
            <a:endParaRPr lang="en-US" sz="1000" b="1" kern="1200" dirty="0"/>
          </a:p>
        </p:txBody>
      </p:sp>
      <p:sp>
        <p:nvSpPr>
          <p:cNvPr id="24" name="Rounded Rectangular Callout 23"/>
          <p:cNvSpPr/>
          <p:nvPr/>
        </p:nvSpPr>
        <p:spPr>
          <a:xfrm>
            <a:off x="8837715" y="4903303"/>
            <a:ext cx="529139" cy="231474"/>
          </a:xfrm>
          <a:prstGeom prst="wedgeRoundRectCallout">
            <a:avLst>
              <a:gd name="adj1" fmla="val -103374"/>
              <a:gd name="adj2" fmla="val 28528"/>
              <a:gd name="adj3" fmla="val 16667"/>
            </a:avLst>
          </a:prstGeom>
          <a:solidFill>
            <a:srgbClr val="00B050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 smtClean="0"/>
              <a:t>96/97</a:t>
            </a:r>
            <a:endParaRPr lang="en-US" sz="1000" b="1" kern="1200" dirty="0"/>
          </a:p>
        </p:txBody>
      </p:sp>
      <p:sp>
        <p:nvSpPr>
          <p:cNvPr id="25" name="Rectangle 24"/>
          <p:cNvSpPr/>
          <p:nvPr/>
        </p:nvSpPr>
        <p:spPr>
          <a:xfrm flipH="1">
            <a:off x="8385810" y="5019040"/>
            <a:ext cx="186690" cy="142240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 flipH="1">
            <a:off x="9472973" y="1619794"/>
            <a:ext cx="2004922" cy="19543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PH" sz="1100" dirty="0" smtClean="0">
                <a:solidFill>
                  <a:srgbClr val="FF0000"/>
                </a:solidFill>
              </a:rPr>
              <a:t>27 SHIPPER BOL</a:t>
            </a:r>
          </a:p>
          <a:p>
            <a:r>
              <a:rPr lang="en-PH" sz="1100" dirty="0" smtClean="0">
                <a:solidFill>
                  <a:srgbClr val="FF0000"/>
                </a:solidFill>
              </a:rPr>
              <a:t>30 CONSIGNEE BOL</a:t>
            </a:r>
          </a:p>
          <a:p>
            <a:r>
              <a:rPr lang="en-PH" sz="1100" dirty="0" smtClean="0">
                <a:solidFill>
                  <a:srgbClr val="FF0000"/>
                </a:solidFill>
              </a:rPr>
              <a:t>36 FREIGHT TERM</a:t>
            </a:r>
          </a:p>
          <a:p>
            <a:r>
              <a:rPr lang="en-PH" sz="1100" dirty="0" smtClean="0">
                <a:solidFill>
                  <a:srgbClr val="FF0000"/>
                </a:solidFill>
              </a:rPr>
              <a:t>61 PICK UP</a:t>
            </a:r>
          </a:p>
          <a:p>
            <a:r>
              <a:rPr lang="en-PH" sz="1100" dirty="0" smtClean="0">
                <a:solidFill>
                  <a:srgbClr val="FF0000"/>
                </a:solidFill>
              </a:rPr>
              <a:t>68a BOL</a:t>
            </a:r>
          </a:p>
          <a:p>
            <a:r>
              <a:rPr lang="en-PH" sz="1100" dirty="0" smtClean="0">
                <a:solidFill>
                  <a:srgbClr val="FF0000"/>
                </a:solidFill>
              </a:rPr>
              <a:t>68b ORD</a:t>
            </a:r>
          </a:p>
          <a:p>
            <a:r>
              <a:rPr lang="en-PH" sz="1100" dirty="0" smtClean="0">
                <a:solidFill>
                  <a:srgbClr val="FF0000"/>
                </a:solidFill>
              </a:rPr>
              <a:t>68c PO</a:t>
            </a:r>
          </a:p>
          <a:p>
            <a:r>
              <a:rPr lang="en-PH" sz="1100" dirty="0" smtClean="0">
                <a:solidFill>
                  <a:srgbClr val="FF0000"/>
                </a:solidFill>
              </a:rPr>
              <a:t>90 PROD DESC</a:t>
            </a:r>
          </a:p>
          <a:p>
            <a:r>
              <a:rPr lang="en-PH" sz="1100" dirty="0" smtClean="0">
                <a:solidFill>
                  <a:srgbClr val="FF0000"/>
                </a:solidFill>
              </a:rPr>
              <a:t>95 PCS CNT</a:t>
            </a:r>
          </a:p>
          <a:p>
            <a:r>
              <a:rPr lang="en-PH" sz="1100" dirty="0" smtClean="0">
                <a:solidFill>
                  <a:srgbClr val="FF0000"/>
                </a:solidFill>
              </a:rPr>
              <a:t>96/97 GROSS WT/NET WT</a:t>
            </a:r>
          </a:p>
          <a:p>
            <a:r>
              <a:rPr lang="en-PH" sz="1100" dirty="0" smtClean="0">
                <a:solidFill>
                  <a:srgbClr val="FF0000"/>
                </a:solidFill>
              </a:rPr>
              <a:t>98 WT UOM</a:t>
            </a:r>
            <a:endParaRPr lang="en-PH" sz="1100" dirty="0">
              <a:solidFill>
                <a:srgbClr val="FF0000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 flipH="1">
            <a:off x="7744968" y="1648732"/>
            <a:ext cx="560832" cy="88627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28" name="Rounded Rectangular Callout 27"/>
          <p:cNvSpPr/>
          <p:nvPr/>
        </p:nvSpPr>
        <p:spPr>
          <a:xfrm>
            <a:off x="8508837" y="1504057"/>
            <a:ext cx="529139" cy="231474"/>
          </a:xfrm>
          <a:prstGeom prst="wedgeRoundRectCallout">
            <a:avLst>
              <a:gd name="adj1" fmla="val -103374"/>
              <a:gd name="adj2" fmla="val 28528"/>
              <a:gd name="adj3" fmla="val 16667"/>
            </a:avLst>
          </a:prstGeom>
          <a:solidFill>
            <a:srgbClr val="00B050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 smtClean="0"/>
              <a:t>36</a:t>
            </a:r>
            <a:endParaRPr lang="en-US" sz="1000" b="1" kern="1200" dirty="0"/>
          </a:p>
        </p:txBody>
      </p:sp>
      <p:sp>
        <p:nvSpPr>
          <p:cNvPr id="29" name="TextBox 28"/>
          <p:cNvSpPr txBox="1"/>
          <p:nvPr/>
        </p:nvSpPr>
        <p:spPr>
          <a:xfrm>
            <a:off x="773672" y="575183"/>
            <a:ext cx="19453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400" dirty="0" smtClean="0">
                <a:solidFill>
                  <a:srgbClr val="FF0000"/>
                </a:solidFill>
              </a:rPr>
              <a:t>FORMAT A - 2/3</a:t>
            </a:r>
            <a:endParaRPr lang="en-PH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2417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1918" y="0"/>
            <a:ext cx="5299364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 flipH="1">
            <a:off x="5770000" y="960121"/>
            <a:ext cx="1110860" cy="304800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 flipH="1">
            <a:off x="4326010" y="1383031"/>
            <a:ext cx="1171820" cy="224790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7" name="Rounded Rectangular Callout 6"/>
          <p:cNvSpPr/>
          <p:nvPr/>
        </p:nvSpPr>
        <p:spPr>
          <a:xfrm>
            <a:off x="7091501" y="960121"/>
            <a:ext cx="529139" cy="231474"/>
          </a:xfrm>
          <a:prstGeom prst="wedgeRoundRectCallout">
            <a:avLst>
              <a:gd name="adj1" fmla="val -103374"/>
              <a:gd name="adj2" fmla="val 28528"/>
              <a:gd name="adj3" fmla="val 16667"/>
            </a:avLst>
          </a:prstGeom>
          <a:solidFill>
            <a:srgbClr val="00B050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 smtClean="0"/>
              <a:t>29</a:t>
            </a:r>
            <a:endParaRPr lang="en-US" sz="1000" b="1" kern="1200" dirty="0"/>
          </a:p>
        </p:txBody>
      </p:sp>
      <p:sp>
        <p:nvSpPr>
          <p:cNvPr id="8" name="Rounded Rectangular Callout 7"/>
          <p:cNvSpPr/>
          <p:nvPr/>
        </p:nvSpPr>
        <p:spPr>
          <a:xfrm>
            <a:off x="5712281" y="1318261"/>
            <a:ext cx="529139" cy="231474"/>
          </a:xfrm>
          <a:prstGeom prst="wedgeRoundRectCallout">
            <a:avLst>
              <a:gd name="adj1" fmla="val -103374"/>
              <a:gd name="adj2" fmla="val 28528"/>
              <a:gd name="adj3" fmla="val 16667"/>
            </a:avLst>
          </a:prstGeom>
          <a:solidFill>
            <a:srgbClr val="00B050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 smtClean="0"/>
              <a:t>32</a:t>
            </a:r>
            <a:endParaRPr lang="en-US" sz="1000" b="1" kern="1200" dirty="0"/>
          </a:p>
        </p:txBody>
      </p:sp>
      <p:sp>
        <p:nvSpPr>
          <p:cNvPr id="9" name="Rectangle 8"/>
          <p:cNvSpPr/>
          <p:nvPr/>
        </p:nvSpPr>
        <p:spPr>
          <a:xfrm>
            <a:off x="7933509" y="1264921"/>
            <a:ext cx="169186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PH" sz="1100" dirty="0" smtClean="0">
                <a:solidFill>
                  <a:srgbClr val="FF0000"/>
                </a:solidFill>
              </a:rPr>
              <a:t>29 </a:t>
            </a:r>
            <a:r>
              <a:rPr lang="en-PH" sz="1100" dirty="0">
                <a:solidFill>
                  <a:srgbClr val="FF0000"/>
                </a:solidFill>
              </a:rPr>
              <a:t>SHIPPER </a:t>
            </a:r>
            <a:r>
              <a:rPr lang="en-PH" sz="1100" dirty="0" smtClean="0">
                <a:solidFill>
                  <a:srgbClr val="FF0000"/>
                </a:solidFill>
              </a:rPr>
              <a:t>COM</a:t>
            </a:r>
            <a:endParaRPr lang="en-PH" sz="1100" dirty="0">
              <a:solidFill>
                <a:srgbClr val="FF0000"/>
              </a:solidFill>
            </a:endParaRPr>
          </a:p>
          <a:p>
            <a:r>
              <a:rPr lang="en-PH" sz="1100" dirty="0" smtClean="0">
                <a:solidFill>
                  <a:srgbClr val="FF0000"/>
                </a:solidFill>
              </a:rPr>
              <a:t>32 CONSIGNEE COM</a:t>
            </a:r>
            <a:endParaRPr lang="en-PH" sz="1100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84336" y="585295"/>
            <a:ext cx="19453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400" dirty="0" smtClean="0">
                <a:solidFill>
                  <a:srgbClr val="FF0000"/>
                </a:solidFill>
              </a:rPr>
              <a:t>FORMAT A – 3/3</a:t>
            </a:r>
            <a:endParaRPr lang="en-PH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2584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67059A8-3C37-FE4F-A166-461ADD3C9888}"/>
              </a:ext>
            </a:extLst>
          </p:cNvPr>
          <p:cNvSpPr txBox="1">
            <a:spLocks/>
          </p:cNvSpPr>
          <p:nvPr/>
        </p:nvSpPr>
        <p:spPr>
          <a:xfrm>
            <a:off x="4963650" y="2647773"/>
            <a:ext cx="95636" cy="97859"/>
          </a:xfrm>
          <a:prstGeom prst="rect">
            <a:avLst/>
          </a:prstGeom>
        </p:spPr>
        <p:txBody>
          <a:bodyPr vert="horz" lIns="21699" tIns="10850" rIns="21699" bIns="1085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b="0" i="1" kern="1200">
                <a:solidFill>
                  <a:schemeClr val="tx1">
                    <a:tint val="75000"/>
                  </a:schemeClr>
                </a:solidFill>
                <a:latin typeface="Proxima Nova Condensed Light" panose="02000506030000020004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5" dirty="0">
                <a:solidFill>
                  <a:schemeClr val="accent6">
                    <a:lumMod val="75000"/>
                  </a:schemeClr>
                </a:solidFill>
              </a:rPr>
              <a:t>6</a:t>
            </a:r>
            <a:r>
              <a:rPr lang="en-US" sz="285" dirty="0"/>
              <a:t>   </a:t>
            </a:r>
          </a:p>
        </p:txBody>
      </p:sp>
      <p:sp>
        <p:nvSpPr>
          <p:cNvPr id="10" name="Rectangle 4"/>
          <p:cNvSpPr txBox="1">
            <a:spLocks noChangeArrowheads="1"/>
          </p:cNvSpPr>
          <p:nvPr/>
        </p:nvSpPr>
        <p:spPr>
          <a:xfrm>
            <a:off x="5510833" y="2745632"/>
            <a:ext cx="1838613" cy="45719"/>
          </a:xfrm>
          <a:prstGeom prst="rect">
            <a:avLst/>
          </a:prstGeom>
        </p:spPr>
        <p:txBody>
          <a:bodyPr vert="horz" lIns="21699" tIns="10850" rIns="21699" bIns="1085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Proxima Nova" panose="02000506030000020004" pitchFamily="2" charset="0"/>
                <a:ea typeface="+mj-ea"/>
                <a:cs typeface="+mj-cs"/>
              </a:defRPr>
            </a:lvl1pPr>
          </a:lstStyle>
          <a:p>
            <a:pPr algn="ctr"/>
            <a:r>
              <a:rPr lang="en-US" altLang="en-US" sz="1200" dirty="0"/>
              <a:t>For Verification Table</a:t>
            </a:r>
          </a:p>
        </p:txBody>
      </p:sp>
      <p:graphicFrame>
        <p:nvGraphicFramePr>
          <p:cNvPr id="11" name="Group 4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68541883"/>
              </p:ext>
            </p:extLst>
          </p:nvPr>
        </p:nvGraphicFramePr>
        <p:xfrm>
          <a:off x="897147" y="3084786"/>
          <a:ext cx="10877910" cy="1799448"/>
        </p:xfrm>
        <a:graphic>
          <a:graphicData uri="http://schemas.openxmlformats.org/drawingml/2006/table">
            <a:tbl>
              <a:tblPr/>
              <a:tblGrid>
                <a:gridCol w="6098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77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12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2783">
                <a:tc>
                  <a:txBody>
                    <a:bodyPr/>
                    <a:lstStyle/>
                    <a:p>
                      <a:endParaRPr lang="en-PH" sz="1100" dirty="0">
                        <a:latin typeface="+mj-lt"/>
                      </a:endParaRPr>
                    </a:p>
                  </a:txBody>
                  <a:tcPr marL="26257" marR="26257" marT="14467" marB="1446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+mj-lt"/>
                          <a:cs typeface="Arial" charset="0"/>
                        </a:rPr>
                        <a:t>NAME</a:t>
                      </a:r>
                    </a:p>
                  </a:txBody>
                  <a:tcPr marL="19692" marR="19692" marT="10850" marB="108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+mj-lt"/>
                          <a:cs typeface="Arial" charset="0"/>
                        </a:rPr>
                        <a:t>DATE</a:t>
                      </a:r>
                    </a:p>
                  </a:txBody>
                  <a:tcPr marL="19692" marR="19692" marT="10850" marB="108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3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DI-65225</a:t>
                      </a: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19692" marR="19692" marT="10850" marB="108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KHEILA MARY INOC</a:t>
                      </a: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19692" marR="19692" marT="10850" marB="108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10/23/2024</a:t>
                      </a:r>
                    </a:p>
                  </a:txBody>
                  <a:tcPr marL="19692" marR="19692" marT="10850" marB="108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53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DI-67298 – updated as per instruction (slide 2)</a:t>
                      </a: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19692" marR="19692" marT="10850" marB="108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PHILLIP L. RAMISCAL</a:t>
                      </a: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19692" marR="19692" marT="10850" marB="108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1/20/2025</a:t>
                      </a: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19692" marR="19692" marT="10850" marB="108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103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DI-75451 – Added new invoice format (slide 5, 6 and 7) QA-Marivic</a:t>
                      </a:r>
                      <a:endParaRPr kumimoji="0" lang="en-GB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L="19692" marR="19692" marT="10850" marB="108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BABY G. VILLACARLOS</a:t>
                      </a:r>
                      <a:endParaRPr kumimoji="0" lang="en-GB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L="19692" marR="19692" marT="10850" marB="108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10/31/2025</a:t>
                      </a:r>
                      <a:endParaRPr kumimoji="0" lang="en-GB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L="19692" marR="19692" marT="10850" marB="108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53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DI-75681 – Removed Format B, slide 5-7 , UNIVERSAL LOGISTICS REMIT TO USA = ULUC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L="19692" marR="19692" marT="10850" marB="108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Marivic Ebo</a:t>
                      </a:r>
                      <a:endParaRPr kumimoji="0" lang="en-GB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L="19692" marR="19692" marT="10850" marB="108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11/10/2025</a:t>
                      </a:r>
                      <a:endParaRPr kumimoji="0" lang="en-GB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L="19692" marR="19692" marT="10850" marB="108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53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L="19692" marR="19692" marT="10850" marB="108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L="19692" marR="19692" marT="10850" marB="108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L="19692" marR="19692" marT="10850" marB="108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53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L="19692" marR="19692" marT="10850" marB="108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L="19692" marR="19692" marT="10850" marB="108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L="19692" marR="19692" marT="10850" marB="108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53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L="19692" marR="19692" marT="10850" marB="108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L="19692" marR="19692" marT="10850" marB="108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L="19692" marR="19692" marT="10850" marB="108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0890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3243</TotalTime>
  <Words>256</Words>
  <Application>Microsoft Office PowerPoint</Application>
  <PresentationFormat>Widescreen</PresentationFormat>
  <Paragraphs>81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Proxima Nova</vt:lpstr>
      <vt:lpstr>Proxima Nova Condensed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phillip.ramisca</dc:creator>
  <cp:lastModifiedBy>Marivic Ebo</cp:lastModifiedBy>
  <cp:revision>203</cp:revision>
  <dcterms:created xsi:type="dcterms:W3CDTF">2023-07-25T08:07:28Z</dcterms:created>
  <dcterms:modified xsi:type="dcterms:W3CDTF">2025-11-10T17:46:21Z</dcterms:modified>
</cp:coreProperties>
</file>