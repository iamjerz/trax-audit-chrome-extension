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1" r:id="rId4"/>
    <p:sldId id="262" r:id="rId5"/>
    <p:sldId id="264" r:id="rId6"/>
    <p:sldId id="265" r:id="rId7"/>
    <p:sldId id="266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4660"/>
  </p:normalViewPr>
  <p:slideViewPr>
    <p:cSldViewPr snapToGrid="0">
      <p:cViewPr>
        <p:scale>
          <a:sx n="75" d="100"/>
          <a:sy n="75" d="100"/>
        </p:scale>
        <p:origin x="48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6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7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1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6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6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1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8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8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314623"/>
            <a:ext cx="9926052" cy="179593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214954"/>
            <a:ext cx="4668839" cy="1345115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356352"/>
            <a:ext cx="10972800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1" y="661415"/>
            <a:ext cx="2493703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963481" y="2122089"/>
            <a:ext cx="569991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1850" y="5664462"/>
            <a:ext cx="4668839" cy="3362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195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3560B-FCF7-4C0E-A67C-66B1959A95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1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271752" y="2251166"/>
            <a:ext cx="10100441" cy="187743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200" b="1" dirty="0" smtClean="0">
                <a:solidFill>
                  <a:srgbClr val="FF0000"/>
                </a:solidFill>
              </a:rPr>
              <a:t>SHWN_</a:t>
            </a:r>
            <a:r>
              <a:rPr lang="en-PH" sz="3200" b="1" dirty="0" smtClean="0">
                <a:solidFill>
                  <a:srgbClr val="00B050"/>
                </a:solidFill>
              </a:rPr>
              <a:t>HNIF </a:t>
            </a:r>
            <a:r>
              <a:rPr lang="en-US" sz="3200" b="1" dirty="0" smtClean="0"/>
              <a:t>(HENIFF TRANSFORMATION SYSTEMS, LLC.</a:t>
            </a:r>
            <a:r>
              <a:rPr lang="en-PH" sz="3200" b="1" dirty="0" smtClean="0"/>
              <a:t>)</a:t>
            </a:r>
            <a:endParaRPr lang="en-PH" sz="32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Always key the following, visible in the invoice separator sheet: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b="1" dirty="0"/>
              <a:t>Batch ID (68) </a:t>
            </a:r>
            <a:r>
              <a:rPr lang="en-US" sz="2000" b="1" dirty="0">
                <a:solidFill>
                  <a:srgbClr val="00B050"/>
                </a:solidFill>
              </a:rPr>
              <a:t>BAT ID </a:t>
            </a:r>
            <a:r>
              <a:rPr lang="en-US" sz="2000" b="1" dirty="0"/>
              <a:t>(69) Value/No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b="1" dirty="0"/>
              <a:t>Client Code (68) </a:t>
            </a:r>
            <a:r>
              <a:rPr lang="en-US" sz="2000" b="1" dirty="0">
                <a:solidFill>
                  <a:srgbClr val="00B050"/>
                </a:solidFill>
              </a:rPr>
              <a:t>CL CODE </a:t>
            </a:r>
            <a:r>
              <a:rPr lang="en-US" sz="2000" b="1" dirty="0"/>
              <a:t>(69)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SHWN</a:t>
            </a:r>
            <a:endParaRPr lang="en-US" sz="2000" b="1" dirty="0">
              <a:solidFill>
                <a:srgbClr val="FF0000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b="1" dirty="0" err="1"/>
              <a:t>Scac</a:t>
            </a:r>
            <a:r>
              <a:rPr lang="en-US" sz="2000" b="1" dirty="0"/>
              <a:t> Code (68) </a:t>
            </a:r>
            <a:r>
              <a:rPr lang="en-US" sz="2000" b="1" dirty="0">
                <a:solidFill>
                  <a:srgbClr val="00B050"/>
                </a:solidFill>
              </a:rPr>
              <a:t>SCAC CODE </a:t>
            </a:r>
            <a:r>
              <a:rPr lang="en-US" sz="2000" b="1" dirty="0"/>
              <a:t>(69) </a:t>
            </a:r>
            <a:r>
              <a:rPr lang="en-PH" sz="2000" b="1" dirty="0" smtClean="0">
                <a:solidFill>
                  <a:srgbClr val="00B050"/>
                </a:solidFill>
              </a:rPr>
              <a:t>HNIF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4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9" t="5823" r="11920" b="6361"/>
          <a:stretch/>
        </p:blipFill>
        <p:spPr>
          <a:xfrm>
            <a:off x="38197" y="30927"/>
            <a:ext cx="3193004" cy="48530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4" t="7969" r="12714" b="7433"/>
          <a:stretch/>
        </p:blipFill>
        <p:spPr>
          <a:xfrm>
            <a:off x="3163446" y="149500"/>
            <a:ext cx="3184534" cy="46751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2" t="8429" r="14102" b="5901"/>
          <a:stretch/>
        </p:blipFill>
        <p:spPr>
          <a:xfrm>
            <a:off x="6072365" y="149500"/>
            <a:ext cx="3116776" cy="47344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5" t="8736" r="13704" b="12337"/>
          <a:stretch/>
        </p:blipFill>
        <p:spPr>
          <a:xfrm>
            <a:off x="9049813" y="217256"/>
            <a:ext cx="3142187" cy="43617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4" t="8276" r="14895" b="59847"/>
          <a:stretch/>
        </p:blipFill>
        <p:spPr>
          <a:xfrm>
            <a:off x="9022652" y="4579050"/>
            <a:ext cx="3107753" cy="177099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 flipH="1">
            <a:off x="3161535" y="3968257"/>
            <a:ext cx="2910829" cy="15416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864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1" b="9714"/>
          <a:stretch/>
        </p:blipFill>
        <p:spPr>
          <a:xfrm>
            <a:off x="649976" y="0"/>
            <a:ext cx="5418300" cy="66667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flipH="1">
            <a:off x="4205210" y="853027"/>
            <a:ext cx="634718" cy="11362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609359" y="5521586"/>
            <a:ext cx="529139" cy="231474"/>
          </a:xfrm>
          <a:prstGeom prst="wedgeRoundRectCallout">
            <a:avLst>
              <a:gd name="adj1" fmla="val 138457"/>
              <a:gd name="adj2" fmla="val 212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01</a:t>
            </a:r>
            <a:endParaRPr lang="en-US" sz="1000" b="1" kern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0D29C-4842-9507-B4F7-ECE747D0B49E}"/>
              </a:ext>
            </a:extLst>
          </p:cNvPr>
          <p:cNvSpPr txBox="1"/>
          <p:nvPr/>
        </p:nvSpPr>
        <p:spPr>
          <a:xfrm>
            <a:off x="8083997" y="1570264"/>
            <a:ext cx="272697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10 DATE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13 FB KEY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42/43 ACUAL WT/ FNCL WT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44/45 ACTUAL WT UOM/ FNCL WT UOM</a:t>
            </a:r>
            <a:endParaRPr lang="en-PH" sz="1200" dirty="0">
              <a:solidFill>
                <a:srgbClr val="FF0000"/>
              </a:solidFill>
            </a:endParaRPr>
          </a:p>
          <a:p>
            <a:r>
              <a:rPr lang="en-PH" sz="1200" dirty="0" smtClean="0">
                <a:solidFill>
                  <a:srgbClr val="FF0000"/>
                </a:solidFill>
              </a:rPr>
              <a:t>61 PICKUP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62 DELIVERED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64 TRAILER NO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72 LINE ITEM DESC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74 LINE ITEM QTY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85 LINE ITEM AMT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90 PROD DESC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68a BOL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68b ORD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08/14 INV AMT/FB AMT</a:t>
            </a:r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4205210" y="966651"/>
            <a:ext cx="634718" cy="11362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H="1">
            <a:off x="1355074" y="787505"/>
            <a:ext cx="987531" cy="51007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H="1">
            <a:off x="1627021" y="5521586"/>
            <a:ext cx="2327758" cy="20865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 flipH="1">
            <a:off x="5115256" y="5290044"/>
            <a:ext cx="634718" cy="11362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 flipH="1">
            <a:off x="5139344" y="1554066"/>
            <a:ext cx="610630" cy="62011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 flipH="1">
            <a:off x="3457121" y="1776135"/>
            <a:ext cx="610630" cy="1044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 flipH="1">
            <a:off x="2284030" y="1776134"/>
            <a:ext cx="295268" cy="10442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 flipH="1">
            <a:off x="1770950" y="1570264"/>
            <a:ext cx="179770" cy="11629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4" name="Rounded Rectangular Callout 23"/>
          <p:cNvSpPr/>
          <p:nvPr/>
        </p:nvSpPr>
        <p:spPr>
          <a:xfrm>
            <a:off x="6030852" y="5057093"/>
            <a:ext cx="529139" cy="231474"/>
          </a:xfrm>
          <a:prstGeom prst="wedgeRoundRectCallout">
            <a:avLst>
              <a:gd name="adj1" fmla="val -94835"/>
              <a:gd name="adj2" fmla="val 712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08</a:t>
            </a:r>
            <a:endParaRPr lang="en-US" sz="1000" b="1" kern="1200" dirty="0"/>
          </a:p>
        </p:txBody>
      </p:sp>
      <p:sp>
        <p:nvSpPr>
          <p:cNvPr id="25" name="Rounded Rectangular Callout 24"/>
          <p:cNvSpPr/>
          <p:nvPr/>
        </p:nvSpPr>
        <p:spPr>
          <a:xfrm>
            <a:off x="5892635" y="1632647"/>
            <a:ext cx="529139" cy="231474"/>
          </a:xfrm>
          <a:prstGeom prst="wedgeRoundRectCallout">
            <a:avLst>
              <a:gd name="adj1" fmla="val -66034"/>
              <a:gd name="adj2" fmla="val 712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85</a:t>
            </a:r>
            <a:endParaRPr lang="en-US" sz="1000" b="1" kern="1200" dirty="0"/>
          </a:p>
        </p:txBody>
      </p:sp>
      <p:sp>
        <p:nvSpPr>
          <p:cNvPr id="26" name="Rounded Rectangular Callout 25"/>
          <p:cNvSpPr/>
          <p:nvPr/>
        </p:nvSpPr>
        <p:spPr>
          <a:xfrm>
            <a:off x="3993430" y="2215812"/>
            <a:ext cx="529139" cy="231474"/>
          </a:xfrm>
          <a:prstGeom prst="wedgeRoundRectCallout">
            <a:avLst>
              <a:gd name="adj1" fmla="val -61714"/>
              <a:gd name="adj2" fmla="val -16576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64</a:t>
            </a:r>
            <a:endParaRPr lang="en-US" sz="1000" b="1" kern="1200" dirty="0"/>
          </a:p>
        </p:txBody>
      </p:sp>
      <p:sp>
        <p:nvSpPr>
          <p:cNvPr id="27" name="Rounded Rectangular Callout 26"/>
          <p:cNvSpPr/>
          <p:nvPr/>
        </p:nvSpPr>
        <p:spPr>
          <a:xfrm>
            <a:off x="4732113" y="545558"/>
            <a:ext cx="529139" cy="231474"/>
          </a:xfrm>
          <a:prstGeom prst="wedgeRoundRectCallout">
            <a:avLst>
              <a:gd name="adj1" fmla="val -66034"/>
              <a:gd name="adj2" fmla="val 712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03</a:t>
            </a:r>
            <a:endParaRPr lang="en-US" sz="1000" b="1" kern="1200" dirty="0"/>
          </a:p>
        </p:txBody>
      </p:sp>
      <p:sp>
        <p:nvSpPr>
          <p:cNvPr id="28" name="Rounded Rectangular Callout 27"/>
          <p:cNvSpPr/>
          <p:nvPr/>
        </p:nvSpPr>
        <p:spPr>
          <a:xfrm>
            <a:off x="5100328" y="979719"/>
            <a:ext cx="529139" cy="231474"/>
          </a:xfrm>
          <a:prstGeom prst="wedgeRoundRectCallout">
            <a:avLst>
              <a:gd name="adj1" fmla="val -87635"/>
              <a:gd name="adj2" fmla="val -2421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10</a:t>
            </a:r>
            <a:endParaRPr lang="en-US" sz="1000" b="1" kern="1200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2564055" y="868941"/>
            <a:ext cx="529139" cy="231474"/>
          </a:xfrm>
          <a:prstGeom prst="wedgeRoundRectCallout">
            <a:avLst>
              <a:gd name="adj1" fmla="val -87635"/>
              <a:gd name="adj2" fmla="val -2421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02</a:t>
            </a:r>
            <a:endParaRPr lang="en-US" sz="1000" b="1" kern="1200" dirty="0"/>
          </a:p>
        </p:txBody>
      </p:sp>
      <p:sp>
        <p:nvSpPr>
          <p:cNvPr id="34" name="Rounded Rectangular Callout 33"/>
          <p:cNvSpPr/>
          <p:nvPr/>
        </p:nvSpPr>
        <p:spPr>
          <a:xfrm>
            <a:off x="1848839" y="2371165"/>
            <a:ext cx="529139" cy="231474"/>
          </a:xfrm>
          <a:prstGeom prst="wedgeRoundRectCallout">
            <a:avLst>
              <a:gd name="adj1" fmla="val 33331"/>
              <a:gd name="adj2" fmla="val -17893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90</a:t>
            </a:r>
            <a:endParaRPr lang="en-US" sz="1000" b="1" kern="1200" dirty="0"/>
          </a:p>
        </p:txBody>
      </p:sp>
      <p:sp>
        <p:nvSpPr>
          <p:cNvPr id="37" name="Rectangle 36"/>
          <p:cNvSpPr/>
          <p:nvPr/>
        </p:nvSpPr>
        <p:spPr>
          <a:xfrm flipH="1">
            <a:off x="3618989" y="1668931"/>
            <a:ext cx="295268" cy="10442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 flipH="1">
            <a:off x="3526308" y="1869636"/>
            <a:ext cx="368029" cy="10394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 flipH="1">
            <a:off x="3526308" y="1963031"/>
            <a:ext cx="368029" cy="10394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 flipH="1">
            <a:off x="2268787" y="1959771"/>
            <a:ext cx="728382" cy="10720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5" name="Rounded Rectangular Callout 44"/>
          <p:cNvSpPr/>
          <p:nvPr/>
        </p:nvSpPr>
        <p:spPr>
          <a:xfrm>
            <a:off x="3013662" y="2178354"/>
            <a:ext cx="529139" cy="231474"/>
          </a:xfrm>
          <a:prstGeom prst="wedgeRoundRectCallout">
            <a:avLst>
              <a:gd name="adj1" fmla="val 33331"/>
              <a:gd name="adj2" fmla="val -17893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13</a:t>
            </a:r>
            <a:endParaRPr lang="en-US" sz="1000" b="1" kern="1200" dirty="0"/>
          </a:p>
        </p:txBody>
      </p:sp>
      <p:sp>
        <p:nvSpPr>
          <p:cNvPr id="46" name="Rounded Rectangular Callout 45"/>
          <p:cNvSpPr/>
          <p:nvPr/>
        </p:nvSpPr>
        <p:spPr>
          <a:xfrm>
            <a:off x="3181183" y="1308325"/>
            <a:ext cx="529139" cy="231474"/>
          </a:xfrm>
          <a:prstGeom prst="wedgeRoundRectCallout">
            <a:avLst>
              <a:gd name="adj1" fmla="val 17490"/>
              <a:gd name="adj2" fmla="val 14696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47" name="Rounded Rectangular Callout 46"/>
          <p:cNvSpPr/>
          <p:nvPr/>
        </p:nvSpPr>
        <p:spPr>
          <a:xfrm>
            <a:off x="3771707" y="1209407"/>
            <a:ext cx="529139" cy="231474"/>
          </a:xfrm>
          <a:prstGeom prst="wedgeRoundRectCallout">
            <a:avLst>
              <a:gd name="adj1" fmla="val -50194"/>
              <a:gd name="adj2" fmla="val 14696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62</a:t>
            </a:r>
            <a:endParaRPr lang="en-US" sz="1000" b="1" kern="1200" dirty="0"/>
          </a:p>
        </p:txBody>
      </p:sp>
      <p:sp>
        <p:nvSpPr>
          <p:cNvPr id="48" name="Rounded Rectangular Callout 47"/>
          <p:cNvSpPr/>
          <p:nvPr/>
        </p:nvSpPr>
        <p:spPr>
          <a:xfrm>
            <a:off x="2783733" y="1642264"/>
            <a:ext cx="529139" cy="231474"/>
          </a:xfrm>
          <a:prstGeom prst="wedgeRoundRectCallout">
            <a:avLst>
              <a:gd name="adj1" fmla="val -83796"/>
              <a:gd name="adj2" fmla="val 2626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53" name="Rounded Rectangular Callout 52"/>
          <p:cNvSpPr/>
          <p:nvPr/>
        </p:nvSpPr>
        <p:spPr>
          <a:xfrm>
            <a:off x="1187191" y="1835500"/>
            <a:ext cx="529139" cy="231474"/>
          </a:xfrm>
          <a:prstGeom prst="wedgeRoundRectCallout">
            <a:avLst>
              <a:gd name="adj1" fmla="val 72212"/>
              <a:gd name="adj2" fmla="val -10980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42/43</a:t>
            </a:r>
            <a:endParaRPr lang="en-US" sz="1000" b="1" kern="1200" dirty="0"/>
          </a:p>
        </p:txBody>
      </p:sp>
      <p:sp>
        <p:nvSpPr>
          <p:cNvPr id="54" name="Rounded Rectangular Callout 53"/>
          <p:cNvSpPr/>
          <p:nvPr/>
        </p:nvSpPr>
        <p:spPr>
          <a:xfrm>
            <a:off x="3542801" y="2486902"/>
            <a:ext cx="529139" cy="231474"/>
          </a:xfrm>
          <a:prstGeom prst="wedgeRoundRectCallout">
            <a:avLst>
              <a:gd name="adj1" fmla="val -21392"/>
              <a:gd name="adj2" fmla="val -21843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68b</a:t>
            </a:r>
            <a:endParaRPr lang="en-US" sz="1000" b="1" kern="1200" dirty="0"/>
          </a:p>
        </p:txBody>
      </p:sp>
      <p:sp>
        <p:nvSpPr>
          <p:cNvPr id="58" name="Rectangle 57"/>
          <p:cNvSpPr/>
          <p:nvPr/>
        </p:nvSpPr>
        <p:spPr>
          <a:xfrm flipH="1">
            <a:off x="1361874" y="1570264"/>
            <a:ext cx="354455" cy="9866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1" name="Rounded Rectangular Callout 60"/>
          <p:cNvSpPr/>
          <p:nvPr/>
        </p:nvSpPr>
        <p:spPr>
          <a:xfrm>
            <a:off x="425149" y="1712609"/>
            <a:ext cx="529139" cy="231474"/>
          </a:xfrm>
          <a:prstGeom prst="wedgeRoundRectCallout">
            <a:avLst>
              <a:gd name="adj1" fmla="val 124055"/>
              <a:gd name="adj2" fmla="val -8675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74</a:t>
            </a:r>
            <a:endParaRPr lang="en-US" sz="1000" b="1" kern="1200" dirty="0"/>
          </a:p>
        </p:txBody>
      </p:sp>
      <p:sp>
        <p:nvSpPr>
          <p:cNvPr id="62" name="Rounded Rectangle 61"/>
          <p:cNvSpPr/>
          <p:nvPr/>
        </p:nvSpPr>
        <p:spPr>
          <a:xfrm>
            <a:off x="8478662" y="5732149"/>
            <a:ext cx="3314818" cy="70707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dirty="0">
                <a:solidFill>
                  <a:srgbClr val="FF0000"/>
                </a:solidFill>
              </a:rPr>
              <a:t>NOTE:</a:t>
            </a:r>
          </a:p>
          <a:p>
            <a:pPr algn="just"/>
            <a:r>
              <a:rPr lang="en-US" sz="1200" dirty="0">
                <a:solidFill>
                  <a:srgbClr val="FF0000"/>
                </a:solidFill>
              </a:rPr>
              <a:t>Please use “</a:t>
            </a:r>
            <a:r>
              <a:rPr lang="en-US" sz="1200" b="1" dirty="0">
                <a:solidFill>
                  <a:srgbClr val="FF0000"/>
                </a:solidFill>
              </a:rPr>
              <a:t>USD</a:t>
            </a:r>
            <a:r>
              <a:rPr lang="en-US" sz="1200" dirty="0">
                <a:solidFill>
                  <a:srgbClr val="FF0000"/>
                </a:solidFill>
              </a:rPr>
              <a:t>” as </a:t>
            </a:r>
            <a:r>
              <a:rPr lang="en-US" sz="1200" dirty="0" smtClean="0">
                <a:solidFill>
                  <a:srgbClr val="FF0000"/>
                </a:solidFill>
              </a:rPr>
              <a:t>09 </a:t>
            </a:r>
            <a:r>
              <a:rPr lang="en-US" sz="1200" b="1" dirty="0" smtClean="0">
                <a:solidFill>
                  <a:srgbClr val="FF0000"/>
                </a:solidFill>
              </a:rPr>
              <a:t>CURRENCY</a:t>
            </a:r>
            <a:r>
              <a:rPr lang="en-US" sz="1200" dirty="0" smtClean="0">
                <a:solidFill>
                  <a:srgbClr val="FF0000"/>
                </a:solidFill>
              </a:rPr>
              <a:t> Authorization letter </a:t>
            </a:r>
            <a:r>
              <a:rPr lang="en-US" sz="1200" dirty="0">
                <a:solidFill>
                  <a:srgbClr val="FF0000"/>
                </a:solidFill>
              </a:rPr>
              <a:t>for </a:t>
            </a:r>
            <a:r>
              <a:rPr lang="en-US" sz="1200" dirty="0" smtClean="0">
                <a:solidFill>
                  <a:srgbClr val="FF0000"/>
                </a:solidFill>
              </a:rPr>
              <a:t>using default currency </a:t>
            </a:r>
            <a:r>
              <a:rPr lang="en-US" sz="1200" dirty="0">
                <a:solidFill>
                  <a:srgbClr val="FF0000"/>
                </a:solidFill>
              </a:rPr>
              <a:t>is in slide 2.</a:t>
            </a:r>
          </a:p>
        </p:txBody>
      </p:sp>
      <p:sp>
        <p:nvSpPr>
          <p:cNvPr id="63" name="Rectangle 62"/>
          <p:cNvSpPr/>
          <p:nvPr/>
        </p:nvSpPr>
        <p:spPr>
          <a:xfrm flipH="1">
            <a:off x="1954713" y="1570264"/>
            <a:ext cx="138668" cy="11629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6" name="Rounded Rectangular Callout 65"/>
          <p:cNvSpPr/>
          <p:nvPr/>
        </p:nvSpPr>
        <p:spPr>
          <a:xfrm>
            <a:off x="1553836" y="2091118"/>
            <a:ext cx="529139" cy="231474"/>
          </a:xfrm>
          <a:prstGeom prst="wedgeRoundRectCallout">
            <a:avLst>
              <a:gd name="adj1" fmla="val 38802"/>
              <a:gd name="adj2" fmla="val -21777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44/45</a:t>
            </a:r>
            <a:endParaRPr lang="en-US" sz="1000" b="1" kern="1200" dirty="0"/>
          </a:p>
        </p:txBody>
      </p:sp>
      <p:sp>
        <p:nvSpPr>
          <p:cNvPr id="36" name="Rectangle 35"/>
          <p:cNvSpPr/>
          <p:nvPr/>
        </p:nvSpPr>
        <p:spPr>
          <a:xfrm flipH="1">
            <a:off x="2083836" y="1554066"/>
            <a:ext cx="610630" cy="12655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8" name="Rounded Rectangular Callout 37"/>
          <p:cNvSpPr/>
          <p:nvPr/>
        </p:nvSpPr>
        <p:spPr>
          <a:xfrm>
            <a:off x="2389151" y="1252037"/>
            <a:ext cx="529139" cy="231474"/>
          </a:xfrm>
          <a:prstGeom prst="wedgeRoundRectCallout">
            <a:avLst>
              <a:gd name="adj1" fmla="val -73235"/>
              <a:gd name="adj2" fmla="val 7015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72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341586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 b="8698"/>
          <a:stretch/>
        </p:blipFill>
        <p:spPr>
          <a:xfrm>
            <a:off x="687978" y="73176"/>
            <a:ext cx="5522365" cy="67848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flipH="1">
            <a:off x="1312876" y="672324"/>
            <a:ext cx="889304" cy="37923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 flipH="1">
            <a:off x="1312876" y="1190484"/>
            <a:ext cx="889304" cy="46022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H="1">
            <a:off x="4985716" y="672324"/>
            <a:ext cx="333044" cy="12015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flipH="1">
            <a:off x="4919676" y="801864"/>
            <a:ext cx="333044" cy="12015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H="1">
            <a:off x="4985716" y="1934196"/>
            <a:ext cx="333044" cy="12015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5585844" y="1702722"/>
            <a:ext cx="529139" cy="231474"/>
          </a:xfrm>
          <a:prstGeom prst="wedgeRoundRectCallout">
            <a:avLst>
              <a:gd name="adj1" fmla="val -94835"/>
              <a:gd name="adj2" fmla="val 712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36</a:t>
            </a:r>
            <a:endParaRPr lang="en-US" sz="1000" b="1" kern="1200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5585844" y="385986"/>
            <a:ext cx="529139" cy="231474"/>
          </a:xfrm>
          <a:prstGeom prst="wedgeRoundRectCallout">
            <a:avLst>
              <a:gd name="adj1" fmla="val -94835"/>
              <a:gd name="adj2" fmla="val 712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5476116" y="959010"/>
            <a:ext cx="529139" cy="231474"/>
          </a:xfrm>
          <a:prstGeom prst="wedgeRoundRectCallout">
            <a:avLst>
              <a:gd name="adj1" fmla="val -83314"/>
              <a:gd name="adj2" fmla="val -7885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62</a:t>
            </a:r>
            <a:endParaRPr lang="en-US" sz="1000" b="1" kern="1200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2495172" y="570390"/>
            <a:ext cx="529139" cy="231474"/>
          </a:xfrm>
          <a:prstGeom prst="wedgeRoundRectCallout">
            <a:avLst>
              <a:gd name="adj1" fmla="val -94835"/>
              <a:gd name="adj2" fmla="val 712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28</a:t>
            </a:r>
            <a:endParaRPr lang="en-US" sz="1000" b="1" kern="1200" dirty="0"/>
          </a:p>
        </p:txBody>
      </p:sp>
      <p:sp>
        <p:nvSpPr>
          <p:cNvPr id="15" name="Rounded Rectangular Callout 14"/>
          <p:cNvSpPr/>
          <p:nvPr/>
        </p:nvSpPr>
        <p:spPr>
          <a:xfrm>
            <a:off x="2490202" y="1190484"/>
            <a:ext cx="529139" cy="231474"/>
          </a:xfrm>
          <a:prstGeom prst="wedgeRoundRectCallout">
            <a:avLst>
              <a:gd name="adj1" fmla="val -94835"/>
              <a:gd name="adj2" fmla="val 712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31</a:t>
            </a:r>
            <a:endParaRPr lang="en-US" sz="1000" b="1" kern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00D29C-4842-9507-B4F7-ECE747D0B49E}"/>
              </a:ext>
            </a:extLst>
          </p:cNvPr>
          <p:cNvSpPr txBox="1"/>
          <p:nvPr/>
        </p:nvSpPr>
        <p:spPr>
          <a:xfrm>
            <a:off x="8047421" y="1630257"/>
            <a:ext cx="2726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28 SHIPPER BOL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31 CONSIGNEE BOL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36 FRGHT TERM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61 PICK UP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62 DELIVERED</a:t>
            </a:r>
            <a:endParaRPr lang="en-PH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264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597" y="0"/>
            <a:ext cx="4845538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flipH="1">
            <a:off x="6198820" y="2841628"/>
            <a:ext cx="299516" cy="1271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6557569" y="148774"/>
            <a:ext cx="529139" cy="231474"/>
          </a:xfrm>
          <a:prstGeom prst="wedgeRoundRectCallout">
            <a:avLst>
              <a:gd name="adj1" fmla="val -94835"/>
              <a:gd name="adj2" fmla="val 712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03</a:t>
            </a:r>
            <a:endParaRPr lang="en-US" sz="1000" b="1" kern="1200" dirty="0"/>
          </a:p>
        </p:txBody>
      </p:sp>
      <p:sp>
        <p:nvSpPr>
          <p:cNvPr id="6" name="Rectangle 5"/>
          <p:cNvSpPr/>
          <p:nvPr/>
        </p:nvSpPr>
        <p:spPr>
          <a:xfrm flipH="1">
            <a:off x="6198820" y="2138088"/>
            <a:ext cx="299516" cy="5078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H="1">
            <a:off x="5625796" y="2138088"/>
            <a:ext cx="232460" cy="5078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 flipH="1">
            <a:off x="5386447" y="2138088"/>
            <a:ext cx="232460" cy="5078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 flipH="1">
            <a:off x="1893438" y="2126152"/>
            <a:ext cx="1361825" cy="51976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1905630" y="1371623"/>
            <a:ext cx="299516" cy="1271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H="1">
            <a:off x="2374260" y="1371622"/>
            <a:ext cx="327030" cy="1271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H="1">
            <a:off x="2769809" y="1373038"/>
            <a:ext cx="327030" cy="1271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 flipH="1">
            <a:off x="3657264" y="1371622"/>
            <a:ext cx="327030" cy="1271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 flipH="1">
            <a:off x="5268894" y="1405890"/>
            <a:ext cx="327030" cy="6118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 flipH="1">
            <a:off x="5280324" y="1468150"/>
            <a:ext cx="327030" cy="7795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 flipH="1">
            <a:off x="5310804" y="1546108"/>
            <a:ext cx="327030" cy="6118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 flipH="1">
            <a:off x="4663104" y="643138"/>
            <a:ext cx="1867236" cy="41985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 flipH="1">
            <a:off x="2302732" y="643138"/>
            <a:ext cx="1873027" cy="34548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 flipH="1">
            <a:off x="5742026" y="380248"/>
            <a:ext cx="529234" cy="10362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flipH="1">
            <a:off x="2357057" y="5349240"/>
            <a:ext cx="1518981" cy="46228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 flipH="1">
            <a:off x="4626955" y="5349240"/>
            <a:ext cx="1903384" cy="46228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2" name="Rounded Rectangular Callout 21"/>
          <p:cNvSpPr/>
          <p:nvPr/>
        </p:nvSpPr>
        <p:spPr>
          <a:xfrm>
            <a:off x="6822138" y="529022"/>
            <a:ext cx="529139" cy="231474"/>
          </a:xfrm>
          <a:prstGeom prst="wedgeRoundRectCallout">
            <a:avLst>
              <a:gd name="adj1" fmla="val -94835"/>
              <a:gd name="adj2" fmla="val 712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30</a:t>
            </a:r>
            <a:endParaRPr lang="en-US" sz="1000" b="1" kern="1200" dirty="0"/>
          </a:p>
        </p:txBody>
      </p:sp>
      <p:sp>
        <p:nvSpPr>
          <p:cNvPr id="23" name="Rounded Rectangular Callout 22"/>
          <p:cNvSpPr/>
          <p:nvPr/>
        </p:nvSpPr>
        <p:spPr>
          <a:xfrm>
            <a:off x="1676007" y="649254"/>
            <a:ext cx="529139" cy="231474"/>
          </a:xfrm>
          <a:prstGeom prst="wedgeRoundRectCallout">
            <a:avLst>
              <a:gd name="adj1" fmla="val 77974"/>
              <a:gd name="adj2" fmla="val 449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27</a:t>
            </a:r>
            <a:endParaRPr lang="en-US" sz="1000" b="1" kern="1200" dirty="0"/>
          </a:p>
        </p:txBody>
      </p:sp>
      <p:sp>
        <p:nvSpPr>
          <p:cNvPr id="24" name="Rounded Rectangular Callout 23"/>
          <p:cNvSpPr/>
          <p:nvPr/>
        </p:nvSpPr>
        <p:spPr>
          <a:xfrm>
            <a:off x="1220639" y="1235604"/>
            <a:ext cx="529139" cy="231474"/>
          </a:xfrm>
          <a:prstGeom prst="wedgeRoundRectCallout">
            <a:avLst>
              <a:gd name="adj1" fmla="val 77974"/>
              <a:gd name="adj2" fmla="val 449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10</a:t>
            </a:r>
            <a:endParaRPr lang="en-US" sz="1000" b="1" kern="1200" dirty="0"/>
          </a:p>
        </p:txBody>
      </p:sp>
      <p:sp>
        <p:nvSpPr>
          <p:cNvPr id="25" name="Rounded Rectangular Callout 24"/>
          <p:cNvSpPr/>
          <p:nvPr/>
        </p:nvSpPr>
        <p:spPr>
          <a:xfrm>
            <a:off x="1204463" y="2158687"/>
            <a:ext cx="529139" cy="231474"/>
          </a:xfrm>
          <a:prstGeom prst="wedgeRoundRectCallout">
            <a:avLst>
              <a:gd name="adj1" fmla="val 77974"/>
              <a:gd name="adj2" fmla="val 449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72</a:t>
            </a:r>
            <a:endParaRPr lang="en-US" sz="1000" b="1" kern="1200" dirty="0"/>
          </a:p>
        </p:txBody>
      </p:sp>
      <p:sp>
        <p:nvSpPr>
          <p:cNvPr id="26" name="Rounded Rectangular Callout 25"/>
          <p:cNvSpPr/>
          <p:nvPr/>
        </p:nvSpPr>
        <p:spPr>
          <a:xfrm>
            <a:off x="6652919" y="2646536"/>
            <a:ext cx="529139" cy="231474"/>
          </a:xfrm>
          <a:prstGeom prst="wedgeRoundRectCallout">
            <a:avLst>
              <a:gd name="adj1" fmla="val -72946"/>
              <a:gd name="adj2" fmla="val 6335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08/14</a:t>
            </a:r>
            <a:endParaRPr lang="en-US" sz="1000" b="1" kern="1200" dirty="0"/>
          </a:p>
        </p:txBody>
      </p:sp>
      <p:sp>
        <p:nvSpPr>
          <p:cNvPr id="27" name="Rounded Rectangular Callout 26"/>
          <p:cNvSpPr/>
          <p:nvPr/>
        </p:nvSpPr>
        <p:spPr>
          <a:xfrm>
            <a:off x="6662024" y="2074322"/>
            <a:ext cx="529139" cy="231474"/>
          </a:xfrm>
          <a:prstGeom prst="wedgeRoundRectCallout">
            <a:avLst>
              <a:gd name="adj1" fmla="val -72946"/>
              <a:gd name="adj2" fmla="val 6335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85</a:t>
            </a:r>
            <a:endParaRPr lang="en-US" sz="1000" b="1" kern="1200" dirty="0"/>
          </a:p>
        </p:txBody>
      </p:sp>
      <p:sp>
        <p:nvSpPr>
          <p:cNvPr id="28" name="Rounded Rectangular Callout 27"/>
          <p:cNvSpPr/>
          <p:nvPr/>
        </p:nvSpPr>
        <p:spPr>
          <a:xfrm>
            <a:off x="5934250" y="1842848"/>
            <a:ext cx="529139" cy="231474"/>
          </a:xfrm>
          <a:prstGeom prst="wedgeRoundRectCallout">
            <a:avLst>
              <a:gd name="adj1" fmla="val -72946"/>
              <a:gd name="adj2" fmla="val 6335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77</a:t>
            </a:r>
            <a:endParaRPr lang="en-US" sz="1000" b="1" kern="1200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4907352" y="1969046"/>
            <a:ext cx="529139" cy="231474"/>
          </a:xfrm>
          <a:prstGeom prst="wedgeRoundRectCallout">
            <a:avLst>
              <a:gd name="adj1" fmla="val 54933"/>
              <a:gd name="adj2" fmla="val 9232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75</a:t>
            </a:r>
            <a:endParaRPr lang="en-US" sz="1000" b="1" kern="1200" dirty="0"/>
          </a:p>
        </p:txBody>
      </p:sp>
      <p:sp>
        <p:nvSpPr>
          <p:cNvPr id="30" name="Rectangle 29"/>
          <p:cNvSpPr/>
          <p:nvPr/>
        </p:nvSpPr>
        <p:spPr>
          <a:xfrm flipH="1">
            <a:off x="4526783" y="2142371"/>
            <a:ext cx="232460" cy="5078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1" name="Rounded Rectangular Callout 30"/>
          <p:cNvSpPr/>
          <p:nvPr/>
        </p:nvSpPr>
        <p:spPr>
          <a:xfrm>
            <a:off x="5559512" y="1094916"/>
            <a:ext cx="529139" cy="231474"/>
          </a:xfrm>
          <a:prstGeom prst="wedgeRoundRectCallout">
            <a:avLst>
              <a:gd name="adj1" fmla="val -62577"/>
              <a:gd name="adj2" fmla="val 7388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68c</a:t>
            </a:r>
            <a:endParaRPr lang="en-US" sz="1000" b="1" kern="1200" dirty="0"/>
          </a:p>
        </p:txBody>
      </p:sp>
      <p:sp>
        <p:nvSpPr>
          <p:cNvPr id="32" name="Rounded Rectangular Callout 31"/>
          <p:cNvSpPr/>
          <p:nvPr/>
        </p:nvSpPr>
        <p:spPr>
          <a:xfrm>
            <a:off x="5798932" y="1442640"/>
            <a:ext cx="529139" cy="231474"/>
          </a:xfrm>
          <a:prstGeom prst="wedgeRoundRectCallout">
            <a:avLst>
              <a:gd name="adj1" fmla="val -75250"/>
              <a:gd name="adj2" fmla="val 804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68d</a:t>
            </a:r>
            <a:endParaRPr lang="en-US" sz="1000" b="1" kern="1200" dirty="0"/>
          </a:p>
        </p:txBody>
      </p:sp>
      <p:sp>
        <p:nvSpPr>
          <p:cNvPr id="33" name="Rounded Rectangular Callout 32"/>
          <p:cNvSpPr/>
          <p:nvPr/>
        </p:nvSpPr>
        <p:spPr>
          <a:xfrm>
            <a:off x="4575246" y="1289304"/>
            <a:ext cx="529139" cy="231474"/>
          </a:xfrm>
          <a:prstGeom prst="wedgeRoundRectCallout">
            <a:avLst>
              <a:gd name="adj1" fmla="val 87190"/>
              <a:gd name="adj2" fmla="val 4755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68b</a:t>
            </a:r>
            <a:endParaRPr lang="en-US" sz="1000" b="1" kern="1200" dirty="0"/>
          </a:p>
        </p:txBody>
      </p:sp>
      <p:sp>
        <p:nvSpPr>
          <p:cNvPr id="34" name="Rounded Rectangular Callout 33"/>
          <p:cNvSpPr/>
          <p:nvPr/>
        </p:nvSpPr>
        <p:spPr>
          <a:xfrm>
            <a:off x="4001186" y="1069108"/>
            <a:ext cx="529139" cy="231474"/>
          </a:xfrm>
          <a:prstGeom prst="wedgeRoundRectCallout">
            <a:avLst>
              <a:gd name="adj1" fmla="val -71794"/>
              <a:gd name="adj2" fmla="val 7652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35" name="Rounded Rectangular Callout 34"/>
          <p:cNvSpPr/>
          <p:nvPr/>
        </p:nvSpPr>
        <p:spPr>
          <a:xfrm>
            <a:off x="3156417" y="1062990"/>
            <a:ext cx="529139" cy="231474"/>
          </a:xfrm>
          <a:prstGeom prst="wedgeRoundRectCallout">
            <a:avLst>
              <a:gd name="adj1" fmla="val -71794"/>
              <a:gd name="adj2" fmla="val 7652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62</a:t>
            </a:r>
            <a:endParaRPr lang="en-US" sz="1000" b="1" kern="1200" dirty="0"/>
          </a:p>
        </p:txBody>
      </p:sp>
      <p:sp>
        <p:nvSpPr>
          <p:cNvPr id="36" name="Rounded Rectangular Callout 35"/>
          <p:cNvSpPr/>
          <p:nvPr/>
        </p:nvSpPr>
        <p:spPr>
          <a:xfrm>
            <a:off x="2372020" y="1062990"/>
            <a:ext cx="529139" cy="231474"/>
          </a:xfrm>
          <a:prstGeom prst="wedgeRoundRectCallout">
            <a:avLst>
              <a:gd name="adj1" fmla="val -31472"/>
              <a:gd name="adj2" fmla="val 10022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37" name="Rounded Rectangular Callout 36"/>
          <p:cNvSpPr/>
          <p:nvPr/>
        </p:nvSpPr>
        <p:spPr>
          <a:xfrm>
            <a:off x="4015579" y="2106663"/>
            <a:ext cx="529139" cy="231474"/>
          </a:xfrm>
          <a:prstGeom prst="wedgeRoundRectCallout">
            <a:avLst>
              <a:gd name="adj1" fmla="val 54933"/>
              <a:gd name="adj2" fmla="val 9232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74</a:t>
            </a:r>
            <a:endParaRPr lang="en-US" sz="1000" b="1" kern="1200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6680345" y="5349240"/>
            <a:ext cx="529139" cy="231474"/>
          </a:xfrm>
          <a:prstGeom prst="wedgeRoundRectCallout">
            <a:avLst>
              <a:gd name="adj1" fmla="val -72946"/>
              <a:gd name="adj2" fmla="val 6335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01</a:t>
            </a:r>
            <a:endParaRPr lang="en-US" sz="1000" b="1" kern="1200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4015580" y="5233503"/>
            <a:ext cx="529139" cy="231474"/>
          </a:xfrm>
          <a:prstGeom prst="wedgeRoundRectCallout">
            <a:avLst>
              <a:gd name="adj1" fmla="val -72946"/>
              <a:gd name="adj2" fmla="val 6335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02</a:t>
            </a:r>
            <a:endParaRPr lang="en-US" sz="1000" b="1" kern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00D29C-4842-9507-B4F7-ECE747D0B49E}"/>
              </a:ext>
            </a:extLst>
          </p:cNvPr>
          <p:cNvSpPr txBox="1"/>
          <p:nvPr/>
        </p:nvSpPr>
        <p:spPr>
          <a:xfrm>
            <a:off x="8057298" y="435122"/>
            <a:ext cx="272697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05 ACCT NO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09 CURR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10 DATE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11 DUE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27 SHIPPER INV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30 CONSIGNEE INV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61 PICKUP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62 DELIVERED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64 TRAILER NO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72 LINE ITEM DESC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74 LINE ITEM QTY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75 LINE ITEM RARE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77 LINE ITEM RTUNIT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85 LINE ITEM AMT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68a TRAILER NO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68b BOL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68c PO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68d REF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68e TRACTOR NO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08/14 INV AMT/FB AMT</a:t>
            </a:r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41" name="Rounded Rectangular Callout 40"/>
          <p:cNvSpPr/>
          <p:nvPr/>
        </p:nvSpPr>
        <p:spPr>
          <a:xfrm>
            <a:off x="3010556" y="1653106"/>
            <a:ext cx="529139" cy="231474"/>
          </a:xfrm>
          <a:prstGeom prst="wedgeRoundRectCallout">
            <a:avLst>
              <a:gd name="adj1" fmla="val 11730"/>
              <a:gd name="adj2" fmla="val -1275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68e</a:t>
            </a:r>
            <a:endParaRPr lang="en-US" sz="1000" b="1" kern="1200" dirty="0"/>
          </a:p>
        </p:txBody>
      </p:sp>
      <p:sp>
        <p:nvSpPr>
          <p:cNvPr id="42" name="Rectangle 41"/>
          <p:cNvSpPr/>
          <p:nvPr/>
        </p:nvSpPr>
        <p:spPr>
          <a:xfrm flipH="1">
            <a:off x="3172834" y="1371621"/>
            <a:ext cx="327030" cy="1271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5" name="Rounded Rectangular Callout 44"/>
          <p:cNvSpPr/>
          <p:nvPr/>
        </p:nvSpPr>
        <p:spPr>
          <a:xfrm>
            <a:off x="5742026" y="3131057"/>
            <a:ext cx="529139" cy="231474"/>
          </a:xfrm>
          <a:prstGeom prst="wedgeRoundRectCallout">
            <a:avLst>
              <a:gd name="adj1" fmla="val -29744"/>
              <a:gd name="adj2" fmla="val -12758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09</a:t>
            </a:r>
            <a:endParaRPr lang="en-US" sz="1000" b="1" kern="1200" dirty="0"/>
          </a:p>
        </p:txBody>
      </p:sp>
      <p:sp>
        <p:nvSpPr>
          <p:cNvPr id="46" name="Rectangle 45"/>
          <p:cNvSpPr/>
          <p:nvPr/>
        </p:nvSpPr>
        <p:spPr>
          <a:xfrm flipH="1">
            <a:off x="5671897" y="2808226"/>
            <a:ext cx="299516" cy="1271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7" name="Rounded Rectangular Callout 46"/>
          <p:cNvSpPr/>
          <p:nvPr/>
        </p:nvSpPr>
        <p:spPr>
          <a:xfrm>
            <a:off x="2878698" y="5003466"/>
            <a:ext cx="529139" cy="231474"/>
          </a:xfrm>
          <a:prstGeom prst="wedgeRoundRectCallout">
            <a:avLst>
              <a:gd name="adj1" fmla="val -72946"/>
              <a:gd name="adj2" fmla="val 6335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05</a:t>
            </a:r>
            <a:endParaRPr lang="en-US" sz="1000" b="1" kern="1200" dirty="0"/>
          </a:p>
        </p:txBody>
      </p:sp>
      <p:sp>
        <p:nvSpPr>
          <p:cNvPr id="48" name="Rectangle 47"/>
          <p:cNvSpPr/>
          <p:nvPr/>
        </p:nvSpPr>
        <p:spPr>
          <a:xfrm flipH="1">
            <a:off x="2350168" y="5233503"/>
            <a:ext cx="446294" cy="12180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 flipH="1">
            <a:off x="5239685" y="2831832"/>
            <a:ext cx="299516" cy="1271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0" name="Rounded Rectangular Callout 49"/>
          <p:cNvSpPr/>
          <p:nvPr/>
        </p:nvSpPr>
        <p:spPr>
          <a:xfrm>
            <a:off x="4992249" y="3106576"/>
            <a:ext cx="529139" cy="231474"/>
          </a:xfrm>
          <a:prstGeom prst="wedgeRoundRectCallout">
            <a:avLst>
              <a:gd name="adj1" fmla="val 29299"/>
              <a:gd name="adj2" fmla="val -13745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11</a:t>
            </a:r>
            <a:endParaRPr lang="en-US" sz="1000" b="1" kern="1200" dirty="0"/>
          </a:p>
        </p:txBody>
      </p:sp>
      <p:sp>
        <p:nvSpPr>
          <p:cNvPr id="51" name="Rounded Rectangle 50"/>
          <p:cNvSpPr/>
          <p:nvPr/>
        </p:nvSpPr>
        <p:spPr>
          <a:xfrm>
            <a:off x="8175832" y="5119203"/>
            <a:ext cx="3314818" cy="70707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FF0000"/>
                </a:solidFill>
              </a:rPr>
              <a:t>NOTE:</a:t>
            </a:r>
          </a:p>
          <a:p>
            <a:pPr algn="just"/>
            <a:r>
              <a:rPr lang="en-US" sz="1200" b="1" dirty="0">
                <a:solidFill>
                  <a:srgbClr val="FF0000"/>
                </a:solidFill>
              </a:rPr>
              <a:t>Use service code LB for all of the invoices under SHWN_HNIF.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257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262" y="0"/>
            <a:ext cx="488137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flipH="1">
            <a:off x="5703944" y="1227909"/>
            <a:ext cx="460636" cy="14369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5166811" y="4570549"/>
            <a:ext cx="529139" cy="231474"/>
          </a:xfrm>
          <a:prstGeom prst="wedgeRoundRectCallout">
            <a:avLst>
              <a:gd name="adj1" fmla="val 42260"/>
              <a:gd name="adj2" fmla="val 9407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96/97</a:t>
            </a:r>
            <a:endParaRPr lang="en-US" sz="1000" b="1" kern="1200" dirty="0"/>
          </a:p>
        </p:txBody>
      </p:sp>
      <p:sp>
        <p:nvSpPr>
          <p:cNvPr id="5" name="Rectangle 4"/>
          <p:cNvSpPr/>
          <p:nvPr/>
        </p:nvSpPr>
        <p:spPr>
          <a:xfrm flipH="1">
            <a:off x="5562600" y="4914900"/>
            <a:ext cx="266700" cy="12954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flipH="1">
            <a:off x="5837338" y="4914900"/>
            <a:ext cx="151982" cy="12954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6349165" y="996435"/>
            <a:ext cx="529139" cy="231474"/>
          </a:xfrm>
          <a:prstGeom prst="wedgeRoundRectCallout">
            <a:avLst>
              <a:gd name="adj1" fmla="val -71986"/>
              <a:gd name="adj2" fmla="val 9188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0D29C-4842-9507-B4F7-ECE747D0B49E}"/>
              </a:ext>
            </a:extLst>
          </p:cNvPr>
          <p:cNvSpPr txBox="1"/>
          <p:nvPr/>
        </p:nvSpPr>
        <p:spPr>
          <a:xfrm>
            <a:off x="8106857" y="1556183"/>
            <a:ext cx="27269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68a SHIPMENT ID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68b PO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68c TRAILER NO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68d SEAL NO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68e ORD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95 PCS CNT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96/97 GROSS/NET WT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98 WT UOM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31 CONSIGNEE BOL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36 FREIGHT TERM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90 PROD DESC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61 PICK UP</a:t>
            </a:r>
          </a:p>
          <a:p>
            <a:endParaRPr lang="en-PH" sz="1200" dirty="0" smtClean="0">
              <a:solidFill>
                <a:srgbClr val="FF0000"/>
              </a:solidFill>
            </a:endParaRPr>
          </a:p>
          <a:p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6164580" y="4672100"/>
            <a:ext cx="529139" cy="231474"/>
          </a:xfrm>
          <a:prstGeom prst="wedgeRoundRectCallout">
            <a:avLst>
              <a:gd name="adj1" fmla="val -71986"/>
              <a:gd name="adj2" fmla="val 9188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98</a:t>
            </a:r>
            <a:endParaRPr lang="en-US" sz="1000" b="1" kern="1200" dirty="0"/>
          </a:p>
        </p:txBody>
      </p:sp>
      <p:sp>
        <p:nvSpPr>
          <p:cNvPr id="10" name="Rectangle 9"/>
          <p:cNvSpPr/>
          <p:nvPr/>
        </p:nvSpPr>
        <p:spPr>
          <a:xfrm flipH="1">
            <a:off x="4752252" y="1227909"/>
            <a:ext cx="460636" cy="14369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H="1">
            <a:off x="3601078" y="1227908"/>
            <a:ext cx="460636" cy="14369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 flipH="1">
            <a:off x="4936492" y="566672"/>
            <a:ext cx="1228087" cy="42976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 flipH="1">
            <a:off x="2991478" y="1669868"/>
            <a:ext cx="460636" cy="14369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 flipH="1">
            <a:off x="2516588" y="2307680"/>
            <a:ext cx="324126" cy="14086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 flipH="1">
            <a:off x="5376702" y="1459384"/>
            <a:ext cx="460636" cy="10372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 flipH="1">
            <a:off x="5576958" y="3651822"/>
            <a:ext cx="864482" cy="22421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flipH="1">
            <a:off x="5550535" y="4146351"/>
            <a:ext cx="835025" cy="4241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 flipH="1">
            <a:off x="2365676" y="4570547"/>
            <a:ext cx="400384" cy="9501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3" name="Rounded Rectangular Callout 22"/>
          <p:cNvSpPr/>
          <p:nvPr/>
        </p:nvSpPr>
        <p:spPr>
          <a:xfrm>
            <a:off x="6349164" y="432582"/>
            <a:ext cx="529139" cy="231474"/>
          </a:xfrm>
          <a:prstGeom prst="wedgeRoundRectCallout">
            <a:avLst>
              <a:gd name="adj1" fmla="val -71986"/>
              <a:gd name="adj2" fmla="val 9188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31</a:t>
            </a:r>
            <a:endParaRPr lang="en-US" sz="1000" b="1" kern="1200" dirty="0"/>
          </a:p>
        </p:txBody>
      </p:sp>
      <p:sp>
        <p:nvSpPr>
          <p:cNvPr id="24" name="Rounded Rectangular Callout 23"/>
          <p:cNvSpPr/>
          <p:nvPr/>
        </p:nvSpPr>
        <p:spPr>
          <a:xfrm>
            <a:off x="4445435" y="880698"/>
            <a:ext cx="529139" cy="231474"/>
          </a:xfrm>
          <a:prstGeom prst="wedgeRoundRectCallout">
            <a:avLst>
              <a:gd name="adj1" fmla="val 44660"/>
              <a:gd name="adj2" fmla="val 11163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68b</a:t>
            </a:r>
            <a:endParaRPr lang="en-US" sz="1000" b="1" kern="1200" dirty="0"/>
          </a:p>
        </p:txBody>
      </p:sp>
      <p:sp>
        <p:nvSpPr>
          <p:cNvPr id="25" name="Rounded Rectangular Callout 24"/>
          <p:cNvSpPr/>
          <p:nvPr/>
        </p:nvSpPr>
        <p:spPr>
          <a:xfrm>
            <a:off x="3609550" y="873872"/>
            <a:ext cx="529139" cy="231474"/>
          </a:xfrm>
          <a:prstGeom prst="wedgeRoundRectCallout">
            <a:avLst>
              <a:gd name="adj1" fmla="val 1458"/>
              <a:gd name="adj2" fmla="val 12151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36</a:t>
            </a:r>
            <a:endParaRPr lang="en-US" sz="1000" b="1" kern="1200" dirty="0"/>
          </a:p>
        </p:txBody>
      </p:sp>
      <p:sp>
        <p:nvSpPr>
          <p:cNvPr id="26" name="Rounded Rectangular Callout 25"/>
          <p:cNvSpPr/>
          <p:nvPr/>
        </p:nvSpPr>
        <p:spPr>
          <a:xfrm>
            <a:off x="2800074" y="1255862"/>
            <a:ext cx="529139" cy="231474"/>
          </a:xfrm>
          <a:prstGeom prst="wedgeRoundRectCallout">
            <a:avLst>
              <a:gd name="adj1" fmla="val 20179"/>
              <a:gd name="adj2" fmla="val 14784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90</a:t>
            </a:r>
            <a:endParaRPr lang="en-US" sz="1000" b="1" kern="1200" dirty="0"/>
          </a:p>
        </p:txBody>
      </p:sp>
      <p:sp>
        <p:nvSpPr>
          <p:cNvPr id="27" name="Rounded Rectangular Callout 26"/>
          <p:cNvSpPr/>
          <p:nvPr/>
        </p:nvSpPr>
        <p:spPr>
          <a:xfrm>
            <a:off x="6016439" y="1364370"/>
            <a:ext cx="529139" cy="231474"/>
          </a:xfrm>
          <a:prstGeom prst="wedgeRoundRectCallout">
            <a:avLst>
              <a:gd name="adj1" fmla="val -106548"/>
              <a:gd name="adj2" fmla="val 2275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28" name="Rounded Rectangular Callout 27"/>
          <p:cNvSpPr/>
          <p:nvPr/>
        </p:nvSpPr>
        <p:spPr>
          <a:xfrm>
            <a:off x="6385560" y="3539712"/>
            <a:ext cx="529139" cy="231474"/>
          </a:xfrm>
          <a:prstGeom prst="wedgeRoundRectCallout">
            <a:avLst>
              <a:gd name="adj1" fmla="val -71986"/>
              <a:gd name="adj2" fmla="val 9188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68c</a:t>
            </a:r>
            <a:endParaRPr lang="en-US" sz="1000" b="1" kern="1200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6502400" y="3926859"/>
            <a:ext cx="529139" cy="231474"/>
          </a:xfrm>
          <a:prstGeom prst="wedgeRoundRectCallout">
            <a:avLst>
              <a:gd name="adj1" fmla="val -71986"/>
              <a:gd name="adj2" fmla="val 9188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68d</a:t>
            </a:r>
            <a:endParaRPr lang="en-US" sz="1000" b="1" kern="1200" dirty="0"/>
          </a:p>
        </p:txBody>
      </p:sp>
      <p:sp>
        <p:nvSpPr>
          <p:cNvPr id="30" name="Rounded Rectangular Callout 29"/>
          <p:cNvSpPr/>
          <p:nvPr/>
        </p:nvSpPr>
        <p:spPr>
          <a:xfrm>
            <a:off x="2766060" y="4242712"/>
            <a:ext cx="529139" cy="231474"/>
          </a:xfrm>
          <a:prstGeom prst="wedgeRoundRectCallout">
            <a:avLst>
              <a:gd name="adj1" fmla="val -71986"/>
              <a:gd name="adj2" fmla="val 9188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68e</a:t>
            </a:r>
            <a:endParaRPr lang="en-US" sz="1000" b="1" kern="1200" dirty="0"/>
          </a:p>
        </p:txBody>
      </p:sp>
      <p:sp>
        <p:nvSpPr>
          <p:cNvPr id="31" name="Rounded Rectangular Callout 30"/>
          <p:cNvSpPr/>
          <p:nvPr/>
        </p:nvSpPr>
        <p:spPr>
          <a:xfrm>
            <a:off x="2840714" y="1982438"/>
            <a:ext cx="529139" cy="231474"/>
          </a:xfrm>
          <a:prstGeom prst="wedgeRoundRectCallout">
            <a:avLst>
              <a:gd name="adj1" fmla="val -71986"/>
              <a:gd name="adj2" fmla="val 9188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95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2018980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0"/>
            <a:ext cx="4858406" cy="68722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flipH="1">
            <a:off x="5102477" y="1004921"/>
            <a:ext cx="483936" cy="9390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3085848" y="3539691"/>
            <a:ext cx="529139" cy="231474"/>
          </a:xfrm>
          <a:prstGeom prst="wedgeRoundRectCallout">
            <a:avLst>
              <a:gd name="adj1" fmla="val 58653"/>
              <a:gd name="adj2" fmla="val 17769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01</a:t>
            </a:r>
            <a:endParaRPr lang="en-US" sz="1000" b="1" kern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0D29C-4842-9507-B4F7-ECE747D0B49E}"/>
              </a:ext>
            </a:extLst>
          </p:cNvPr>
          <p:cNvSpPr txBox="1"/>
          <p:nvPr/>
        </p:nvSpPr>
        <p:spPr>
          <a:xfrm>
            <a:off x="7834202" y="1743779"/>
            <a:ext cx="27269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10 DATE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13 FB KEY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61 PICKUP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62 DELIVERED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74 LINE ITEM QTY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85 LINE ITEM AMOUNT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68a BOL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08 INV AMT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14 FB AMT</a:t>
            </a:r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5102477" y="1096686"/>
            <a:ext cx="276767" cy="8386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H="1">
            <a:off x="2504660" y="902956"/>
            <a:ext cx="878288" cy="46834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H="1">
            <a:off x="2747709" y="3965415"/>
            <a:ext cx="2327758" cy="20865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 flipH="1">
            <a:off x="6025706" y="3710259"/>
            <a:ext cx="360807" cy="11362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 flipH="1">
            <a:off x="4506932" y="1648535"/>
            <a:ext cx="236518" cy="1044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 flipH="1">
            <a:off x="3350418" y="1761912"/>
            <a:ext cx="250031" cy="7153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4" name="Rounded Rectangular Callout 23"/>
          <p:cNvSpPr/>
          <p:nvPr/>
        </p:nvSpPr>
        <p:spPr>
          <a:xfrm>
            <a:off x="6148784" y="3959351"/>
            <a:ext cx="529139" cy="231474"/>
          </a:xfrm>
          <a:prstGeom prst="wedgeRoundRectCallout">
            <a:avLst>
              <a:gd name="adj1" fmla="val -37682"/>
              <a:gd name="adj2" fmla="val -13037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08</a:t>
            </a:r>
            <a:endParaRPr lang="en-US" sz="1000" b="1" kern="1200" dirty="0"/>
          </a:p>
        </p:txBody>
      </p:sp>
      <p:sp>
        <p:nvSpPr>
          <p:cNvPr id="26" name="Rounded Rectangular Callout 25"/>
          <p:cNvSpPr/>
          <p:nvPr/>
        </p:nvSpPr>
        <p:spPr>
          <a:xfrm>
            <a:off x="5150820" y="2263186"/>
            <a:ext cx="529139" cy="231474"/>
          </a:xfrm>
          <a:prstGeom prst="wedgeRoundRectCallout">
            <a:avLst>
              <a:gd name="adj1" fmla="val 31891"/>
              <a:gd name="adj2" fmla="val -10815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75</a:t>
            </a:r>
            <a:endParaRPr lang="en-US" sz="1000" b="1" kern="1200" dirty="0"/>
          </a:p>
        </p:txBody>
      </p:sp>
      <p:sp>
        <p:nvSpPr>
          <p:cNvPr id="27" name="Rounded Rectangular Callout 26"/>
          <p:cNvSpPr/>
          <p:nvPr/>
        </p:nvSpPr>
        <p:spPr>
          <a:xfrm>
            <a:off x="5344445" y="605820"/>
            <a:ext cx="529139" cy="231474"/>
          </a:xfrm>
          <a:prstGeom prst="wedgeRoundRectCallout">
            <a:avLst>
              <a:gd name="adj1" fmla="val -40383"/>
              <a:gd name="adj2" fmla="val 13709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03</a:t>
            </a:r>
            <a:endParaRPr lang="en-US" sz="1000" b="1" kern="1200" dirty="0"/>
          </a:p>
        </p:txBody>
      </p:sp>
      <p:sp>
        <p:nvSpPr>
          <p:cNvPr id="28" name="Rounded Rectangular Callout 27"/>
          <p:cNvSpPr/>
          <p:nvPr/>
        </p:nvSpPr>
        <p:spPr>
          <a:xfrm>
            <a:off x="5586413" y="1096686"/>
            <a:ext cx="529139" cy="231474"/>
          </a:xfrm>
          <a:prstGeom prst="wedgeRoundRectCallout">
            <a:avLst>
              <a:gd name="adj1" fmla="val -87635"/>
              <a:gd name="adj2" fmla="val -2421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10</a:t>
            </a:r>
            <a:endParaRPr lang="en-US" sz="1000" b="1" kern="1200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3491843" y="1086582"/>
            <a:ext cx="529139" cy="231474"/>
          </a:xfrm>
          <a:prstGeom prst="wedgeRoundRectCallout">
            <a:avLst>
              <a:gd name="adj1" fmla="val -87635"/>
              <a:gd name="adj2" fmla="val -2421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02</a:t>
            </a:r>
            <a:endParaRPr lang="en-US" sz="1000" b="1" kern="1200" dirty="0"/>
          </a:p>
        </p:txBody>
      </p:sp>
      <p:sp>
        <p:nvSpPr>
          <p:cNvPr id="37" name="Rectangle 36"/>
          <p:cNvSpPr/>
          <p:nvPr/>
        </p:nvSpPr>
        <p:spPr>
          <a:xfrm flipH="1">
            <a:off x="3936993" y="1761912"/>
            <a:ext cx="234060" cy="7153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 flipH="1">
            <a:off x="5482952" y="2051775"/>
            <a:ext cx="197007" cy="10394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 flipH="1">
            <a:off x="3328617" y="1654710"/>
            <a:ext cx="414707" cy="8907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5" name="Rounded Rectangular Callout 44"/>
          <p:cNvSpPr/>
          <p:nvPr/>
        </p:nvSpPr>
        <p:spPr>
          <a:xfrm>
            <a:off x="3955541" y="1347234"/>
            <a:ext cx="529139" cy="231474"/>
          </a:xfrm>
          <a:prstGeom prst="wedgeRoundRectCallout">
            <a:avLst>
              <a:gd name="adj1" fmla="val -94476"/>
              <a:gd name="adj2" fmla="val 8750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13</a:t>
            </a:r>
            <a:endParaRPr lang="en-US" sz="1000" b="1" kern="1200" dirty="0"/>
          </a:p>
        </p:txBody>
      </p:sp>
      <p:sp>
        <p:nvSpPr>
          <p:cNvPr id="46" name="Rounded Rectangular Callout 45"/>
          <p:cNvSpPr/>
          <p:nvPr/>
        </p:nvSpPr>
        <p:spPr>
          <a:xfrm>
            <a:off x="4837907" y="1850382"/>
            <a:ext cx="529139" cy="231474"/>
          </a:xfrm>
          <a:prstGeom prst="wedgeRoundRectCallout">
            <a:avLst>
              <a:gd name="adj1" fmla="val -70115"/>
              <a:gd name="adj2" fmla="val -11090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47" name="Rounded Rectangular Callout 46"/>
          <p:cNvSpPr/>
          <p:nvPr/>
        </p:nvSpPr>
        <p:spPr>
          <a:xfrm>
            <a:off x="3977793" y="1970088"/>
            <a:ext cx="529139" cy="231474"/>
          </a:xfrm>
          <a:prstGeom prst="wedgeRoundRectCallout">
            <a:avLst>
              <a:gd name="adj1" fmla="val -39394"/>
              <a:gd name="adj2" fmla="val -11844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62</a:t>
            </a:r>
            <a:endParaRPr lang="en-US" sz="1000" b="1" kern="1200" dirty="0"/>
          </a:p>
        </p:txBody>
      </p:sp>
      <p:sp>
        <p:nvSpPr>
          <p:cNvPr id="48" name="Rounded Rectangular Callout 47"/>
          <p:cNvSpPr/>
          <p:nvPr/>
        </p:nvSpPr>
        <p:spPr>
          <a:xfrm>
            <a:off x="2975796" y="1966119"/>
            <a:ext cx="529139" cy="231474"/>
          </a:xfrm>
          <a:prstGeom prst="wedgeRoundRectCallout">
            <a:avLst>
              <a:gd name="adj1" fmla="val 48511"/>
              <a:gd name="adj2" fmla="val -12084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58" name="Rectangle 57"/>
          <p:cNvSpPr/>
          <p:nvPr/>
        </p:nvSpPr>
        <p:spPr>
          <a:xfrm flipH="1">
            <a:off x="2681287" y="1645112"/>
            <a:ext cx="171121" cy="9866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1" name="Rounded Rectangular Callout 60"/>
          <p:cNvSpPr/>
          <p:nvPr/>
        </p:nvSpPr>
        <p:spPr>
          <a:xfrm>
            <a:off x="1994617" y="1462971"/>
            <a:ext cx="529139" cy="231474"/>
          </a:xfrm>
          <a:prstGeom prst="wedgeRoundRectCallout">
            <a:avLst>
              <a:gd name="adj1" fmla="val 89403"/>
              <a:gd name="adj2" fmla="val 5417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74</a:t>
            </a:r>
            <a:endParaRPr lang="en-US" sz="1000" b="1" kern="1200" dirty="0"/>
          </a:p>
        </p:txBody>
      </p:sp>
      <p:sp>
        <p:nvSpPr>
          <p:cNvPr id="39" name="Rectangle 38"/>
          <p:cNvSpPr/>
          <p:nvPr/>
        </p:nvSpPr>
        <p:spPr>
          <a:xfrm flipH="1">
            <a:off x="6244562" y="2051775"/>
            <a:ext cx="197007" cy="10394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5" name="Rounded Rectangular Callout 24"/>
          <p:cNvSpPr/>
          <p:nvPr/>
        </p:nvSpPr>
        <p:spPr>
          <a:xfrm>
            <a:off x="6621014" y="2039982"/>
            <a:ext cx="529139" cy="231474"/>
          </a:xfrm>
          <a:prstGeom prst="wedgeRoundRectCallout">
            <a:avLst>
              <a:gd name="adj1" fmla="val -94836"/>
              <a:gd name="adj2" fmla="val -1927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85/14</a:t>
            </a:r>
            <a:endParaRPr lang="en-US" sz="1000" b="1" kern="1200" dirty="0"/>
          </a:p>
        </p:txBody>
      </p:sp>
      <p:sp>
        <p:nvSpPr>
          <p:cNvPr id="40" name="Rounded Rectangular Callout 39"/>
          <p:cNvSpPr/>
          <p:nvPr/>
        </p:nvSpPr>
        <p:spPr>
          <a:xfrm>
            <a:off x="6148783" y="1665551"/>
            <a:ext cx="529139" cy="231474"/>
          </a:xfrm>
          <a:prstGeom prst="wedgeRoundRectCallout">
            <a:avLst>
              <a:gd name="adj1" fmla="val -21032"/>
              <a:gd name="adj2" fmla="val 13092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 kern="1200" dirty="0" smtClean="0"/>
              <a:t>KEY AS FRGHT</a:t>
            </a:r>
            <a:endParaRPr lang="en-US" sz="800" b="1" kern="1200" dirty="0"/>
          </a:p>
        </p:txBody>
      </p:sp>
    </p:spTree>
    <p:extLst>
      <p:ext uri="{BB962C8B-B14F-4D97-AF65-F5344CB8AC3E}">
        <p14:creationId xmlns:p14="http://schemas.microsoft.com/office/powerpoint/2010/main" val="115379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2152651" y="959911"/>
            <a:ext cx="333047" cy="30928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900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4720460" y="1543050"/>
            <a:ext cx="2597369" cy="393194"/>
          </a:xfrm>
          <a:prstGeom prst="rect">
            <a:avLst/>
          </a:prstGeom>
        </p:spPr>
        <p:txBody>
          <a:bodyPr vert="horz" lIns="68580" tIns="34290" rIns="68580" bIns="3429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r>
              <a:rPr lang="en-US" altLang="en-US" sz="24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8370231"/>
              </p:ext>
            </p:extLst>
          </p:nvPr>
        </p:nvGraphicFramePr>
        <p:xfrm>
          <a:off x="2319174" y="2109953"/>
          <a:ext cx="7315200" cy="2628900"/>
        </p:xfrm>
        <a:graphic>
          <a:graphicData uri="http://schemas.openxmlformats.org/drawingml/2006/table">
            <a:tbl>
              <a:tblPr/>
              <a:tblGrid>
                <a:gridCol w="342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DI-64883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CIDJANE J. LOCAYLOCAY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10/22/2024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DI-67268 – Added new invoice format (slide 5&amp;6)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CIDJANE J. LOCAYLOCAY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1/17/2025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DI-69667 – Added new invoice format (slide 7)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PHILLIP L. RAMISCAL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4/11/2025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DI-76153- Added note on slide 5 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NOVA VIRTUCIO SONCADOS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11/25/2025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581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10971</TotalTime>
  <Words>419</Words>
  <Application>Microsoft Office PowerPoint</Application>
  <PresentationFormat>Widescreen</PresentationFormat>
  <Paragraphs>163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Proxima Nova</vt:lpstr>
      <vt:lpstr>Proxima Nova 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phillip.ramisca</dc:creator>
  <cp:lastModifiedBy>nova soncados</cp:lastModifiedBy>
  <cp:revision>93</cp:revision>
  <dcterms:created xsi:type="dcterms:W3CDTF">2024-06-25T01:46:07Z</dcterms:created>
  <dcterms:modified xsi:type="dcterms:W3CDTF">2025-11-25T06:31:12Z</dcterms:modified>
</cp:coreProperties>
</file>