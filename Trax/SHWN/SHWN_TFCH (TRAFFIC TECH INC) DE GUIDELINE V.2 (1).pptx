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2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9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5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8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2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7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7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4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48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3" y="2314623"/>
            <a:ext cx="9926052" cy="1795934"/>
          </a:xfrm>
        </p:spPr>
        <p:txBody>
          <a:bodyPr anchor="t"/>
          <a:lstStyle>
            <a:lvl1pPr algn="l">
              <a:defRPr sz="1424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5" y="4214962"/>
            <a:ext cx="4668839" cy="1345115"/>
          </a:xfrm>
        </p:spPr>
        <p:txBody>
          <a:bodyPr/>
          <a:lstStyle>
            <a:lvl1pPr marL="0" indent="0" algn="l">
              <a:buNone/>
              <a:defRPr sz="570"/>
            </a:lvl1pPr>
            <a:lvl2pPr marL="108496" indent="0" algn="ctr">
              <a:buNone/>
              <a:defRPr sz="475"/>
            </a:lvl2pPr>
            <a:lvl3pPr marL="216992" indent="0" algn="ctr">
              <a:buNone/>
              <a:defRPr sz="428"/>
            </a:lvl3pPr>
            <a:lvl4pPr marL="325487" indent="0" algn="ctr">
              <a:buNone/>
              <a:defRPr sz="380"/>
            </a:lvl4pPr>
            <a:lvl5pPr marL="433983" indent="0" algn="ctr">
              <a:buNone/>
              <a:defRPr sz="380"/>
            </a:lvl5pPr>
            <a:lvl6pPr marL="542479" indent="0" algn="ctr">
              <a:buNone/>
              <a:defRPr sz="380"/>
            </a:lvl6pPr>
            <a:lvl7pPr marL="650975" indent="0" algn="ctr">
              <a:buNone/>
              <a:defRPr sz="380"/>
            </a:lvl7pPr>
            <a:lvl8pPr marL="759470" indent="0" algn="ctr">
              <a:buNone/>
              <a:defRPr sz="380"/>
            </a:lvl8pPr>
            <a:lvl9pPr marL="867966" indent="0" algn="ctr">
              <a:buNone/>
              <a:defRPr sz="38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60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6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6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8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5" y="5664462"/>
            <a:ext cx="4668839" cy="336288"/>
          </a:xfrm>
        </p:spPr>
        <p:txBody>
          <a:bodyPr/>
          <a:lstStyle>
            <a:lvl1pPr marL="0" indent="0">
              <a:buNone/>
              <a:defRPr sz="380"/>
            </a:lvl1pPr>
            <a:lvl2pPr marL="108496" indent="0">
              <a:buNone/>
              <a:defRPr sz="332"/>
            </a:lvl2pPr>
            <a:lvl3pPr marL="216992" indent="0">
              <a:buNone/>
              <a:defRPr sz="285"/>
            </a:lvl3pPr>
            <a:lvl4pPr marL="325487" indent="0">
              <a:buNone/>
              <a:defRPr sz="237"/>
            </a:lvl4pPr>
            <a:lvl5pPr marL="433983" indent="0">
              <a:buNone/>
              <a:defRPr sz="237"/>
            </a:lvl5pPr>
            <a:lvl6pPr marL="542479" indent="0">
              <a:buNone/>
              <a:defRPr sz="237"/>
            </a:lvl6pPr>
            <a:lvl7pPr marL="650975" indent="0">
              <a:buNone/>
              <a:defRPr sz="237"/>
            </a:lvl7pPr>
            <a:lvl8pPr marL="759470" indent="0">
              <a:buNone/>
              <a:defRPr sz="237"/>
            </a:lvl8pPr>
            <a:lvl9pPr marL="867966" indent="0">
              <a:buNone/>
              <a:defRPr sz="237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53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0BEAB-D642-4AB2-80F8-26A21F49E8BB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1C198-1473-4870-8467-A37031049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19274" y="2392085"/>
            <a:ext cx="976866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SHWN_</a:t>
            </a:r>
            <a:r>
              <a:rPr lang="en-US" sz="2800" dirty="0">
                <a:solidFill>
                  <a:srgbClr val="00B050"/>
                </a:solidFill>
              </a:rPr>
              <a:t>TFCH </a:t>
            </a:r>
            <a:r>
              <a:rPr lang="en-US" sz="2800" dirty="0"/>
              <a:t>(TRAFFIC TECH INC)</a:t>
            </a:r>
            <a:r>
              <a:rPr lang="en-US" sz="2800" b="0" i="0" dirty="0" smtClean="0">
                <a:effectLst/>
                <a:latin typeface="Segoe UI" panose="020B0502040204020203" pitchFamily="34" charset="0"/>
              </a:rPr>
              <a:t> 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Segoe UI" panose="020B0502040204020203" pitchFamily="34" charset="0"/>
              </a:rPr>
              <a:t>Always key </a:t>
            </a:r>
            <a:r>
              <a:rPr lang="en-US" sz="2400" dirty="0">
                <a:solidFill>
                  <a:srgbClr val="FF0000"/>
                </a:solidFill>
                <a:latin typeface="Segoe UI" panose="020B0502040204020203" pitchFamily="34" charset="0"/>
              </a:rPr>
              <a:t>the following, visible in the invoice separator sheet:</a:t>
            </a:r>
            <a:endParaRPr lang="en-US" sz="2400" b="0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</a:rPr>
              <a:t>Batch ID (68a) </a:t>
            </a:r>
            <a:r>
              <a:rPr lang="en-US" sz="2400" dirty="0">
                <a:solidFill>
                  <a:srgbClr val="00B050"/>
                </a:solidFill>
                <a:latin typeface="Segoe UI" panose="020B0502040204020203" pitchFamily="34" charset="0"/>
              </a:rPr>
              <a:t>BAT ID </a:t>
            </a:r>
            <a:r>
              <a:rPr lang="en-US" sz="2400" dirty="0">
                <a:latin typeface="Segoe UI" panose="020B0502040204020203" pitchFamily="34" charset="0"/>
              </a:rPr>
              <a:t>(69) Value/No</a:t>
            </a:r>
            <a:endParaRPr lang="en-US" sz="2400" b="0" i="0" dirty="0">
              <a:effectLst/>
              <a:latin typeface="Segoe UI" panose="020B0502040204020203" pitchFamily="34" charset="0"/>
            </a:endParaRPr>
          </a:p>
          <a:p>
            <a:r>
              <a:rPr lang="en-US" sz="2400" dirty="0">
                <a:latin typeface="Segoe UI" panose="020B0502040204020203" pitchFamily="34" charset="0"/>
              </a:rPr>
              <a:t>Client Code (68b) </a:t>
            </a:r>
            <a:r>
              <a:rPr lang="en-US" sz="2400" dirty="0">
                <a:solidFill>
                  <a:srgbClr val="00B050"/>
                </a:solidFill>
                <a:latin typeface="Segoe UI" panose="020B0502040204020203" pitchFamily="34" charset="0"/>
              </a:rPr>
              <a:t>CL CODE </a:t>
            </a:r>
            <a:r>
              <a:rPr lang="en-US" sz="2400" dirty="0">
                <a:latin typeface="Segoe UI" panose="020B0502040204020203" pitchFamily="34" charset="0"/>
              </a:rPr>
              <a:t>(69) </a:t>
            </a:r>
            <a:r>
              <a:rPr lang="en-US" sz="2400" dirty="0" smtClean="0">
                <a:solidFill>
                  <a:srgbClr val="FF0000"/>
                </a:solidFill>
              </a:rPr>
              <a:t>SHWN</a:t>
            </a:r>
            <a:br>
              <a:rPr lang="en-US" sz="2400" dirty="0" smtClean="0">
                <a:solidFill>
                  <a:srgbClr val="FF0000"/>
                </a:solidFill>
              </a:rPr>
            </a:br>
            <a:r>
              <a:rPr lang="en-US" sz="2400" dirty="0" err="1" smtClean="0">
                <a:latin typeface="Segoe UI" panose="020B0502040204020203" pitchFamily="34" charset="0"/>
              </a:rPr>
              <a:t>Scac</a:t>
            </a:r>
            <a:r>
              <a:rPr lang="en-US" sz="2400" dirty="0" smtClean="0">
                <a:latin typeface="Segoe UI" panose="020B0502040204020203" pitchFamily="34" charset="0"/>
              </a:rPr>
              <a:t> </a:t>
            </a:r>
            <a:r>
              <a:rPr lang="en-US" sz="2400" dirty="0">
                <a:latin typeface="Segoe UI" panose="020B0502040204020203" pitchFamily="34" charset="0"/>
              </a:rPr>
              <a:t>Code (68c) </a:t>
            </a:r>
            <a:r>
              <a:rPr lang="en-US" sz="2400" dirty="0">
                <a:solidFill>
                  <a:srgbClr val="00B050"/>
                </a:solidFill>
                <a:latin typeface="Segoe UI" panose="020B0502040204020203" pitchFamily="34" charset="0"/>
              </a:rPr>
              <a:t>SCAC CODE </a:t>
            </a:r>
            <a:r>
              <a:rPr lang="en-US" sz="2400" dirty="0">
                <a:latin typeface="Segoe UI" panose="020B0502040204020203" pitchFamily="34" charset="0"/>
              </a:rPr>
              <a:t>(69) </a:t>
            </a:r>
            <a:r>
              <a:rPr lang="en-US" sz="2400" dirty="0">
                <a:solidFill>
                  <a:srgbClr val="00B050"/>
                </a:solidFill>
              </a:rPr>
              <a:t>TFCH</a:t>
            </a:r>
            <a:endParaRPr lang="en-US" sz="2400" b="0" i="0" dirty="0">
              <a:solidFill>
                <a:srgbClr val="00B05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16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042" y="0"/>
            <a:ext cx="5299364" cy="6858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241231" y="326971"/>
            <a:ext cx="24136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05 ACCT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10 DATE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11 DUE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68a REF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68b ORD NO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68c PO NO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68d PRO NO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68e SHIPMENT ID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68f EQUIPMENT TYPE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68g BOL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61 DELIVERED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27 SHIPPER INV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30 CONSIGNEE INV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46 PIECES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90 PROD DESC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42 ACTUAL WT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43 FNCL WT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44 ACTUAL WT UOM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45 FNCL WT UOM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307329" y="194310"/>
            <a:ext cx="521971" cy="9715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6" name="Rounded Rectangular Callout 125"/>
          <p:cNvSpPr/>
          <p:nvPr/>
        </p:nvSpPr>
        <p:spPr>
          <a:xfrm>
            <a:off x="6059548" y="0"/>
            <a:ext cx="415635" cy="192351"/>
          </a:xfrm>
          <a:prstGeom prst="wedgeRoundRectCallout">
            <a:avLst>
              <a:gd name="adj1" fmla="val -120353"/>
              <a:gd name="adj2" fmla="val 6817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03</a:t>
            </a:r>
            <a:endParaRPr lang="en-US" sz="1000" kern="1200" dirty="0"/>
          </a:p>
        </p:txBody>
      </p:sp>
      <p:sp>
        <p:nvSpPr>
          <p:cNvPr id="160" name="Rectangle 159"/>
          <p:cNvSpPr/>
          <p:nvPr/>
        </p:nvSpPr>
        <p:spPr>
          <a:xfrm>
            <a:off x="5307329" y="291465"/>
            <a:ext cx="335281" cy="7810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5307329" y="369570"/>
            <a:ext cx="504826" cy="9715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5307329" y="630555"/>
            <a:ext cx="523876" cy="9715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1733548" y="843915"/>
            <a:ext cx="1146812" cy="39052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1253488" y="1461135"/>
            <a:ext cx="609602" cy="10477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4271008" y="1674495"/>
            <a:ext cx="160022" cy="10477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4271007" y="1571626"/>
            <a:ext cx="390527" cy="838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4271008" y="1927861"/>
            <a:ext cx="291468" cy="838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4271006" y="2042161"/>
            <a:ext cx="449583" cy="838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4271007" y="2156461"/>
            <a:ext cx="984888" cy="838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4271007" y="2388872"/>
            <a:ext cx="390527" cy="838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4271007" y="2512696"/>
            <a:ext cx="320043" cy="76199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1684020" y="2695575"/>
            <a:ext cx="502920" cy="11239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1253488" y="2807970"/>
            <a:ext cx="868682" cy="2743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1253488" y="3179445"/>
            <a:ext cx="137162" cy="11620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3484245" y="2907030"/>
            <a:ext cx="379096" cy="7810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531869" y="2985135"/>
            <a:ext cx="331471" cy="7810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5661660" y="3198494"/>
            <a:ext cx="229553" cy="8191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5891213" y="3198494"/>
            <a:ext cx="120491" cy="8191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3276599" y="3198494"/>
            <a:ext cx="600076" cy="8953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1253488" y="3482340"/>
            <a:ext cx="1878332" cy="27432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1704974" y="3363927"/>
            <a:ext cx="499111" cy="11239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1247774" y="4187190"/>
            <a:ext cx="512446" cy="24384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3733799" y="4312920"/>
            <a:ext cx="355283" cy="11811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4245290" y="4312920"/>
            <a:ext cx="220980" cy="12001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5059680" y="4311967"/>
            <a:ext cx="247649" cy="12001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5891214" y="4185285"/>
            <a:ext cx="283842" cy="24574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5711190" y="4762500"/>
            <a:ext cx="281940" cy="11239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6" name="Rectangle 195"/>
          <p:cNvSpPr/>
          <p:nvPr/>
        </p:nvSpPr>
        <p:spPr>
          <a:xfrm>
            <a:off x="5993129" y="4762499"/>
            <a:ext cx="179425" cy="11239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1895475" y="6257924"/>
            <a:ext cx="1066164" cy="25535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8" name="Rounded Rectangular Callout 197"/>
          <p:cNvSpPr/>
          <p:nvPr/>
        </p:nvSpPr>
        <p:spPr>
          <a:xfrm>
            <a:off x="4695568" y="-1"/>
            <a:ext cx="415635" cy="192351"/>
          </a:xfrm>
          <a:prstGeom prst="wedgeRoundRectCallout">
            <a:avLst>
              <a:gd name="adj1" fmla="val 103925"/>
              <a:gd name="adj2" fmla="val 11967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05</a:t>
            </a:r>
            <a:endParaRPr lang="en-US" sz="1000" kern="1200" dirty="0"/>
          </a:p>
        </p:txBody>
      </p:sp>
      <p:sp>
        <p:nvSpPr>
          <p:cNvPr id="199" name="Rounded Rectangular Callout 198"/>
          <p:cNvSpPr/>
          <p:nvPr/>
        </p:nvSpPr>
        <p:spPr>
          <a:xfrm>
            <a:off x="6055284" y="242887"/>
            <a:ext cx="415635" cy="192351"/>
          </a:xfrm>
          <a:prstGeom prst="wedgeRoundRectCallout">
            <a:avLst>
              <a:gd name="adj1" fmla="val -131353"/>
              <a:gd name="adj2" fmla="val 3779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10</a:t>
            </a:r>
            <a:endParaRPr lang="en-US" sz="1000" kern="1200" dirty="0"/>
          </a:p>
        </p:txBody>
      </p:sp>
      <p:sp>
        <p:nvSpPr>
          <p:cNvPr id="200" name="Rounded Rectangular Callout 199"/>
          <p:cNvSpPr/>
          <p:nvPr/>
        </p:nvSpPr>
        <p:spPr>
          <a:xfrm>
            <a:off x="3129028" y="675703"/>
            <a:ext cx="415635" cy="192351"/>
          </a:xfrm>
          <a:prstGeom prst="wedgeRoundRectCallout">
            <a:avLst>
              <a:gd name="adj1" fmla="val -124020"/>
              <a:gd name="adj2" fmla="val 8216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02</a:t>
            </a:r>
            <a:endParaRPr lang="en-US" sz="1000" kern="1200" dirty="0"/>
          </a:p>
        </p:txBody>
      </p:sp>
      <p:sp>
        <p:nvSpPr>
          <p:cNvPr id="201" name="Rounded Rectangular Callout 200"/>
          <p:cNvSpPr/>
          <p:nvPr/>
        </p:nvSpPr>
        <p:spPr>
          <a:xfrm>
            <a:off x="4903385" y="1334505"/>
            <a:ext cx="415635" cy="192351"/>
          </a:xfrm>
          <a:prstGeom prst="wedgeRoundRectCallout">
            <a:avLst>
              <a:gd name="adj1" fmla="val -124020"/>
              <a:gd name="adj2" fmla="val 8216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68a</a:t>
            </a:r>
            <a:endParaRPr lang="en-US" sz="1000" kern="1200" dirty="0"/>
          </a:p>
        </p:txBody>
      </p:sp>
      <p:sp>
        <p:nvSpPr>
          <p:cNvPr id="202" name="Rounded Rectangular Callout 201"/>
          <p:cNvSpPr/>
          <p:nvPr/>
        </p:nvSpPr>
        <p:spPr>
          <a:xfrm>
            <a:off x="3655522" y="1499969"/>
            <a:ext cx="415635" cy="192351"/>
          </a:xfrm>
          <a:prstGeom prst="wedgeRoundRectCallout">
            <a:avLst>
              <a:gd name="adj1" fmla="val 112114"/>
              <a:gd name="adj2" fmla="val 6949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68b</a:t>
            </a:r>
            <a:endParaRPr lang="en-US" sz="1000" kern="1200" dirty="0"/>
          </a:p>
        </p:txBody>
      </p:sp>
      <p:sp>
        <p:nvSpPr>
          <p:cNvPr id="203" name="Rounded Rectangular Callout 202"/>
          <p:cNvSpPr/>
          <p:nvPr/>
        </p:nvSpPr>
        <p:spPr>
          <a:xfrm>
            <a:off x="4903385" y="1636283"/>
            <a:ext cx="415635" cy="192351"/>
          </a:xfrm>
          <a:prstGeom prst="wedgeRoundRectCallout">
            <a:avLst>
              <a:gd name="adj1" fmla="val -138687"/>
              <a:gd name="adj2" fmla="val 11702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68c</a:t>
            </a:r>
            <a:endParaRPr lang="en-US" sz="1000" kern="1200" dirty="0"/>
          </a:p>
        </p:txBody>
      </p:sp>
      <p:sp>
        <p:nvSpPr>
          <p:cNvPr id="204" name="Rounded Rectangular Callout 203"/>
          <p:cNvSpPr/>
          <p:nvPr/>
        </p:nvSpPr>
        <p:spPr>
          <a:xfrm>
            <a:off x="3658337" y="1840923"/>
            <a:ext cx="415635" cy="192351"/>
          </a:xfrm>
          <a:prstGeom prst="wedgeRoundRectCallout">
            <a:avLst>
              <a:gd name="adj1" fmla="val 107531"/>
              <a:gd name="adj2" fmla="val 7543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68d</a:t>
            </a:r>
            <a:endParaRPr lang="en-US" sz="1000" kern="1200" dirty="0"/>
          </a:p>
        </p:txBody>
      </p:sp>
      <p:sp>
        <p:nvSpPr>
          <p:cNvPr id="205" name="Rounded Rectangular Callout 204"/>
          <p:cNvSpPr/>
          <p:nvPr/>
        </p:nvSpPr>
        <p:spPr>
          <a:xfrm>
            <a:off x="5475578" y="1887908"/>
            <a:ext cx="415635" cy="192351"/>
          </a:xfrm>
          <a:prstGeom prst="wedgeRoundRectCallout">
            <a:avLst>
              <a:gd name="adj1" fmla="val -138687"/>
              <a:gd name="adj2" fmla="val 11702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68a</a:t>
            </a:r>
            <a:endParaRPr lang="en-US" sz="1000" kern="1200" dirty="0"/>
          </a:p>
        </p:txBody>
      </p:sp>
      <p:sp>
        <p:nvSpPr>
          <p:cNvPr id="207" name="Rounded Rectangular Callout 206"/>
          <p:cNvSpPr/>
          <p:nvPr/>
        </p:nvSpPr>
        <p:spPr>
          <a:xfrm>
            <a:off x="3655521" y="2156461"/>
            <a:ext cx="415635" cy="192351"/>
          </a:xfrm>
          <a:prstGeom prst="wedgeRoundRectCallout">
            <a:avLst>
              <a:gd name="adj1" fmla="val 118531"/>
              <a:gd name="adj2" fmla="val 9127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68e</a:t>
            </a:r>
            <a:endParaRPr lang="en-US" sz="1000" kern="1200" dirty="0"/>
          </a:p>
        </p:txBody>
      </p:sp>
      <p:sp>
        <p:nvSpPr>
          <p:cNvPr id="208" name="Rounded Rectangular Callout 207"/>
          <p:cNvSpPr/>
          <p:nvPr/>
        </p:nvSpPr>
        <p:spPr>
          <a:xfrm>
            <a:off x="4975647" y="2311798"/>
            <a:ext cx="415635" cy="192351"/>
          </a:xfrm>
          <a:prstGeom prst="wedgeRoundRectCallout">
            <a:avLst>
              <a:gd name="adj1" fmla="val -157937"/>
              <a:gd name="adj2" fmla="val 79395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68b</a:t>
            </a:r>
            <a:endParaRPr lang="en-US" sz="1000" kern="1200" dirty="0"/>
          </a:p>
        </p:txBody>
      </p:sp>
      <p:sp>
        <p:nvSpPr>
          <p:cNvPr id="209" name="Rounded Rectangular Callout 208"/>
          <p:cNvSpPr/>
          <p:nvPr/>
        </p:nvSpPr>
        <p:spPr>
          <a:xfrm>
            <a:off x="4080162" y="2693039"/>
            <a:ext cx="415635" cy="192351"/>
          </a:xfrm>
          <a:prstGeom prst="wedgeRoundRectCallout">
            <a:avLst>
              <a:gd name="adj1" fmla="val -120812"/>
              <a:gd name="adj2" fmla="val 76424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68g</a:t>
            </a:r>
            <a:endParaRPr lang="en-US" sz="1000" kern="1200" dirty="0"/>
          </a:p>
        </p:txBody>
      </p:sp>
      <p:sp>
        <p:nvSpPr>
          <p:cNvPr id="210" name="Rounded Rectangular Callout 209"/>
          <p:cNvSpPr/>
          <p:nvPr/>
        </p:nvSpPr>
        <p:spPr>
          <a:xfrm>
            <a:off x="4080162" y="2923838"/>
            <a:ext cx="415635" cy="192351"/>
          </a:xfrm>
          <a:prstGeom prst="wedgeRoundRectCallout">
            <a:avLst>
              <a:gd name="adj1" fmla="val -122187"/>
              <a:gd name="adj2" fmla="val 907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68b</a:t>
            </a:r>
            <a:endParaRPr lang="en-US" sz="1000" kern="1200" dirty="0"/>
          </a:p>
        </p:txBody>
      </p:sp>
      <p:sp>
        <p:nvSpPr>
          <p:cNvPr id="211" name="Rounded Rectangular Callout 210"/>
          <p:cNvSpPr/>
          <p:nvPr/>
        </p:nvSpPr>
        <p:spPr>
          <a:xfrm>
            <a:off x="4082582" y="3163574"/>
            <a:ext cx="415635" cy="192351"/>
          </a:xfrm>
          <a:prstGeom prst="wedgeRoundRectCallout">
            <a:avLst>
              <a:gd name="adj1" fmla="val -127687"/>
              <a:gd name="adj2" fmla="val 2145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90</a:t>
            </a:r>
            <a:endParaRPr lang="en-US" sz="1000" kern="1200" dirty="0"/>
          </a:p>
        </p:txBody>
      </p:sp>
      <p:sp>
        <p:nvSpPr>
          <p:cNvPr id="212" name="Rounded Rectangular Callout 211"/>
          <p:cNvSpPr/>
          <p:nvPr/>
        </p:nvSpPr>
        <p:spPr>
          <a:xfrm>
            <a:off x="4903386" y="2987094"/>
            <a:ext cx="565956" cy="188203"/>
          </a:xfrm>
          <a:prstGeom prst="wedgeRoundRectCallout">
            <a:avLst>
              <a:gd name="adj1" fmla="val 109731"/>
              <a:gd name="adj2" fmla="val 7345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42/43</a:t>
            </a:r>
            <a:endParaRPr lang="en-US" sz="1000" kern="1200" dirty="0"/>
          </a:p>
        </p:txBody>
      </p:sp>
      <p:sp>
        <p:nvSpPr>
          <p:cNvPr id="213" name="Rounded Rectangular Callout 212"/>
          <p:cNvSpPr/>
          <p:nvPr/>
        </p:nvSpPr>
        <p:spPr>
          <a:xfrm>
            <a:off x="6263101" y="2971223"/>
            <a:ext cx="533507" cy="192351"/>
          </a:xfrm>
          <a:prstGeom prst="wedgeRoundRectCallout">
            <a:avLst>
              <a:gd name="adj1" fmla="val -118520"/>
              <a:gd name="adj2" fmla="val 8731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44/45</a:t>
            </a:r>
            <a:endParaRPr lang="en-US" sz="1000" kern="1200" dirty="0"/>
          </a:p>
        </p:txBody>
      </p:sp>
      <p:sp>
        <p:nvSpPr>
          <p:cNvPr id="214" name="Rounded Rectangular Callout 213"/>
          <p:cNvSpPr/>
          <p:nvPr/>
        </p:nvSpPr>
        <p:spPr>
          <a:xfrm>
            <a:off x="2186940" y="2348812"/>
            <a:ext cx="415635" cy="192351"/>
          </a:xfrm>
          <a:prstGeom prst="wedgeRoundRectCallout">
            <a:avLst>
              <a:gd name="adj1" fmla="val -85886"/>
              <a:gd name="adj2" fmla="val 14872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61</a:t>
            </a:r>
            <a:endParaRPr lang="en-US" sz="1000" kern="1200" dirty="0"/>
          </a:p>
        </p:txBody>
      </p:sp>
      <p:sp>
        <p:nvSpPr>
          <p:cNvPr id="215" name="Rounded Rectangular Callout 214"/>
          <p:cNvSpPr/>
          <p:nvPr/>
        </p:nvSpPr>
        <p:spPr>
          <a:xfrm>
            <a:off x="864000" y="1106505"/>
            <a:ext cx="415635" cy="192351"/>
          </a:xfrm>
          <a:prstGeom prst="wedgeRoundRectCallout">
            <a:avLst>
              <a:gd name="adj1" fmla="val 69581"/>
              <a:gd name="adj2" fmla="val 14872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 smtClean="0"/>
              <a:t>68f</a:t>
            </a:r>
            <a:endParaRPr lang="en-US" sz="1000" kern="1200" dirty="0"/>
          </a:p>
        </p:txBody>
      </p:sp>
      <p:sp>
        <p:nvSpPr>
          <p:cNvPr id="216" name="Rounded Rectangular Callout 215"/>
          <p:cNvSpPr/>
          <p:nvPr/>
        </p:nvSpPr>
        <p:spPr>
          <a:xfrm>
            <a:off x="675412" y="2615619"/>
            <a:ext cx="415635" cy="192351"/>
          </a:xfrm>
          <a:prstGeom prst="wedgeRoundRectCallout">
            <a:avLst>
              <a:gd name="adj1" fmla="val 115048"/>
              <a:gd name="adj2" fmla="val 11069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27</a:t>
            </a:r>
            <a:endParaRPr lang="en-US" sz="1000" kern="1200" dirty="0"/>
          </a:p>
        </p:txBody>
      </p:sp>
      <p:sp>
        <p:nvSpPr>
          <p:cNvPr id="217" name="Rounded Rectangular Callout 216"/>
          <p:cNvSpPr/>
          <p:nvPr/>
        </p:nvSpPr>
        <p:spPr>
          <a:xfrm>
            <a:off x="2164347" y="2831836"/>
            <a:ext cx="415635" cy="192351"/>
          </a:xfrm>
          <a:prstGeom prst="wedgeRoundRectCallout">
            <a:avLst>
              <a:gd name="adj1" fmla="val -150175"/>
              <a:gd name="adj2" fmla="val 166152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38</a:t>
            </a:r>
            <a:endParaRPr lang="en-US" sz="1000" kern="1200" dirty="0"/>
          </a:p>
        </p:txBody>
      </p:sp>
      <p:sp>
        <p:nvSpPr>
          <p:cNvPr id="218" name="Rounded Rectangular Callout 217"/>
          <p:cNvSpPr/>
          <p:nvPr/>
        </p:nvSpPr>
        <p:spPr>
          <a:xfrm>
            <a:off x="2368774" y="3115999"/>
            <a:ext cx="415635" cy="192351"/>
          </a:xfrm>
          <a:prstGeom prst="wedgeRoundRectCallout">
            <a:avLst>
              <a:gd name="adj1" fmla="val -104831"/>
              <a:gd name="adj2" fmla="val 118350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62</a:t>
            </a:r>
            <a:endParaRPr lang="en-US" sz="1000" kern="1200" dirty="0"/>
          </a:p>
        </p:txBody>
      </p:sp>
      <p:sp>
        <p:nvSpPr>
          <p:cNvPr id="219" name="Rounded Rectangular Callout 218"/>
          <p:cNvSpPr/>
          <p:nvPr/>
        </p:nvSpPr>
        <p:spPr>
          <a:xfrm>
            <a:off x="674100" y="3295650"/>
            <a:ext cx="415635" cy="192351"/>
          </a:xfrm>
          <a:prstGeom prst="wedgeRoundRectCallout">
            <a:avLst>
              <a:gd name="adj1" fmla="val 115048"/>
              <a:gd name="adj2" fmla="val 11069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30</a:t>
            </a:r>
            <a:endParaRPr lang="en-US" sz="1000" kern="1200" dirty="0"/>
          </a:p>
        </p:txBody>
      </p:sp>
      <p:sp>
        <p:nvSpPr>
          <p:cNvPr id="220" name="Rounded Rectangular Callout 219"/>
          <p:cNvSpPr/>
          <p:nvPr/>
        </p:nvSpPr>
        <p:spPr>
          <a:xfrm>
            <a:off x="674100" y="3996236"/>
            <a:ext cx="415635" cy="192351"/>
          </a:xfrm>
          <a:prstGeom prst="wedgeRoundRectCallout">
            <a:avLst>
              <a:gd name="adj1" fmla="val 115048"/>
              <a:gd name="adj2" fmla="val 110691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72</a:t>
            </a:r>
            <a:endParaRPr lang="en-US" sz="1000" kern="1200" dirty="0"/>
          </a:p>
        </p:txBody>
      </p:sp>
      <p:sp>
        <p:nvSpPr>
          <p:cNvPr id="223" name="Rounded Rectangular Callout 222"/>
          <p:cNvSpPr/>
          <p:nvPr/>
        </p:nvSpPr>
        <p:spPr>
          <a:xfrm>
            <a:off x="3017521" y="3973657"/>
            <a:ext cx="527142" cy="211628"/>
          </a:xfrm>
          <a:prstGeom prst="wedgeRoundRectCallout">
            <a:avLst>
              <a:gd name="adj1" fmla="val 112778"/>
              <a:gd name="adj2" fmla="val 137884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74/48</a:t>
            </a:r>
            <a:endParaRPr lang="en-US" sz="1000" kern="1200" dirty="0"/>
          </a:p>
        </p:txBody>
      </p:sp>
      <p:sp>
        <p:nvSpPr>
          <p:cNvPr id="224" name="Rounded Rectangular Callout 223"/>
          <p:cNvSpPr/>
          <p:nvPr/>
        </p:nvSpPr>
        <p:spPr>
          <a:xfrm>
            <a:off x="3847212" y="3965871"/>
            <a:ext cx="415635" cy="192351"/>
          </a:xfrm>
          <a:prstGeom prst="wedgeRoundRectCallout">
            <a:avLst>
              <a:gd name="adj1" fmla="val 70132"/>
              <a:gd name="adj2" fmla="val 152287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49</a:t>
            </a:r>
            <a:endParaRPr lang="en-US" sz="1000" kern="1200" dirty="0"/>
          </a:p>
        </p:txBody>
      </p:sp>
      <p:sp>
        <p:nvSpPr>
          <p:cNvPr id="225" name="Rounded Rectangular Callout 224"/>
          <p:cNvSpPr/>
          <p:nvPr/>
        </p:nvSpPr>
        <p:spPr>
          <a:xfrm>
            <a:off x="4720589" y="3965871"/>
            <a:ext cx="415635" cy="192351"/>
          </a:xfrm>
          <a:prstGeom prst="wedgeRoundRectCallout">
            <a:avLst>
              <a:gd name="adj1" fmla="val 70132"/>
              <a:gd name="adj2" fmla="val 152287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75</a:t>
            </a:r>
            <a:endParaRPr lang="en-US" sz="1000" kern="1200" dirty="0"/>
          </a:p>
        </p:txBody>
      </p:sp>
      <p:sp>
        <p:nvSpPr>
          <p:cNvPr id="226" name="Rounded Rectangular Callout 225"/>
          <p:cNvSpPr/>
          <p:nvPr/>
        </p:nvSpPr>
        <p:spPr>
          <a:xfrm>
            <a:off x="6263100" y="3965870"/>
            <a:ext cx="415635" cy="192351"/>
          </a:xfrm>
          <a:prstGeom prst="wedgeRoundRectCallout">
            <a:avLst>
              <a:gd name="adj1" fmla="val -85702"/>
              <a:gd name="adj2" fmla="val 13247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85</a:t>
            </a:r>
            <a:endParaRPr lang="en-US" sz="1000" kern="1200" dirty="0"/>
          </a:p>
        </p:txBody>
      </p:sp>
      <p:sp>
        <p:nvSpPr>
          <p:cNvPr id="228" name="Rounded Rectangular Callout 227"/>
          <p:cNvSpPr/>
          <p:nvPr/>
        </p:nvSpPr>
        <p:spPr>
          <a:xfrm>
            <a:off x="5111204" y="4964091"/>
            <a:ext cx="531322" cy="199221"/>
          </a:xfrm>
          <a:prstGeom prst="wedgeRoundRectCallout">
            <a:avLst>
              <a:gd name="adj1" fmla="val 76549"/>
              <a:gd name="adj2" fmla="val -11907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08/14</a:t>
            </a:r>
            <a:endParaRPr lang="en-US" sz="1000" kern="1200" dirty="0"/>
          </a:p>
        </p:txBody>
      </p:sp>
      <p:sp>
        <p:nvSpPr>
          <p:cNvPr id="229" name="Rounded Rectangular Callout 228"/>
          <p:cNvSpPr/>
          <p:nvPr/>
        </p:nvSpPr>
        <p:spPr>
          <a:xfrm>
            <a:off x="6263099" y="4883740"/>
            <a:ext cx="415635" cy="192351"/>
          </a:xfrm>
          <a:prstGeom prst="wedgeRoundRectCallout">
            <a:avLst>
              <a:gd name="adj1" fmla="val -98535"/>
              <a:gd name="adj2" fmla="val -79462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09</a:t>
            </a:r>
            <a:endParaRPr lang="en-US" sz="1000" kern="1200" dirty="0"/>
          </a:p>
        </p:txBody>
      </p:sp>
      <p:sp>
        <p:nvSpPr>
          <p:cNvPr id="230" name="Rounded Rectangular Callout 229"/>
          <p:cNvSpPr/>
          <p:nvPr/>
        </p:nvSpPr>
        <p:spPr>
          <a:xfrm>
            <a:off x="3135217" y="6004560"/>
            <a:ext cx="415635" cy="192351"/>
          </a:xfrm>
          <a:prstGeom prst="wedgeRoundRectCallout">
            <a:avLst>
              <a:gd name="adj1" fmla="val -111002"/>
              <a:gd name="adj2" fmla="val 13010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01</a:t>
            </a:r>
            <a:endParaRPr lang="en-US" sz="1000" kern="1200" dirty="0"/>
          </a:p>
        </p:txBody>
      </p:sp>
      <p:sp>
        <p:nvSpPr>
          <p:cNvPr id="231" name="Rounded Rectangular Callout 230"/>
          <p:cNvSpPr/>
          <p:nvPr/>
        </p:nvSpPr>
        <p:spPr>
          <a:xfrm>
            <a:off x="6050281" y="547859"/>
            <a:ext cx="415635" cy="192351"/>
          </a:xfrm>
          <a:prstGeom prst="wedgeRoundRectCallout">
            <a:avLst>
              <a:gd name="adj1" fmla="val -131353"/>
              <a:gd name="adj2" fmla="val 10634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11</a:t>
            </a:r>
            <a:endParaRPr lang="en-US" sz="1000" kern="1200" dirty="0"/>
          </a:p>
        </p:txBody>
      </p:sp>
      <p:sp>
        <p:nvSpPr>
          <p:cNvPr id="232" name="TextBox 231"/>
          <p:cNvSpPr txBox="1"/>
          <p:nvPr/>
        </p:nvSpPr>
        <p:spPr>
          <a:xfrm>
            <a:off x="9530023" y="367225"/>
            <a:ext cx="24136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71 LINE ITEM DESC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74 LINE ITEM QTY Q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48 DISTANCE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49 DISTANCE UOM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75 LINE ITEM RATE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08 INV AMT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14 FB AMT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38 SRVC LEVEL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388324" y="3179445"/>
            <a:ext cx="371896" cy="11620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8" name="Rounded Rectangular Callout 67"/>
          <p:cNvSpPr/>
          <p:nvPr/>
        </p:nvSpPr>
        <p:spPr>
          <a:xfrm>
            <a:off x="764422" y="2907030"/>
            <a:ext cx="415635" cy="192351"/>
          </a:xfrm>
          <a:prstGeom prst="wedgeRoundRectCallout">
            <a:avLst>
              <a:gd name="adj1" fmla="val 73265"/>
              <a:gd name="adj2" fmla="val 140987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46</a:t>
            </a:r>
            <a:endParaRPr lang="en-US" sz="1000" kern="1200" dirty="0"/>
          </a:p>
        </p:txBody>
      </p:sp>
    </p:spTree>
    <p:extLst>
      <p:ext uri="{BB962C8B-B14F-4D97-AF65-F5344CB8AC3E}">
        <p14:creationId xmlns:p14="http://schemas.microsoft.com/office/powerpoint/2010/main" val="1324395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41" y="0"/>
            <a:ext cx="5299364" cy="6858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241231" y="326971"/>
            <a:ext cx="24136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68a BOL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68b ORD NO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28 SHIPPER BOL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31 CONSIGNEE BOL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36 FRGHT TERM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95 PCS CNT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96 GROSS WT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97 NET WT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98 WT UOM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739639" y="484625"/>
            <a:ext cx="427519" cy="16053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rot="207804">
            <a:off x="1405735" y="609294"/>
            <a:ext cx="1452880" cy="431777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rot="207804">
            <a:off x="1431397" y="1121904"/>
            <a:ext cx="1198372" cy="431777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02200" y="1922265"/>
            <a:ext cx="397038" cy="165615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58440" y="4421625"/>
            <a:ext cx="254000" cy="12180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12440" y="4421626"/>
            <a:ext cx="155575" cy="121800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54480" y="3553205"/>
            <a:ext cx="502920" cy="134876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81877" y="4412101"/>
            <a:ext cx="254000" cy="121801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3262843" y="4689730"/>
            <a:ext cx="415635" cy="192351"/>
          </a:xfrm>
          <a:prstGeom prst="wedgeRoundRectCallout">
            <a:avLst>
              <a:gd name="adj1" fmla="val -93953"/>
              <a:gd name="adj2" fmla="val -149712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98</a:t>
            </a:r>
            <a:endParaRPr lang="en-US" sz="1000" kern="1200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2339994" y="4031391"/>
            <a:ext cx="515862" cy="192351"/>
          </a:xfrm>
          <a:prstGeom prst="wedgeRoundRectCallout">
            <a:avLst>
              <a:gd name="adj1" fmla="val 67014"/>
              <a:gd name="adj2" fmla="val 171170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96/97</a:t>
            </a:r>
            <a:endParaRPr lang="en-US" sz="1000" kern="1200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1716540" y="4031391"/>
            <a:ext cx="415635" cy="192351"/>
          </a:xfrm>
          <a:prstGeom prst="wedgeRoundRectCallout">
            <a:avLst>
              <a:gd name="adj1" fmla="val 90848"/>
              <a:gd name="adj2" fmla="val 183847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95</a:t>
            </a:r>
            <a:endParaRPr lang="en-US" sz="1000" kern="1200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1042741" y="3227774"/>
            <a:ext cx="415635" cy="192351"/>
          </a:xfrm>
          <a:prstGeom prst="wedgeRoundRectCallout">
            <a:avLst>
              <a:gd name="adj1" fmla="val 105147"/>
              <a:gd name="adj2" fmla="val 15849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68b</a:t>
            </a:r>
            <a:endParaRPr lang="en-US" sz="1000" kern="1200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834923" y="326971"/>
            <a:ext cx="415635" cy="192351"/>
          </a:xfrm>
          <a:prstGeom prst="wedgeRoundRectCallout">
            <a:avLst>
              <a:gd name="adj1" fmla="val 105147"/>
              <a:gd name="adj2" fmla="val 15849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28</a:t>
            </a:r>
            <a:endParaRPr lang="en-US" sz="1000" kern="1200" dirty="0"/>
          </a:p>
        </p:txBody>
      </p:sp>
      <p:sp>
        <p:nvSpPr>
          <p:cNvPr id="21" name="Rounded Rectangular Callout 20"/>
          <p:cNvSpPr/>
          <p:nvPr/>
        </p:nvSpPr>
        <p:spPr>
          <a:xfrm>
            <a:off x="815460" y="892211"/>
            <a:ext cx="415635" cy="192351"/>
          </a:xfrm>
          <a:prstGeom prst="wedgeRoundRectCallout">
            <a:avLst>
              <a:gd name="adj1" fmla="val 105147"/>
              <a:gd name="adj2" fmla="val 158493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31</a:t>
            </a:r>
            <a:endParaRPr lang="en-US" sz="1000" kern="1200" dirty="0"/>
          </a:p>
        </p:txBody>
      </p:sp>
      <p:sp>
        <p:nvSpPr>
          <p:cNvPr id="22" name="Rounded Rectangular Callout 21"/>
          <p:cNvSpPr/>
          <p:nvPr/>
        </p:nvSpPr>
        <p:spPr>
          <a:xfrm>
            <a:off x="5408903" y="283122"/>
            <a:ext cx="415635" cy="192351"/>
          </a:xfrm>
          <a:prstGeom prst="wedgeRoundRectCallout">
            <a:avLst>
              <a:gd name="adj1" fmla="val -123654"/>
              <a:gd name="adj2" fmla="val 9827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68a</a:t>
            </a:r>
            <a:endParaRPr lang="en-US" sz="1000" kern="1200" dirty="0"/>
          </a:p>
        </p:txBody>
      </p:sp>
      <p:sp>
        <p:nvSpPr>
          <p:cNvPr id="23" name="Rounded Rectangular Callout 22"/>
          <p:cNvSpPr/>
          <p:nvPr/>
        </p:nvSpPr>
        <p:spPr>
          <a:xfrm>
            <a:off x="5395057" y="1589485"/>
            <a:ext cx="415635" cy="192351"/>
          </a:xfrm>
          <a:prstGeom prst="wedgeRoundRectCallout">
            <a:avLst>
              <a:gd name="adj1" fmla="val -97254"/>
              <a:gd name="adj2" fmla="val 14581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36</a:t>
            </a:r>
            <a:endParaRPr lang="en-US" sz="1000" kern="1200" dirty="0"/>
          </a:p>
        </p:txBody>
      </p:sp>
    </p:spTree>
    <p:extLst>
      <p:ext uri="{BB962C8B-B14F-4D97-AF65-F5344CB8AC3E}">
        <p14:creationId xmlns:p14="http://schemas.microsoft.com/office/powerpoint/2010/main" val="168514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895" y="0"/>
            <a:ext cx="529615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51837" y="812384"/>
            <a:ext cx="1608741" cy="469878"/>
          </a:xfrm>
          <a:prstGeom prst="rect">
            <a:avLst/>
          </a:prstGeom>
          <a:noFill/>
          <a:ln w="952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5352154" y="854972"/>
            <a:ext cx="415635" cy="192351"/>
          </a:xfrm>
          <a:prstGeom prst="wedgeRoundRectCallout">
            <a:avLst>
              <a:gd name="adj1" fmla="val -124020"/>
              <a:gd name="adj2" fmla="val 82168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kern="1200" dirty="0" smtClean="0"/>
              <a:t>02</a:t>
            </a:r>
            <a:endParaRPr lang="en-US" sz="1000" kern="1200" dirty="0"/>
          </a:p>
        </p:txBody>
      </p:sp>
      <p:sp>
        <p:nvSpPr>
          <p:cNvPr id="7" name="Rectangle 6"/>
          <p:cNvSpPr/>
          <p:nvPr/>
        </p:nvSpPr>
        <p:spPr>
          <a:xfrm>
            <a:off x="8490044" y="812384"/>
            <a:ext cx="116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02 BILL TO</a:t>
            </a:r>
          </a:p>
        </p:txBody>
      </p:sp>
    </p:spTree>
    <p:extLst>
      <p:ext uri="{BB962C8B-B14F-4D97-AF65-F5344CB8AC3E}">
        <p14:creationId xmlns:p14="http://schemas.microsoft.com/office/powerpoint/2010/main" val="392700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4848302" y="2647768"/>
            <a:ext cx="105378" cy="97859"/>
          </a:xfrm>
          <a:prstGeom prst="rect">
            <a:avLst/>
          </a:prstGeom>
        </p:spPr>
        <p:txBody>
          <a:bodyPr vert="horz" lIns="21699" tIns="10850" rIns="21699" bIns="1085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5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285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5451222" y="2745627"/>
            <a:ext cx="2025903" cy="45719"/>
          </a:xfrm>
          <a:prstGeom prst="rect">
            <a:avLst/>
          </a:prstGeom>
        </p:spPr>
        <p:txBody>
          <a:bodyPr vert="horz" lIns="21699" tIns="10850" rIns="21699" bIns="1085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12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8773648"/>
              </p:ext>
            </p:extLst>
          </p:nvPr>
        </p:nvGraphicFramePr>
        <p:xfrm>
          <a:off x="3216166" y="2995019"/>
          <a:ext cx="6779171" cy="1500254"/>
        </p:xfrm>
        <a:graphic>
          <a:graphicData uri="http://schemas.openxmlformats.org/drawingml/2006/table">
            <a:tbl>
              <a:tblPr/>
              <a:tblGrid>
                <a:gridCol w="2185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374">
                <a:tc>
                  <a:txBody>
                    <a:bodyPr/>
                    <a:lstStyle/>
                    <a:p>
                      <a:endParaRPr lang="en-PH" sz="1100" dirty="0">
                        <a:latin typeface="+mj-lt"/>
                      </a:endParaRPr>
                    </a:p>
                  </a:txBody>
                  <a:tcPr marL="28932" marR="28932" marT="14467" marB="1446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+mj-lt"/>
                          <a:cs typeface="Arial" charset="0"/>
                        </a:rPr>
                        <a:t>NAME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+mj-lt"/>
                          <a:cs typeface="Arial" charset="0"/>
                        </a:rPr>
                        <a:t>DATE</a:t>
                      </a: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DI-60359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REGINE S. DERIADA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6/11/2024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DI-66223 – update according to instructions (slide 4)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KHEILA MARY A. INOC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11/26/2024</a:t>
                      </a: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1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L="21699" marR="21699" marT="10850" marB="108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6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201</Words>
  <Application>Microsoft Office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Proxima Nova</vt:lpstr>
      <vt:lpstr>Proxima Nova Condensed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Jeric Piape Cantina</dc:creator>
  <cp:lastModifiedBy>Kheila.Inoc</cp:lastModifiedBy>
  <cp:revision>25</cp:revision>
  <dcterms:created xsi:type="dcterms:W3CDTF">2022-04-28T09:38:27Z</dcterms:created>
  <dcterms:modified xsi:type="dcterms:W3CDTF">2024-11-26T12:06:30Z</dcterms:modified>
</cp:coreProperties>
</file>